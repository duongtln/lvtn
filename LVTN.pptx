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handoutMasterIdLst>
    <p:handoutMasterId r:id="rId16"/>
  </p:handoutMasterIdLst>
  <p:sldIdLst>
    <p:sldId id="256" r:id="rId2"/>
    <p:sldId id="257" r:id="rId3"/>
    <p:sldId id="258" r:id="rId4"/>
    <p:sldId id="259" r:id="rId5"/>
    <p:sldId id="260" r:id="rId6"/>
    <p:sldId id="261" r:id="rId7"/>
    <p:sldId id="262" r:id="rId8"/>
    <p:sldId id="264" r:id="rId9"/>
    <p:sldId id="263" r:id="rId10"/>
    <p:sldId id="265" r:id="rId11"/>
    <p:sldId id="266" r:id="rId12"/>
    <p:sldId id="267" r:id="rId13"/>
    <p:sldId id="26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015" autoAdjust="0"/>
    <p:restoredTop sz="88950" autoAdjust="0"/>
  </p:normalViewPr>
  <p:slideViewPr>
    <p:cSldViewPr snapToGrid="0">
      <p:cViewPr varScale="1">
        <p:scale>
          <a:sx n="64" d="100"/>
          <a:sy n="64" d="100"/>
        </p:scale>
        <p:origin x="858"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D9ED479-35E8-445E-B861-6F1CC70FA6A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A2C7F982-BCE2-47EE-B59D-3910DFE20FC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40A3F78-8C7B-4603-9542-4F450421D0BD}" type="datetimeFigureOut">
              <a:rPr lang="en-US" smtClean="0"/>
              <a:t>12/6/2018</a:t>
            </a:fld>
            <a:endParaRPr lang="en-US"/>
          </a:p>
        </p:txBody>
      </p:sp>
      <p:sp>
        <p:nvSpPr>
          <p:cNvPr id="4" name="Footer Placeholder 3">
            <a:extLst>
              <a:ext uri="{FF2B5EF4-FFF2-40B4-BE49-F238E27FC236}">
                <a16:creationId xmlns:a16="http://schemas.microsoft.com/office/drawing/2014/main" id="{9A37A52C-A9E0-4FD3-A66A-6F9E592F4B3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0DDE1F7C-6938-4FC9-87E3-80A0A79D08C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2FFFA42-817D-4F03-88C2-C484700D9DF7}" type="slidenum">
              <a:rPr lang="en-US" smtClean="0"/>
              <a:t>‹#›</a:t>
            </a:fld>
            <a:endParaRPr lang="en-US"/>
          </a:p>
        </p:txBody>
      </p:sp>
    </p:spTree>
    <p:extLst>
      <p:ext uri="{BB962C8B-B14F-4D97-AF65-F5344CB8AC3E}">
        <p14:creationId xmlns:p14="http://schemas.microsoft.com/office/powerpoint/2010/main" val="401770309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5A51863-B26B-43D0-A506-7D3770CF0858}" type="datetimeFigureOut">
              <a:rPr lang="en-US" smtClean="0"/>
              <a:t>12/6/2018</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762B37E-17A7-4272-93EF-68331EFC6A04}" type="slidenum">
              <a:rPr lang="en-US" smtClean="0"/>
              <a:t>‹#›</a:t>
            </a:fld>
            <a:endParaRPr lang="en-US"/>
          </a:p>
        </p:txBody>
      </p:sp>
    </p:spTree>
    <p:extLst>
      <p:ext uri="{BB962C8B-B14F-4D97-AF65-F5344CB8AC3E}">
        <p14:creationId xmlns:p14="http://schemas.microsoft.com/office/powerpoint/2010/main" val="4289997033"/>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a:solidFill>
                  <a:schemeClr val="tx1"/>
                </a:solidFill>
                <a:latin typeface="Times New Roman" panose="02020603050405020304" pitchFamily="18" charset="0"/>
                <a:cs typeface="Times New Roman" panose="02020603050405020304" pitchFamily="18" charset="0"/>
              </a:rPr>
              <a:t>Internet o</a:t>
            </a:r>
            <a:r>
              <a:rPr lang="en-US">
                <a:solidFill>
                  <a:schemeClr val="tx1"/>
                </a:solidFill>
                <a:latin typeface="Times New Roman" panose="02020603050405020304" pitchFamily="18" charset="0"/>
                <a:cs typeface="Times New Roman" panose="02020603050405020304" pitchFamily="18" charset="0"/>
              </a:rPr>
              <a:t>f</a:t>
            </a:r>
            <a:r>
              <a:rPr lang="vi-VN">
                <a:solidFill>
                  <a:schemeClr val="tx1"/>
                </a:solidFill>
                <a:latin typeface="Times New Roman" panose="02020603050405020304" pitchFamily="18" charset="0"/>
                <a:cs typeface="Times New Roman" panose="02020603050405020304" pitchFamily="18" charset="0"/>
              </a:rPr>
              <a:t> Things là tập hợp các thiết bị vật lý có khả năng kết nối, thu thập và </a:t>
            </a:r>
            <a:r>
              <a:rPr lang="en-US">
                <a:solidFill>
                  <a:schemeClr val="tx1"/>
                </a:solidFill>
                <a:latin typeface="Times New Roman" panose="02020603050405020304" pitchFamily="18" charset="0"/>
                <a:cs typeface="Times New Roman" panose="02020603050405020304" pitchFamily="18" charset="0"/>
              </a:rPr>
              <a:t> </a:t>
            </a:r>
            <a:r>
              <a:rPr lang="vi-VN">
                <a:solidFill>
                  <a:schemeClr val="tx1"/>
                </a:solidFill>
                <a:latin typeface="Times New Roman" panose="02020603050405020304" pitchFamily="18" charset="0"/>
                <a:cs typeface="Times New Roman" panose="02020603050405020304" pitchFamily="18" charset="0"/>
              </a:rPr>
              <a:t>chia sẻ dữ liệu với</a:t>
            </a:r>
            <a:r>
              <a:rPr lang="en-US">
                <a:solidFill>
                  <a:schemeClr val="tx1"/>
                </a:solidFill>
                <a:latin typeface="Times New Roman" panose="02020603050405020304" pitchFamily="18" charset="0"/>
                <a:cs typeface="Times New Roman" panose="02020603050405020304" pitchFamily="18" charset="0"/>
              </a:rPr>
              <a:t> </a:t>
            </a:r>
            <a:r>
              <a:rPr lang="vi-VN">
                <a:solidFill>
                  <a:schemeClr val="tx1"/>
                </a:solidFill>
                <a:latin typeface="Times New Roman" panose="02020603050405020304" pitchFamily="18" charset="0"/>
                <a:cs typeface="Times New Roman" panose="02020603050405020304" pitchFamily="18" charset="0"/>
              </a:rPr>
              <a:t>nhau, việc kết nối có thể thực hiện qua Wi-Fi, mạng </a:t>
            </a:r>
            <a:r>
              <a:rPr lang="en-US">
                <a:solidFill>
                  <a:schemeClr val="tx1"/>
                </a:solidFill>
                <a:latin typeface="Times New Roman" panose="02020603050405020304" pitchFamily="18" charset="0"/>
                <a:cs typeface="Times New Roman" panose="02020603050405020304" pitchFamily="18" charset="0"/>
              </a:rPr>
              <a:t> </a:t>
            </a:r>
            <a:r>
              <a:rPr lang="vi-VN">
                <a:solidFill>
                  <a:schemeClr val="tx1"/>
                </a:solidFill>
                <a:latin typeface="Times New Roman" panose="02020603050405020304" pitchFamily="18" charset="0"/>
                <a:cs typeface="Times New Roman" panose="02020603050405020304" pitchFamily="18" charset="0"/>
              </a:rPr>
              <a:t>viễn thông </a:t>
            </a:r>
            <a:r>
              <a:rPr lang="en-US">
                <a:solidFill>
                  <a:schemeClr val="tx1"/>
                </a:solidFill>
                <a:latin typeface="Times New Roman" panose="02020603050405020304" pitchFamily="18" charset="0"/>
                <a:cs typeface="Times New Roman" panose="02020603050405020304" pitchFamily="18" charset="0"/>
              </a:rPr>
              <a:t> </a:t>
            </a:r>
            <a:r>
              <a:rPr lang="vi-VN">
                <a:solidFill>
                  <a:schemeClr val="tx1"/>
                </a:solidFill>
                <a:latin typeface="Times New Roman" panose="02020603050405020304" pitchFamily="18" charset="0"/>
                <a:cs typeface="Times New Roman" panose="02020603050405020304" pitchFamily="18" charset="0"/>
              </a:rPr>
              <a:t>(3G, 4G), Bluetooth, hồng ngoại,... mà không cần đến sự tương tác trực tiếp giữa người với người, hay giữa người với máy tính.</a:t>
            </a:r>
          </a:p>
          <a:p>
            <a:endParaRPr lang="en-US"/>
          </a:p>
        </p:txBody>
      </p:sp>
      <p:sp>
        <p:nvSpPr>
          <p:cNvPr id="4" name="Slide Number Placeholder 3"/>
          <p:cNvSpPr>
            <a:spLocks noGrp="1"/>
          </p:cNvSpPr>
          <p:nvPr>
            <p:ph type="sldNum" sz="quarter" idx="5"/>
          </p:nvPr>
        </p:nvSpPr>
        <p:spPr/>
        <p:txBody>
          <a:bodyPr/>
          <a:lstStyle/>
          <a:p>
            <a:fld id="{3762B37E-17A7-4272-93EF-68331EFC6A04}" type="slidenum">
              <a:rPr lang="en-US" smtClean="0"/>
              <a:t>7</a:t>
            </a:fld>
            <a:endParaRPr lang="en-US"/>
          </a:p>
        </p:txBody>
      </p:sp>
    </p:spTree>
    <p:extLst>
      <p:ext uri="{BB962C8B-B14F-4D97-AF65-F5344CB8AC3E}">
        <p14:creationId xmlns:p14="http://schemas.microsoft.com/office/powerpoint/2010/main" val="33606620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200" kern="1200">
                <a:solidFill>
                  <a:schemeClr val="tx1"/>
                </a:solidFill>
                <a:effectLst/>
                <a:latin typeface="+mn-lt"/>
                <a:ea typeface="+mn-ea"/>
                <a:cs typeface="+mn-cs"/>
              </a:rPr>
              <a:t>Cảm biến dùng để xác định sự thay đổi vật lý của môi trường, từ không điện (môi trường) sang có điện (qua bộ thu thập dữ liệu). Tín hiệu được xử lý và điều khiển tuỳ thuộc vào mục đích sử dụng mà đưa ra các lệnh điều khiển cho các thiết bị ngoại vi. </a:t>
            </a:r>
            <a:endParaRPr lang="en-US" sz="1200" kern="1200">
              <a:solidFill>
                <a:schemeClr val="tx1"/>
              </a:solidFill>
              <a:effectLst/>
              <a:latin typeface="+mn-lt"/>
              <a:ea typeface="+mn-ea"/>
              <a:cs typeface="+mn-cs"/>
            </a:endParaRPr>
          </a:p>
          <a:p>
            <a:endParaRPr lang="en-US"/>
          </a:p>
        </p:txBody>
      </p:sp>
      <p:sp>
        <p:nvSpPr>
          <p:cNvPr id="4" name="Slide Number Placeholder 3"/>
          <p:cNvSpPr>
            <a:spLocks noGrp="1"/>
          </p:cNvSpPr>
          <p:nvPr>
            <p:ph type="sldNum" sz="quarter" idx="5"/>
          </p:nvPr>
        </p:nvSpPr>
        <p:spPr/>
        <p:txBody>
          <a:bodyPr/>
          <a:lstStyle/>
          <a:p>
            <a:fld id="{3762B37E-17A7-4272-93EF-68331EFC6A04}" type="slidenum">
              <a:rPr lang="en-US" smtClean="0"/>
              <a:t>8</a:t>
            </a:fld>
            <a:endParaRPr lang="en-US"/>
          </a:p>
        </p:txBody>
      </p:sp>
    </p:spTree>
    <p:extLst>
      <p:ext uri="{BB962C8B-B14F-4D97-AF65-F5344CB8AC3E}">
        <p14:creationId xmlns:p14="http://schemas.microsoft.com/office/powerpoint/2010/main" val="35365213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762B37E-17A7-4272-93EF-68331EFC6A04}" type="slidenum">
              <a:rPr lang="en-US" smtClean="0"/>
              <a:t>11</a:t>
            </a:fld>
            <a:endParaRPr lang="en-US"/>
          </a:p>
        </p:txBody>
      </p:sp>
    </p:spTree>
    <p:extLst>
      <p:ext uri="{BB962C8B-B14F-4D97-AF65-F5344CB8AC3E}">
        <p14:creationId xmlns:p14="http://schemas.microsoft.com/office/powerpoint/2010/main" val="9767369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CBBB32-F250-4D8D-9310-6211AA791D7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6346852-890B-4082-A37E-DB602701646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D556011-08A9-4FE2-8FA8-2F809D01B532}"/>
              </a:ext>
            </a:extLst>
          </p:cNvPr>
          <p:cNvSpPr>
            <a:spLocks noGrp="1"/>
          </p:cNvSpPr>
          <p:nvPr>
            <p:ph type="dt" sz="half" idx="10"/>
          </p:nvPr>
        </p:nvSpPr>
        <p:spPr/>
        <p:txBody>
          <a:bodyPr/>
          <a:lstStyle/>
          <a:p>
            <a:fld id="{46826B18-EAFC-47DF-9DC5-5E38CAC47BEF}" type="datetime1">
              <a:rPr lang="en-US" smtClean="0"/>
              <a:t>12/6/2018</a:t>
            </a:fld>
            <a:endParaRPr lang="en-US"/>
          </a:p>
        </p:txBody>
      </p:sp>
      <p:sp>
        <p:nvSpPr>
          <p:cNvPr id="5" name="Footer Placeholder 4">
            <a:extLst>
              <a:ext uri="{FF2B5EF4-FFF2-40B4-BE49-F238E27FC236}">
                <a16:creationId xmlns:a16="http://schemas.microsoft.com/office/drawing/2014/main" id="{6D3EE7BD-B51F-42FC-8EE0-F4CC51A13D9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911ED27-5968-48D4-B835-FF12A73927AC}"/>
              </a:ext>
            </a:extLst>
          </p:cNvPr>
          <p:cNvSpPr>
            <a:spLocks noGrp="1"/>
          </p:cNvSpPr>
          <p:nvPr>
            <p:ph type="sldNum" sz="quarter" idx="12"/>
          </p:nvPr>
        </p:nvSpPr>
        <p:spPr/>
        <p:txBody>
          <a:bodyPr/>
          <a:lstStyle/>
          <a:p>
            <a:fld id="{63E272E1-F6B7-4896-88F6-9CF92F8948F3}" type="slidenum">
              <a:rPr lang="en-US" smtClean="0"/>
              <a:t>‹#›</a:t>
            </a:fld>
            <a:endParaRPr lang="en-US"/>
          </a:p>
        </p:txBody>
      </p:sp>
    </p:spTree>
    <p:extLst>
      <p:ext uri="{BB962C8B-B14F-4D97-AF65-F5344CB8AC3E}">
        <p14:creationId xmlns:p14="http://schemas.microsoft.com/office/powerpoint/2010/main" val="36581909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45D74F-B641-4C6F-B7E1-C0EC06E7EFD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6457797-8560-49EF-8BFC-B5DE757F098B}"/>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BDD9A72-C412-4222-963B-B5C97A815A8F}"/>
              </a:ext>
            </a:extLst>
          </p:cNvPr>
          <p:cNvSpPr>
            <a:spLocks noGrp="1"/>
          </p:cNvSpPr>
          <p:nvPr>
            <p:ph type="dt" sz="half" idx="10"/>
          </p:nvPr>
        </p:nvSpPr>
        <p:spPr/>
        <p:txBody>
          <a:bodyPr/>
          <a:lstStyle/>
          <a:p>
            <a:fld id="{48DF7E83-4AC9-4006-B819-172DBD82A60B}" type="datetime1">
              <a:rPr lang="en-US" smtClean="0"/>
              <a:t>12/6/2018</a:t>
            </a:fld>
            <a:endParaRPr lang="en-US"/>
          </a:p>
        </p:txBody>
      </p:sp>
      <p:sp>
        <p:nvSpPr>
          <p:cNvPr id="5" name="Footer Placeholder 4">
            <a:extLst>
              <a:ext uri="{FF2B5EF4-FFF2-40B4-BE49-F238E27FC236}">
                <a16:creationId xmlns:a16="http://schemas.microsoft.com/office/drawing/2014/main" id="{4EE3D3A8-6E35-4ABC-A6E1-4C3A2B132A4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D00FC20-D71E-4FC8-B2D3-A50A91736462}"/>
              </a:ext>
            </a:extLst>
          </p:cNvPr>
          <p:cNvSpPr>
            <a:spLocks noGrp="1"/>
          </p:cNvSpPr>
          <p:nvPr>
            <p:ph type="sldNum" sz="quarter" idx="12"/>
          </p:nvPr>
        </p:nvSpPr>
        <p:spPr/>
        <p:txBody>
          <a:bodyPr/>
          <a:lstStyle/>
          <a:p>
            <a:fld id="{63E272E1-F6B7-4896-88F6-9CF92F8948F3}" type="slidenum">
              <a:rPr lang="en-US" smtClean="0"/>
              <a:t>‹#›</a:t>
            </a:fld>
            <a:endParaRPr lang="en-US"/>
          </a:p>
        </p:txBody>
      </p:sp>
    </p:spTree>
    <p:extLst>
      <p:ext uri="{BB962C8B-B14F-4D97-AF65-F5344CB8AC3E}">
        <p14:creationId xmlns:p14="http://schemas.microsoft.com/office/powerpoint/2010/main" val="26347093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F516C7-C697-424C-85D0-54739296F43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FA32D4C-FD16-4A88-96E3-52EA8301BFC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988D3698-1D7A-41D2-96FF-38134AC99063}"/>
              </a:ext>
            </a:extLst>
          </p:cNvPr>
          <p:cNvSpPr>
            <a:spLocks noGrp="1"/>
          </p:cNvSpPr>
          <p:nvPr>
            <p:ph type="dt" sz="half" idx="10"/>
          </p:nvPr>
        </p:nvSpPr>
        <p:spPr/>
        <p:txBody>
          <a:bodyPr/>
          <a:lstStyle/>
          <a:p>
            <a:fld id="{FD36EE48-3926-4DE6-BC3A-11496AABD077}" type="datetime1">
              <a:rPr lang="en-US" smtClean="0"/>
              <a:t>12/6/2018</a:t>
            </a:fld>
            <a:endParaRPr lang="en-US"/>
          </a:p>
        </p:txBody>
      </p:sp>
      <p:sp>
        <p:nvSpPr>
          <p:cNvPr id="5" name="Footer Placeholder 4">
            <a:extLst>
              <a:ext uri="{FF2B5EF4-FFF2-40B4-BE49-F238E27FC236}">
                <a16:creationId xmlns:a16="http://schemas.microsoft.com/office/drawing/2014/main" id="{0A7B203E-4A11-49EF-A059-2A612F58A26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F7A4E0-44EC-4182-A7BF-9C11F411D65B}"/>
              </a:ext>
            </a:extLst>
          </p:cNvPr>
          <p:cNvSpPr>
            <a:spLocks noGrp="1"/>
          </p:cNvSpPr>
          <p:nvPr>
            <p:ph type="sldNum" sz="quarter" idx="12"/>
          </p:nvPr>
        </p:nvSpPr>
        <p:spPr/>
        <p:txBody>
          <a:bodyPr/>
          <a:lstStyle/>
          <a:p>
            <a:fld id="{63E272E1-F6B7-4896-88F6-9CF92F8948F3}" type="slidenum">
              <a:rPr lang="en-US" smtClean="0"/>
              <a:t>‹#›</a:t>
            </a:fld>
            <a:endParaRPr lang="en-US"/>
          </a:p>
        </p:txBody>
      </p:sp>
    </p:spTree>
    <p:extLst>
      <p:ext uri="{BB962C8B-B14F-4D97-AF65-F5344CB8AC3E}">
        <p14:creationId xmlns:p14="http://schemas.microsoft.com/office/powerpoint/2010/main" val="9773713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F32717-B533-48F7-961D-8BEF274A4C1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8B6A5A0-9868-436F-BACD-9B44C01FCA0B}"/>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BCA3CCC-246C-4BC4-86E6-4F15183E664E}"/>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3A3A98C-A43E-491F-B7B1-3E5D3DBACE86}"/>
              </a:ext>
            </a:extLst>
          </p:cNvPr>
          <p:cNvSpPr>
            <a:spLocks noGrp="1"/>
          </p:cNvSpPr>
          <p:nvPr>
            <p:ph type="dt" sz="half" idx="10"/>
          </p:nvPr>
        </p:nvSpPr>
        <p:spPr/>
        <p:txBody>
          <a:bodyPr/>
          <a:lstStyle/>
          <a:p>
            <a:fld id="{010FF6DA-8BF7-4D7E-AF53-E6C9DDC37332}" type="datetime1">
              <a:rPr lang="en-US" smtClean="0"/>
              <a:t>12/6/2018</a:t>
            </a:fld>
            <a:endParaRPr lang="en-US"/>
          </a:p>
        </p:txBody>
      </p:sp>
      <p:sp>
        <p:nvSpPr>
          <p:cNvPr id="6" name="Footer Placeholder 5">
            <a:extLst>
              <a:ext uri="{FF2B5EF4-FFF2-40B4-BE49-F238E27FC236}">
                <a16:creationId xmlns:a16="http://schemas.microsoft.com/office/drawing/2014/main" id="{1EF49D25-279A-4C4A-A99A-BECBBFCCEB3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D6854FC-09C6-4E56-A5BB-84062D13BC2D}"/>
              </a:ext>
            </a:extLst>
          </p:cNvPr>
          <p:cNvSpPr>
            <a:spLocks noGrp="1"/>
          </p:cNvSpPr>
          <p:nvPr>
            <p:ph type="sldNum" sz="quarter" idx="12"/>
          </p:nvPr>
        </p:nvSpPr>
        <p:spPr/>
        <p:txBody>
          <a:bodyPr/>
          <a:lstStyle/>
          <a:p>
            <a:fld id="{63E272E1-F6B7-4896-88F6-9CF92F8948F3}" type="slidenum">
              <a:rPr lang="en-US" smtClean="0"/>
              <a:t>‹#›</a:t>
            </a:fld>
            <a:endParaRPr lang="en-US"/>
          </a:p>
        </p:txBody>
      </p:sp>
    </p:spTree>
    <p:extLst>
      <p:ext uri="{BB962C8B-B14F-4D97-AF65-F5344CB8AC3E}">
        <p14:creationId xmlns:p14="http://schemas.microsoft.com/office/powerpoint/2010/main" val="23652769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D9171B-9011-43F3-9E84-317CB36A5C9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31240FE-B500-44FD-A665-1EC3A2E6DF7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4C3FA10B-A9D7-4513-918E-B8DF18E396C4}"/>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F3BF555-B02A-467A-8531-1CB23827FF6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B1ACAA50-7BC4-41DA-B421-9787428963FA}"/>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1AACC03-C604-4160-9107-5713640C56E9}"/>
              </a:ext>
            </a:extLst>
          </p:cNvPr>
          <p:cNvSpPr>
            <a:spLocks noGrp="1"/>
          </p:cNvSpPr>
          <p:nvPr>
            <p:ph type="dt" sz="half" idx="10"/>
          </p:nvPr>
        </p:nvSpPr>
        <p:spPr/>
        <p:txBody>
          <a:bodyPr/>
          <a:lstStyle/>
          <a:p>
            <a:fld id="{AD1D7C8D-4767-4F72-8B94-716EDF786861}" type="datetime1">
              <a:rPr lang="en-US" smtClean="0"/>
              <a:t>12/6/2018</a:t>
            </a:fld>
            <a:endParaRPr lang="en-US"/>
          </a:p>
        </p:txBody>
      </p:sp>
      <p:sp>
        <p:nvSpPr>
          <p:cNvPr id="8" name="Footer Placeholder 7">
            <a:extLst>
              <a:ext uri="{FF2B5EF4-FFF2-40B4-BE49-F238E27FC236}">
                <a16:creationId xmlns:a16="http://schemas.microsoft.com/office/drawing/2014/main" id="{64A8B016-7E86-435F-A8B3-71B27127D1E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67F0A34-18D7-4911-B9DF-AA1BC7B4A3AF}"/>
              </a:ext>
            </a:extLst>
          </p:cNvPr>
          <p:cNvSpPr>
            <a:spLocks noGrp="1"/>
          </p:cNvSpPr>
          <p:nvPr>
            <p:ph type="sldNum" sz="quarter" idx="12"/>
          </p:nvPr>
        </p:nvSpPr>
        <p:spPr/>
        <p:txBody>
          <a:bodyPr/>
          <a:lstStyle/>
          <a:p>
            <a:fld id="{63E272E1-F6B7-4896-88F6-9CF92F8948F3}" type="slidenum">
              <a:rPr lang="en-US" smtClean="0"/>
              <a:t>‹#›</a:t>
            </a:fld>
            <a:endParaRPr lang="en-US"/>
          </a:p>
        </p:txBody>
      </p:sp>
    </p:spTree>
    <p:extLst>
      <p:ext uri="{BB962C8B-B14F-4D97-AF65-F5344CB8AC3E}">
        <p14:creationId xmlns:p14="http://schemas.microsoft.com/office/powerpoint/2010/main" val="22196175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49EB8D-AA67-4340-81B1-912ECC8CAF4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21A1135-92C6-46A6-847E-A9E71C705FA4}"/>
              </a:ext>
            </a:extLst>
          </p:cNvPr>
          <p:cNvSpPr>
            <a:spLocks noGrp="1"/>
          </p:cNvSpPr>
          <p:nvPr>
            <p:ph type="dt" sz="half" idx="10"/>
          </p:nvPr>
        </p:nvSpPr>
        <p:spPr/>
        <p:txBody>
          <a:bodyPr/>
          <a:lstStyle/>
          <a:p>
            <a:fld id="{EC71AA38-3E76-4070-AA2F-59D887E7683B}" type="datetime1">
              <a:rPr lang="en-US" smtClean="0"/>
              <a:t>12/6/2018</a:t>
            </a:fld>
            <a:endParaRPr lang="en-US"/>
          </a:p>
        </p:txBody>
      </p:sp>
      <p:sp>
        <p:nvSpPr>
          <p:cNvPr id="4" name="Footer Placeholder 3">
            <a:extLst>
              <a:ext uri="{FF2B5EF4-FFF2-40B4-BE49-F238E27FC236}">
                <a16:creationId xmlns:a16="http://schemas.microsoft.com/office/drawing/2014/main" id="{1326227E-213C-4B38-A469-EDB16EB3BCC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1680DDA-6932-43A1-B465-DFE68646AD7E}"/>
              </a:ext>
            </a:extLst>
          </p:cNvPr>
          <p:cNvSpPr>
            <a:spLocks noGrp="1"/>
          </p:cNvSpPr>
          <p:nvPr>
            <p:ph type="sldNum" sz="quarter" idx="12"/>
          </p:nvPr>
        </p:nvSpPr>
        <p:spPr/>
        <p:txBody>
          <a:bodyPr/>
          <a:lstStyle/>
          <a:p>
            <a:fld id="{63E272E1-F6B7-4896-88F6-9CF92F8948F3}" type="slidenum">
              <a:rPr lang="en-US" smtClean="0"/>
              <a:t>‹#›</a:t>
            </a:fld>
            <a:endParaRPr lang="en-US"/>
          </a:p>
        </p:txBody>
      </p:sp>
    </p:spTree>
    <p:extLst>
      <p:ext uri="{BB962C8B-B14F-4D97-AF65-F5344CB8AC3E}">
        <p14:creationId xmlns:p14="http://schemas.microsoft.com/office/powerpoint/2010/main" val="39867362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14BA35A-EB41-470B-9473-077674A09EB8}"/>
              </a:ext>
            </a:extLst>
          </p:cNvPr>
          <p:cNvSpPr>
            <a:spLocks noGrp="1"/>
          </p:cNvSpPr>
          <p:nvPr>
            <p:ph type="dt" sz="half" idx="10"/>
          </p:nvPr>
        </p:nvSpPr>
        <p:spPr/>
        <p:txBody>
          <a:bodyPr/>
          <a:lstStyle/>
          <a:p>
            <a:fld id="{EA3A3BED-2BA9-4067-B676-B33AF18940F8}" type="datetime1">
              <a:rPr lang="en-US" smtClean="0"/>
              <a:t>12/6/2018</a:t>
            </a:fld>
            <a:endParaRPr lang="en-US"/>
          </a:p>
        </p:txBody>
      </p:sp>
      <p:sp>
        <p:nvSpPr>
          <p:cNvPr id="3" name="Footer Placeholder 2">
            <a:extLst>
              <a:ext uri="{FF2B5EF4-FFF2-40B4-BE49-F238E27FC236}">
                <a16:creationId xmlns:a16="http://schemas.microsoft.com/office/drawing/2014/main" id="{27EDFEE5-CE3B-4617-AD3C-20CB6D7F895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0309732-9E66-41D2-9CC7-07C918E46422}"/>
              </a:ext>
            </a:extLst>
          </p:cNvPr>
          <p:cNvSpPr>
            <a:spLocks noGrp="1"/>
          </p:cNvSpPr>
          <p:nvPr>
            <p:ph type="sldNum" sz="quarter" idx="12"/>
          </p:nvPr>
        </p:nvSpPr>
        <p:spPr/>
        <p:txBody>
          <a:bodyPr/>
          <a:lstStyle/>
          <a:p>
            <a:fld id="{63E272E1-F6B7-4896-88F6-9CF92F8948F3}" type="slidenum">
              <a:rPr lang="en-US" smtClean="0"/>
              <a:t>‹#›</a:t>
            </a:fld>
            <a:endParaRPr lang="en-US"/>
          </a:p>
        </p:txBody>
      </p:sp>
    </p:spTree>
    <p:extLst>
      <p:ext uri="{BB962C8B-B14F-4D97-AF65-F5344CB8AC3E}">
        <p14:creationId xmlns:p14="http://schemas.microsoft.com/office/powerpoint/2010/main" val="5647933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6C9A98-2D9B-49EE-8357-72C6873583B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8AD0DC4-E5C0-4A3D-B384-06E55DA9524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9DDF6EE-BFDD-4E7B-8E13-4D8A4A15FB4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047FC21D-B0D1-4E6C-80FA-6C8F024FBBBA}"/>
              </a:ext>
            </a:extLst>
          </p:cNvPr>
          <p:cNvSpPr>
            <a:spLocks noGrp="1"/>
          </p:cNvSpPr>
          <p:nvPr>
            <p:ph type="dt" sz="half" idx="10"/>
          </p:nvPr>
        </p:nvSpPr>
        <p:spPr/>
        <p:txBody>
          <a:bodyPr/>
          <a:lstStyle/>
          <a:p>
            <a:fld id="{980D2F9D-9FEB-4B01-950A-449B450446EB}" type="datetime1">
              <a:rPr lang="en-US" smtClean="0"/>
              <a:t>12/6/2018</a:t>
            </a:fld>
            <a:endParaRPr lang="en-US"/>
          </a:p>
        </p:txBody>
      </p:sp>
      <p:sp>
        <p:nvSpPr>
          <p:cNvPr id="6" name="Footer Placeholder 5">
            <a:extLst>
              <a:ext uri="{FF2B5EF4-FFF2-40B4-BE49-F238E27FC236}">
                <a16:creationId xmlns:a16="http://schemas.microsoft.com/office/drawing/2014/main" id="{1107A618-D46C-4BEC-9A39-88437C552BD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AF08BDD-19EE-483B-836E-1024DD1A6F7F}"/>
              </a:ext>
            </a:extLst>
          </p:cNvPr>
          <p:cNvSpPr>
            <a:spLocks noGrp="1"/>
          </p:cNvSpPr>
          <p:nvPr>
            <p:ph type="sldNum" sz="quarter" idx="12"/>
          </p:nvPr>
        </p:nvSpPr>
        <p:spPr/>
        <p:txBody>
          <a:bodyPr/>
          <a:lstStyle/>
          <a:p>
            <a:fld id="{63E272E1-F6B7-4896-88F6-9CF92F8948F3}" type="slidenum">
              <a:rPr lang="en-US" smtClean="0"/>
              <a:t>‹#›</a:t>
            </a:fld>
            <a:endParaRPr lang="en-US"/>
          </a:p>
        </p:txBody>
      </p:sp>
    </p:spTree>
    <p:extLst>
      <p:ext uri="{BB962C8B-B14F-4D97-AF65-F5344CB8AC3E}">
        <p14:creationId xmlns:p14="http://schemas.microsoft.com/office/powerpoint/2010/main" val="5550584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144A8-047A-4406-B540-52AB9460D2C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A5163A8-849B-4C16-A65C-6FC2D5FF026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F109F01-0A9F-4C6A-9286-F009E134127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91425F8F-6874-46F2-A6B6-A2E31A99B332}"/>
              </a:ext>
            </a:extLst>
          </p:cNvPr>
          <p:cNvSpPr>
            <a:spLocks noGrp="1"/>
          </p:cNvSpPr>
          <p:nvPr>
            <p:ph type="dt" sz="half" idx="10"/>
          </p:nvPr>
        </p:nvSpPr>
        <p:spPr/>
        <p:txBody>
          <a:bodyPr/>
          <a:lstStyle/>
          <a:p>
            <a:fld id="{793754EC-CFA8-4979-81DD-0163B3E445D8}" type="datetime1">
              <a:rPr lang="en-US" smtClean="0"/>
              <a:t>12/6/2018</a:t>
            </a:fld>
            <a:endParaRPr lang="en-US"/>
          </a:p>
        </p:txBody>
      </p:sp>
      <p:sp>
        <p:nvSpPr>
          <p:cNvPr id="6" name="Footer Placeholder 5">
            <a:extLst>
              <a:ext uri="{FF2B5EF4-FFF2-40B4-BE49-F238E27FC236}">
                <a16:creationId xmlns:a16="http://schemas.microsoft.com/office/drawing/2014/main" id="{DFF76BEC-922D-4420-9711-E3956708F1C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6D49A72-E486-4A86-8498-E4BC23CE757F}"/>
              </a:ext>
            </a:extLst>
          </p:cNvPr>
          <p:cNvSpPr>
            <a:spLocks noGrp="1"/>
          </p:cNvSpPr>
          <p:nvPr>
            <p:ph type="sldNum" sz="quarter" idx="12"/>
          </p:nvPr>
        </p:nvSpPr>
        <p:spPr/>
        <p:txBody>
          <a:bodyPr/>
          <a:lstStyle/>
          <a:p>
            <a:fld id="{63E272E1-F6B7-4896-88F6-9CF92F8948F3}" type="slidenum">
              <a:rPr lang="en-US" smtClean="0"/>
              <a:t>‹#›</a:t>
            </a:fld>
            <a:endParaRPr lang="en-US"/>
          </a:p>
        </p:txBody>
      </p:sp>
    </p:spTree>
    <p:extLst>
      <p:ext uri="{BB962C8B-B14F-4D97-AF65-F5344CB8AC3E}">
        <p14:creationId xmlns:p14="http://schemas.microsoft.com/office/powerpoint/2010/main" val="6807083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36FA4D-4EC6-4885-B080-C1B56924BAC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EA01241-44E3-41B9-89C3-63F0694883B1}"/>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682A5FD-CB0C-4DE7-9CAE-DA665D64A02C}"/>
              </a:ext>
            </a:extLst>
          </p:cNvPr>
          <p:cNvSpPr>
            <a:spLocks noGrp="1"/>
          </p:cNvSpPr>
          <p:nvPr>
            <p:ph type="dt" sz="half" idx="10"/>
          </p:nvPr>
        </p:nvSpPr>
        <p:spPr/>
        <p:txBody>
          <a:bodyPr/>
          <a:lstStyle/>
          <a:p>
            <a:fld id="{B28DB149-B460-4FD9-BCCB-45DAE3FE9D4D}" type="datetime1">
              <a:rPr lang="en-US" smtClean="0"/>
              <a:t>12/6/2018</a:t>
            </a:fld>
            <a:endParaRPr lang="en-US"/>
          </a:p>
        </p:txBody>
      </p:sp>
      <p:sp>
        <p:nvSpPr>
          <p:cNvPr id="5" name="Footer Placeholder 4">
            <a:extLst>
              <a:ext uri="{FF2B5EF4-FFF2-40B4-BE49-F238E27FC236}">
                <a16:creationId xmlns:a16="http://schemas.microsoft.com/office/drawing/2014/main" id="{881BBF39-111C-4853-A9A0-34E3364E2C3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B54C6F-11F9-437B-ACEB-E3384E5F830B}"/>
              </a:ext>
            </a:extLst>
          </p:cNvPr>
          <p:cNvSpPr>
            <a:spLocks noGrp="1"/>
          </p:cNvSpPr>
          <p:nvPr>
            <p:ph type="sldNum" sz="quarter" idx="12"/>
          </p:nvPr>
        </p:nvSpPr>
        <p:spPr/>
        <p:txBody>
          <a:bodyPr/>
          <a:lstStyle/>
          <a:p>
            <a:fld id="{63E272E1-F6B7-4896-88F6-9CF92F8948F3}" type="slidenum">
              <a:rPr lang="en-US" smtClean="0"/>
              <a:t>‹#›</a:t>
            </a:fld>
            <a:endParaRPr lang="en-US"/>
          </a:p>
        </p:txBody>
      </p:sp>
    </p:spTree>
    <p:extLst>
      <p:ext uri="{BB962C8B-B14F-4D97-AF65-F5344CB8AC3E}">
        <p14:creationId xmlns:p14="http://schemas.microsoft.com/office/powerpoint/2010/main" val="39824344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32E69D6-5C04-45CA-8700-D369A8214D1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75647A4-7410-4C84-8F91-49271722E277}"/>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0768BE8-B175-48B2-800F-A37D4163C409}"/>
              </a:ext>
            </a:extLst>
          </p:cNvPr>
          <p:cNvSpPr>
            <a:spLocks noGrp="1"/>
          </p:cNvSpPr>
          <p:nvPr>
            <p:ph type="dt" sz="half" idx="10"/>
          </p:nvPr>
        </p:nvSpPr>
        <p:spPr/>
        <p:txBody>
          <a:bodyPr/>
          <a:lstStyle/>
          <a:p>
            <a:fld id="{9AF6D3B0-A82E-4950-AB8E-B71B101BBE8D}" type="datetime1">
              <a:rPr lang="en-US" smtClean="0"/>
              <a:t>12/6/2018</a:t>
            </a:fld>
            <a:endParaRPr lang="en-US"/>
          </a:p>
        </p:txBody>
      </p:sp>
      <p:sp>
        <p:nvSpPr>
          <p:cNvPr id="5" name="Footer Placeholder 4">
            <a:extLst>
              <a:ext uri="{FF2B5EF4-FFF2-40B4-BE49-F238E27FC236}">
                <a16:creationId xmlns:a16="http://schemas.microsoft.com/office/drawing/2014/main" id="{9B1D425D-AF18-4DCE-8EA8-F5CD2C8CB55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756BC5F-E454-49A8-9641-FB4144B07C75}"/>
              </a:ext>
            </a:extLst>
          </p:cNvPr>
          <p:cNvSpPr>
            <a:spLocks noGrp="1"/>
          </p:cNvSpPr>
          <p:nvPr>
            <p:ph type="sldNum" sz="quarter" idx="12"/>
          </p:nvPr>
        </p:nvSpPr>
        <p:spPr/>
        <p:txBody>
          <a:bodyPr/>
          <a:lstStyle/>
          <a:p>
            <a:fld id="{63E272E1-F6B7-4896-88F6-9CF92F8948F3}" type="slidenum">
              <a:rPr lang="en-US" smtClean="0"/>
              <a:t>‹#›</a:t>
            </a:fld>
            <a:endParaRPr lang="en-US"/>
          </a:p>
        </p:txBody>
      </p:sp>
    </p:spTree>
    <p:extLst>
      <p:ext uri="{BB962C8B-B14F-4D97-AF65-F5344CB8AC3E}">
        <p14:creationId xmlns:p14="http://schemas.microsoft.com/office/powerpoint/2010/main" val="7062876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C632EBC-C124-4EE7-9F34-6E3BE299B5F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72F4F0E-063F-4774-B0FD-22EE830B652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BB821B7-8CDC-491E-9A1C-80D3930522B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DFD1721-627B-4986-A4E9-99171CAB47F5}" type="datetime1">
              <a:rPr lang="en-US" smtClean="0"/>
              <a:t>12/6/2018</a:t>
            </a:fld>
            <a:endParaRPr lang="en-US"/>
          </a:p>
        </p:txBody>
      </p:sp>
      <p:sp>
        <p:nvSpPr>
          <p:cNvPr id="5" name="Footer Placeholder 4">
            <a:extLst>
              <a:ext uri="{FF2B5EF4-FFF2-40B4-BE49-F238E27FC236}">
                <a16:creationId xmlns:a16="http://schemas.microsoft.com/office/drawing/2014/main" id="{65D4B6DA-A4B8-408E-94F0-90DA80AD6B0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201CC96-4B86-434D-868E-5A5C1B2CB06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3E272E1-F6B7-4896-88F6-9CF92F8948F3}" type="slidenum">
              <a:rPr lang="en-US" smtClean="0"/>
              <a:t>‹#›</a:t>
            </a:fld>
            <a:endParaRPr lang="en-US"/>
          </a:p>
        </p:txBody>
      </p:sp>
    </p:spTree>
    <p:extLst>
      <p:ext uri="{BB962C8B-B14F-4D97-AF65-F5344CB8AC3E}">
        <p14:creationId xmlns:p14="http://schemas.microsoft.com/office/powerpoint/2010/main" val="3206245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8.png"/><Relationship Id="rId7" Type="http://schemas.openxmlformats.org/officeDocument/2006/relationships/image" Target="../media/image11.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0.png"/><Relationship Id="rId10" Type="http://schemas.openxmlformats.org/officeDocument/2006/relationships/image" Target="../media/image16.png"/><Relationship Id="rId4" Type="http://schemas.openxmlformats.org/officeDocument/2006/relationships/image" Target="../media/image9.png"/><Relationship Id="rId9" Type="http://schemas.openxmlformats.org/officeDocument/2006/relationships/image" Target="../media/image15.PNG"/></Relationships>
</file>

<file path=ppt/slides/_rels/slide7.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2.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8.png"/><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 Id="rId9" Type="http://schemas.openxmlformats.org/officeDocument/2006/relationships/image" Target="../media/image26.png"/></Relationships>
</file>

<file path=ppt/slides/_rels/slide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jpe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jpeg"/><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1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36.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0814BDFD-1328-47FD-8E0F-D9E327C0F256}"/>
              </a:ext>
            </a:extLst>
          </p:cNvPr>
          <p:cNvSpPr txBox="1"/>
          <p:nvPr/>
        </p:nvSpPr>
        <p:spPr>
          <a:xfrm>
            <a:off x="2424642" y="251460"/>
            <a:ext cx="6969921" cy="1169551"/>
          </a:xfrm>
          <a:prstGeom prst="rect">
            <a:avLst/>
          </a:prstGeom>
          <a:noFill/>
        </p:spPr>
        <p:txBody>
          <a:bodyPr wrap="none" rtlCol="0">
            <a:spAutoFit/>
          </a:bodyPr>
          <a:lstStyle/>
          <a:p>
            <a:pPr algn="ctr"/>
            <a:r>
              <a:rPr lang="en-US" sz="3500">
                <a:latin typeface="Open Sans" panose="020B0606030504020204" pitchFamily="34" charset="0"/>
                <a:ea typeface="Open Sans" panose="020B0606030504020204" pitchFamily="34" charset="0"/>
                <a:cs typeface="Open Sans" panose="020B0606030504020204" pitchFamily="34" charset="0"/>
              </a:rPr>
              <a:t>LUẬN VĂN TỐT NGHIỆP ĐẠI HỌC</a:t>
            </a:r>
          </a:p>
          <a:p>
            <a:pPr algn="ctr"/>
            <a:r>
              <a:rPr lang="en-US" sz="3500">
                <a:latin typeface="Open Sans" panose="020B0606030504020204" pitchFamily="34" charset="0"/>
                <a:ea typeface="Open Sans" panose="020B0606030504020204" pitchFamily="34" charset="0"/>
                <a:cs typeface="Open Sans" panose="020B0606030504020204" pitchFamily="34" charset="0"/>
              </a:rPr>
              <a:t>Ngành: Công nghệ thông tin</a:t>
            </a:r>
          </a:p>
        </p:txBody>
      </p:sp>
      <p:sp>
        <p:nvSpPr>
          <p:cNvPr id="8" name="TextBox 7">
            <a:extLst>
              <a:ext uri="{FF2B5EF4-FFF2-40B4-BE49-F238E27FC236}">
                <a16:creationId xmlns:a16="http://schemas.microsoft.com/office/drawing/2014/main" id="{1E72C506-FC93-4314-9DE3-C6C258544F4C}"/>
              </a:ext>
            </a:extLst>
          </p:cNvPr>
          <p:cNvSpPr txBox="1"/>
          <p:nvPr/>
        </p:nvSpPr>
        <p:spPr>
          <a:xfrm>
            <a:off x="1292609" y="2677686"/>
            <a:ext cx="9606796" cy="1323439"/>
          </a:xfrm>
          <a:prstGeom prst="rect">
            <a:avLst/>
          </a:prstGeom>
          <a:noFill/>
        </p:spPr>
        <p:txBody>
          <a:bodyPr wrap="none" rtlCol="0">
            <a:spAutoFit/>
          </a:bodyPr>
          <a:lstStyle/>
          <a:p>
            <a:pPr algn="ctr"/>
            <a:r>
              <a:rPr lang="en-US" sz="4000">
                <a:effectLst>
                  <a:outerShdw blurRad="38100" dist="38100" dir="2700000" algn="tl">
                    <a:srgbClr val="000000">
                      <a:alpha val="43137"/>
                    </a:srgbClr>
                  </a:outerShdw>
                </a:effectLst>
                <a:latin typeface="Open Sans" panose="020B0606030504020204" pitchFamily="34" charset="0"/>
                <a:ea typeface="Open Sans" panose="020B0606030504020204" pitchFamily="34" charset="0"/>
                <a:cs typeface="Open Sans" panose="020B0606030504020204" pitchFamily="34" charset="0"/>
              </a:rPr>
              <a:t>XÂY DỰNG HỆ THỐNG CẢNH BÁO CHÁY</a:t>
            </a:r>
          </a:p>
          <a:p>
            <a:pPr algn="ctr"/>
            <a:r>
              <a:rPr lang="en-US" sz="4000">
                <a:effectLst>
                  <a:outerShdw blurRad="38100" dist="38100" dir="2700000" algn="tl">
                    <a:srgbClr val="000000">
                      <a:alpha val="43137"/>
                    </a:srgbClr>
                  </a:outerShdw>
                </a:effectLst>
                <a:latin typeface="Open Sans" panose="020B0606030504020204" pitchFamily="34" charset="0"/>
                <a:ea typeface="Open Sans" panose="020B0606030504020204" pitchFamily="34" charset="0"/>
                <a:cs typeface="Open Sans" panose="020B0606030504020204" pitchFamily="34" charset="0"/>
              </a:rPr>
              <a:t>ỨNG DỤNG IOT</a:t>
            </a:r>
          </a:p>
        </p:txBody>
      </p:sp>
      <p:sp>
        <p:nvSpPr>
          <p:cNvPr id="9" name="TextBox 8">
            <a:extLst>
              <a:ext uri="{FF2B5EF4-FFF2-40B4-BE49-F238E27FC236}">
                <a16:creationId xmlns:a16="http://schemas.microsoft.com/office/drawing/2014/main" id="{B6AF861E-CA8C-4D23-B11F-7169EDA6F355}"/>
              </a:ext>
            </a:extLst>
          </p:cNvPr>
          <p:cNvSpPr txBox="1"/>
          <p:nvPr/>
        </p:nvSpPr>
        <p:spPr>
          <a:xfrm>
            <a:off x="720106" y="5257800"/>
            <a:ext cx="3932487" cy="923330"/>
          </a:xfrm>
          <a:prstGeom prst="rect">
            <a:avLst/>
          </a:prstGeom>
          <a:noFill/>
        </p:spPr>
        <p:txBody>
          <a:bodyPr wrap="none" rtlCol="0">
            <a:spAutoFit/>
          </a:bodyPr>
          <a:lstStyle/>
          <a:p>
            <a:pPr algn="ctr"/>
            <a:r>
              <a:rPr lang="en-US">
                <a:latin typeface="Open Sans" panose="020B0606030504020204" pitchFamily="34" charset="0"/>
                <a:ea typeface="Open Sans" panose="020B0606030504020204" pitchFamily="34" charset="0"/>
                <a:cs typeface="Open Sans" panose="020B0606030504020204" pitchFamily="34" charset="0"/>
              </a:rPr>
              <a:t>Sinh viên thực hiện:</a:t>
            </a:r>
          </a:p>
          <a:p>
            <a:pPr algn="ctr"/>
            <a:r>
              <a:rPr lang="en-US">
                <a:latin typeface="Open Sans" panose="020B0606030504020204" pitchFamily="34" charset="0"/>
                <a:ea typeface="Open Sans" panose="020B0606030504020204" pitchFamily="34" charset="0"/>
                <a:cs typeface="Open Sans" panose="020B0606030504020204" pitchFamily="34" charset="0"/>
              </a:rPr>
              <a:t>Lê Nguyễn Thái D</a:t>
            </a:r>
            <a:r>
              <a:rPr lang="vi-VN">
                <a:latin typeface="Open Sans" panose="020B0606030504020204" pitchFamily="34" charset="0"/>
                <a:ea typeface="Open Sans" panose="020B0606030504020204" pitchFamily="34" charset="0"/>
                <a:cs typeface="Open Sans" panose="020B0606030504020204" pitchFamily="34" charset="0"/>
              </a:rPr>
              <a:t>ư</a:t>
            </a:r>
            <a:r>
              <a:rPr lang="en-US">
                <a:latin typeface="Open Sans" panose="020B0606030504020204" pitchFamily="34" charset="0"/>
                <a:ea typeface="Open Sans" panose="020B0606030504020204" pitchFamily="34" charset="0"/>
                <a:cs typeface="Open Sans" panose="020B0606030504020204" pitchFamily="34" charset="0"/>
              </a:rPr>
              <a:t>ơng – B1401035</a:t>
            </a:r>
          </a:p>
          <a:p>
            <a:pPr algn="ctr"/>
            <a:r>
              <a:rPr lang="en-US">
                <a:latin typeface="Open Sans" panose="020B0606030504020204" pitchFamily="34" charset="0"/>
                <a:ea typeface="Open Sans" panose="020B0606030504020204" pitchFamily="34" charset="0"/>
                <a:cs typeface="Open Sans" panose="020B0606030504020204" pitchFamily="34" charset="0"/>
              </a:rPr>
              <a:t>Võ Nguyễn Đăng – B1401038</a:t>
            </a:r>
          </a:p>
        </p:txBody>
      </p:sp>
      <p:sp>
        <p:nvSpPr>
          <p:cNvPr id="11" name="TextBox 10">
            <a:extLst>
              <a:ext uri="{FF2B5EF4-FFF2-40B4-BE49-F238E27FC236}">
                <a16:creationId xmlns:a16="http://schemas.microsoft.com/office/drawing/2014/main" id="{2D6C72AF-9C38-455B-8515-B89694BA218F}"/>
              </a:ext>
            </a:extLst>
          </p:cNvPr>
          <p:cNvSpPr txBox="1"/>
          <p:nvPr/>
        </p:nvSpPr>
        <p:spPr>
          <a:xfrm>
            <a:off x="8247717" y="5257800"/>
            <a:ext cx="2651688" cy="923330"/>
          </a:xfrm>
          <a:prstGeom prst="rect">
            <a:avLst/>
          </a:prstGeom>
          <a:noFill/>
        </p:spPr>
        <p:txBody>
          <a:bodyPr wrap="none" rtlCol="0">
            <a:spAutoFit/>
          </a:bodyPr>
          <a:lstStyle/>
          <a:p>
            <a:pPr algn="ctr"/>
            <a:r>
              <a:rPr lang="en-US">
                <a:latin typeface="Open Sans" panose="020B0606030504020204" pitchFamily="34" charset="0"/>
                <a:ea typeface="Open Sans" panose="020B0606030504020204" pitchFamily="34" charset="0"/>
                <a:cs typeface="Open Sans" panose="020B0606030504020204" pitchFamily="34" charset="0"/>
              </a:rPr>
              <a:t>Giảng viên h</a:t>
            </a:r>
            <a:r>
              <a:rPr lang="vi-VN">
                <a:latin typeface="Open Sans" panose="020B0606030504020204" pitchFamily="34" charset="0"/>
                <a:ea typeface="Open Sans" panose="020B0606030504020204" pitchFamily="34" charset="0"/>
                <a:cs typeface="Open Sans" panose="020B0606030504020204" pitchFamily="34" charset="0"/>
              </a:rPr>
              <a:t>ư</a:t>
            </a:r>
            <a:r>
              <a:rPr lang="en-US">
                <a:latin typeface="Open Sans" panose="020B0606030504020204" pitchFamily="34" charset="0"/>
                <a:ea typeface="Open Sans" panose="020B0606030504020204" pitchFamily="34" charset="0"/>
                <a:cs typeface="Open Sans" panose="020B0606030504020204" pitchFamily="34" charset="0"/>
              </a:rPr>
              <a:t>ớng dẫn:</a:t>
            </a:r>
          </a:p>
          <a:p>
            <a:pPr algn="ctr"/>
            <a:r>
              <a:rPr lang="en-US">
                <a:latin typeface="Open Sans" panose="020B0606030504020204" pitchFamily="34" charset="0"/>
                <a:ea typeface="Open Sans" panose="020B0606030504020204" pitchFamily="34" charset="0"/>
                <a:cs typeface="Open Sans" panose="020B0606030504020204" pitchFamily="34" charset="0"/>
              </a:rPr>
              <a:t>TS. Nguyễn Thị Thu An </a:t>
            </a:r>
          </a:p>
          <a:p>
            <a:pPr algn="ctr"/>
            <a:r>
              <a:rPr lang="en-US">
                <a:latin typeface="Open Sans" panose="020B0606030504020204" pitchFamily="34" charset="0"/>
                <a:ea typeface="Open Sans" panose="020B0606030504020204" pitchFamily="34" charset="0"/>
                <a:cs typeface="Open Sans" panose="020B0606030504020204" pitchFamily="34" charset="0"/>
              </a:rPr>
              <a:t>MSCB: 003366</a:t>
            </a:r>
          </a:p>
        </p:txBody>
      </p:sp>
      <p:cxnSp>
        <p:nvCxnSpPr>
          <p:cNvPr id="13" name="Straight Connector 12">
            <a:extLst>
              <a:ext uri="{FF2B5EF4-FFF2-40B4-BE49-F238E27FC236}">
                <a16:creationId xmlns:a16="http://schemas.microsoft.com/office/drawing/2014/main" id="{1428F3EA-4E5D-45E7-9285-825152200805}"/>
              </a:ext>
            </a:extLst>
          </p:cNvPr>
          <p:cNvCxnSpPr/>
          <p:nvPr/>
        </p:nvCxnSpPr>
        <p:spPr>
          <a:xfrm>
            <a:off x="2484529" y="1709531"/>
            <a:ext cx="6850146" cy="0"/>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685967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8" name="Group 37">
            <a:extLst>
              <a:ext uri="{FF2B5EF4-FFF2-40B4-BE49-F238E27FC236}">
                <a16:creationId xmlns:a16="http://schemas.microsoft.com/office/drawing/2014/main" id="{3C70370B-4E00-4BBB-8565-47D25337E560}"/>
              </a:ext>
            </a:extLst>
          </p:cNvPr>
          <p:cNvGrpSpPr/>
          <p:nvPr/>
        </p:nvGrpSpPr>
        <p:grpSpPr>
          <a:xfrm>
            <a:off x="553556" y="330973"/>
            <a:ext cx="3861955" cy="630942"/>
            <a:chOff x="553556" y="330973"/>
            <a:chExt cx="3861955" cy="630942"/>
          </a:xfrm>
        </p:grpSpPr>
        <p:sp>
          <p:nvSpPr>
            <p:cNvPr id="5" name="TextBox 4">
              <a:extLst>
                <a:ext uri="{FF2B5EF4-FFF2-40B4-BE49-F238E27FC236}">
                  <a16:creationId xmlns:a16="http://schemas.microsoft.com/office/drawing/2014/main" id="{8DE51510-7CD4-492E-A31E-0B27080B76FA}"/>
                </a:ext>
              </a:extLst>
            </p:cNvPr>
            <p:cNvSpPr txBox="1"/>
            <p:nvPr/>
          </p:nvSpPr>
          <p:spPr>
            <a:xfrm>
              <a:off x="553556" y="330973"/>
              <a:ext cx="3861955" cy="630942"/>
            </a:xfrm>
            <a:prstGeom prst="rect">
              <a:avLst/>
            </a:prstGeom>
            <a:noFill/>
          </p:spPr>
          <p:txBody>
            <a:bodyPr wrap="none" rtlCol="0">
              <a:spAutoFit/>
            </a:bodyPr>
            <a:lstStyle/>
            <a:p>
              <a:pPr algn="ctr"/>
              <a:r>
                <a:rPr lang="en-US" sz="3500">
                  <a:latin typeface="Open Sans" panose="020B0606030504020204" pitchFamily="34" charset="0"/>
                  <a:ea typeface="Open Sans" panose="020B0606030504020204" pitchFamily="34" charset="0"/>
                  <a:cs typeface="Open Sans" panose="020B0606030504020204" pitchFamily="34" charset="0"/>
                </a:rPr>
                <a:t>Nội dung báo cáo</a:t>
              </a:r>
            </a:p>
          </p:txBody>
        </p:sp>
        <p:cxnSp>
          <p:nvCxnSpPr>
            <p:cNvPr id="6" name="Straight Connector 5">
              <a:extLst>
                <a:ext uri="{FF2B5EF4-FFF2-40B4-BE49-F238E27FC236}">
                  <a16:creationId xmlns:a16="http://schemas.microsoft.com/office/drawing/2014/main" id="{0BE9A8E2-7523-4FBF-A1CE-98AB9210420E}"/>
                </a:ext>
              </a:extLst>
            </p:cNvPr>
            <p:cNvCxnSpPr>
              <a:cxnSpLocks/>
            </p:cNvCxnSpPr>
            <p:nvPr/>
          </p:nvCxnSpPr>
          <p:spPr>
            <a:xfrm>
              <a:off x="601206" y="961915"/>
              <a:ext cx="3766653" cy="0"/>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33" name="Group 32">
            <a:extLst>
              <a:ext uri="{FF2B5EF4-FFF2-40B4-BE49-F238E27FC236}">
                <a16:creationId xmlns:a16="http://schemas.microsoft.com/office/drawing/2014/main" id="{7FDBF092-2F6B-481D-9E03-88688C974DE6}"/>
              </a:ext>
            </a:extLst>
          </p:cNvPr>
          <p:cNvGrpSpPr/>
          <p:nvPr/>
        </p:nvGrpSpPr>
        <p:grpSpPr>
          <a:xfrm>
            <a:off x="601206" y="1418314"/>
            <a:ext cx="5282231" cy="1348728"/>
            <a:chOff x="601206" y="1418314"/>
            <a:chExt cx="5282231" cy="1348728"/>
          </a:xfrm>
        </p:grpSpPr>
        <p:grpSp>
          <p:nvGrpSpPr>
            <p:cNvPr id="21" name="Group 20">
              <a:extLst>
                <a:ext uri="{FF2B5EF4-FFF2-40B4-BE49-F238E27FC236}">
                  <a16:creationId xmlns:a16="http://schemas.microsoft.com/office/drawing/2014/main" id="{3A70C34E-54EE-41FA-BB06-C2E4E6951E89}"/>
                </a:ext>
              </a:extLst>
            </p:cNvPr>
            <p:cNvGrpSpPr/>
            <p:nvPr/>
          </p:nvGrpSpPr>
          <p:grpSpPr>
            <a:xfrm>
              <a:off x="601206" y="1418314"/>
              <a:ext cx="4659379" cy="1348728"/>
              <a:chOff x="1025803" y="1272817"/>
              <a:chExt cx="4659379" cy="1348728"/>
            </a:xfrm>
          </p:grpSpPr>
          <p:sp>
            <p:nvSpPr>
              <p:cNvPr id="16" name="Oval 15">
                <a:extLst>
                  <a:ext uri="{FF2B5EF4-FFF2-40B4-BE49-F238E27FC236}">
                    <a16:creationId xmlns:a16="http://schemas.microsoft.com/office/drawing/2014/main" id="{5FFCAED1-CC5A-41B0-AF82-86C1FE93E249}"/>
                  </a:ext>
                </a:extLst>
              </p:cNvPr>
              <p:cNvSpPr/>
              <p:nvPr/>
            </p:nvSpPr>
            <p:spPr>
              <a:xfrm>
                <a:off x="1025803" y="1663848"/>
                <a:ext cx="676688" cy="622852"/>
              </a:xfrm>
              <a:prstGeom prst="ellipse">
                <a:avLst/>
              </a:prstGeom>
            </p:spPr>
            <p:style>
              <a:lnRef idx="2">
                <a:schemeClr val="accent2"/>
              </a:lnRef>
              <a:fillRef idx="1">
                <a:schemeClr val="lt1"/>
              </a:fillRef>
              <a:effectRef idx="0">
                <a:schemeClr val="accent2"/>
              </a:effectRef>
              <a:fontRef idx="minor">
                <a:schemeClr val="dk1"/>
              </a:fontRef>
            </p:style>
            <p:txBody>
              <a:bodyPr rtlCol="0" anchor="ctr"/>
              <a:lstStyle/>
              <a:p>
                <a:r>
                  <a:rPr lang="en-US" b="1">
                    <a:latin typeface="Open Sans" panose="020B0606030504020204" pitchFamily="34" charset="0"/>
                    <a:ea typeface="Open Sans" panose="020B0606030504020204" pitchFamily="34" charset="0"/>
                    <a:cs typeface="Open Sans" panose="020B0606030504020204" pitchFamily="34" charset="0"/>
                  </a:rPr>
                  <a:t>1</a:t>
                </a:r>
              </a:p>
            </p:txBody>
          </p:sp>
          <p:sp>
            <p:nvSpPr>
              <p:cNvPr id="8" name="Rectangle 7">
                <a:extLst>
                  <a:ext uri="{FF2B5EF4-FFF2-40B4-BE49-F238E27FC236}">
                    <a16:creationId xmlns:a16="http://schemas.microsoft.com/office/drawing/2014/main" id="{7F512B86-9868-4FD4-AE6D-EC8DE4366BB7}"/>
                  </a:ext>
                </a:extLst>
              </p:cNvPr>
              <p:cNvSpPr/>
              <p:nvPr/>
            </p:nvSpPr>
            <p:spPr>
              <a:xfrm>
                <a:off x="1417320" y="1272817"/>
                <a:ext cx="4267862" cy="1348728"/>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r>
                  <a:rPr lang="en-US" b="1">
                    <a:latin typeface="Open Sans" panose="020B0606030504020204" pitchFamily="34" charset="0"/>
                    <a:ea typeface="Open Sans" panose="020B0606030504020204" pitchFamily="34" charset="0"/>
                    <a:cs typeface="Open Sans" panose="020B0606030504020204" pitchFamily="34" charset="0"/>
                  </a:rPr>
                  <a:t>Giới thiệu tổng quan:</a:t>
                </a:r>
              </a:p>
              <a:p>
                <a:pPr marL="742950" lvl="1" indent="-285750">
                  <a:buFont typeface="Arial" panose="020B0604020202020204" pitchFamily="34" charset="0"/>
                  <a:buChar char="•"/>
                </a:pPr>
                <a:r>
                  <a:rPr lang="en-US">
                    <a:latin typeface="Open Sans" panose="020B0606030504020204" pitchFamily="34" charset="0"/>
                    <a:ea typeface="Open Sans" panose="020B0606030504020204" pitchFamily="34" charset="0"/>
                    <a:cs typeface="Open Sans" panose="020B0606030504020204" pitchFamily="34" charset="0"/>
                  </a:rPr>
                  <a:t>Đặt vấn đề</a:t>
                </a:r>
              </a:p>
              <a:p>
                <a:pPr marL="742950" lvl="1" indent="-285750">
                  <a:buFont typeface="Arial" panose="020B0604020202020204" pitchFamily="34" charset="0"/>
                  <a:buChar char="•"/>
                </a:pPr>
                <a:r>
                  <a:rPr lang="en-US">
                    <a:latin typeface="Open Sans" panose="020B0606030504020204" pitchFamily="34" charset="0"/>
                    <a:ea typeface="Open Sans" panose="020B0606030504020204" pitchFamily="34" charset="0"/>
                    <a:cs typeface="Open Sans" panose="020B0606030504020204" pitchFamily="34" charset="0"/>
                  </a:rPr>
                  <a:t>Lịch sử quyết vấn đề</a:t>
                </a:r>
              </a:p>
              <a:p>
                <a:pPr marL="742950" lvl="1" indent="-285750">
                  <a:buFont typeface="Arial" panose="020B0604020202020204" pitchFamily="34" charset="0"/>
                  <a:buChar char="•"/>
                </a:pPr>
                <a:r>
                  <a:rPr lang="en-US">
                    <a:latin typeface="Open Sans" panose="020B0606030504020204" pitchFamily="34" charset="0"/>
                    <a:ea typeface="Open Sans" panose="020B0606030504020204" pitchFamily="34" charset="0"/>
                    <a:cs typeface="Open Sans" panose="020B0606030504020204" pitchFamily="34" charset="0"/>
                  </a:rPr>
                  <a:t>H</a:t>
                </a:r>
                <a:r>
                  <a:rPr lang="vi-VN">
                    <a:latin typeface="Open Sans" panose="020B0606030504020204" pitchFamily="34" charset="0"/>
                    <a:ea typeface="Open Sans" panose="020B0606030504020204" pitchFamily="34" charset="0"/>
                    <a:cs typeface="Open Sans" panose="020B0606030504020204" pitchFamily="34" charset="0"/>
                  </a:rPr>
                  <a:t>ư</a:t>
                </a:r>
                <a:r>
                  <a:rPr lang="en-US">
                    <a:latin typeface="Open Sans" panose="020B0606030504020204" pitchFamily="34" charset="0"/>
                    <a:ea typeface="Open Sans" panose="020B0606030504020204" pitchFamily="34" charset="0"/>
                    <a:cs typeface="Open Sans" panose="020B0606030504020204" pitchFamily="34" charset="0"/>
                  </a:rPr>
                  <a:t>ớng giải quyết vấn đề</a:t>
                </a:r>
              </a:p>
            </p:txBody>
          </p:sp>
        </p:grpSp>
        <p:sp>
          <p:nvSpPr>
            <p:cNvPr id="27" name="Rectangle 26">
              <a:extLst>
                <a:ext uri="{FF2B5EF4-FFF2-40B4-BE49-F238E27FC236}">
                  <a16:creationId xmlns:a16="http://schemas.microsoft.com/office/drawing/2014/main" id="{A4CABC40-3B2F-42E3-9CA2-AE6DA87B7BAD}"/>
                </a:ext>
              </a:extLst>
            </p:cNvPr>
            <p:cNvSpPr/>
            <p:nvPr/>
          </p:nvSpPr>
          <p:spPr>
            <a:xfrm rot="5400000">
              <a:off x="4897647" y="1781251"/>
              <a:ext cx="1348727" cy="622853"/>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a:latin typeface="Open Sans" panose="020B0606030504020204" pitchFamily="34" charset="0"/>
                  <a:ea typeface="Open Sans" panose="020B0606030504020204" pitchFamily="34" charset="0"/>
                  <a:cs typeface="Open Sans" panose="020B0606030504020204" pitchFamily="34" charset="0"/>
                </a:rPr>
                <a:t>D</a:t>
              </a:r>
              <a:r>
                <a:rPr lang="vi-VN">
                  <a:latin typeface="Open Sans" panose="020B0606030504020204" pitchFamily="34" charset="0"/>
                  <a:ea typeface="Open Sans" panose="020B0606030504020204" pitchFamily="34" charset="0"/>
                  <a:cs typeface="Open Sans" panose="020B0606030504020204" pitchFamily="34" charset="0"/>
                </a:rPr>
                <a:t>ư</a:t>
              </a:r>
              <a:r>
                <a:rPr lang="en-US">
                  <a:latin typeface="Open Sans" panose="020B0606030504020204" pitchFamily="34" charset="0"/>
                  <a:ea typeface="Open Sans" panose="020B0606030504020204" pitchFamily="34" charset="0"/>
                  <a:cs typeface="Open Sans" panose="020B0606030504020204" pitchFamily="34" charset="0"/>
                </a:rPr>
                <a:t>ơng</a:t>
              </a:r>
            </a:p>
          </p:txBody>
        </p:sp>
      </p:grpSp>
      <p:grpSp>
        <p:nvGrpSpPr>
          <p:cNvPr id="34" name="Group 33">
            <a:extLst>
              <a:ext uri="{FF2B5EF4-FFF2-40B4-BE49-F238E27FC236}">
                <a16:creationId xmlns:a16="http://schemas.microsoft.com/office/drawing/2014/main" id="{A9EBDD74-3E6A-4BA0-909D-0BF512D585BA}"/>
              </a:ext>
            </a:extLst>
          </p:cNvPr>
          <p:cNvGrpSpPr/>
          <p:nvPr/>
        </p:nvGrpSpPr>
        <p:grpSpPr>
          <a:xfrm>
            <a:off x="601206" y="3003314"/>
            <a:ext cx="5301993" cy="2948421"/>
            <a:chOff x="601206" y="3003314"/>
            <a:chExt cx="5301993" cy="2948421"/>
          </a:xfrm>
        </p:grpSpPr>
        <p:grpSp>
          <p:nvGrpSpPr>
            <p:cNvPr id="22" name="Group 21">
              <a:extLst>
                <a:ext uri="{FF2B5EF4-FFF2-40B4-BE49-F238E27FC236}">
                  <a16:creationId xmlns:a16="http://schemas.microsoft.com/office/drawing/2014/main" id="{B4268C8A-C0A7-4975-8534-FA72EA0AA603}"/>
                </a:ext>
              </a:extLst>
            </p:cNvPr>
            <p:cNvGrpSpPr/>
            <p:nvPr/>
          </p:nvGrpSpPr>
          <p:grpSpPr>
            <a:xfrm>
              <a:off x="601206" y="3012604"/>
              <a:ext cx="4685883" cy="2939131"/>
              <a:chOff x="999299" y="2956938"/>
              <a:chExt cx="4685883" cy="2939131"/>
            </a:xfrm>
          </p:grpSpPr>
          <p:sp>
            <p:nvSpPr>
              <p:cNvPr id="17" name="Oval 16">
                <a:extLst>
                  <a:ext uri="{FF2B5EF4-FFF2-40B4-BE49-F238E27FC236}">
                    <a16:creationId xmlns:a16="http://schemas.microsoft.com/office/drawing/2014/main" id="{61AE2F65-0D22-4C56-BC6C-64712A57B2DF}"/>
                  </a:ext>
                </a:extLst>
              </p:cNvPr>
              <p:cNvSpPr/>
              <p:nvPr/>
            </p:nvSpPr>
            <p:spPr>
              <a:xfrm>
                <a:off x="999299" y="4115077"/>
                <a:ext cx="676688" cy="622852"/>
              </a:xfrm>
              <a:prstGeom prst="ellipse">
                <a:avLst/>
              </a:prstGeom>
            </p:spPr>
            <p:style>
              <a:lnRef idx="2">
                <a:schemeClr val="accent2"/>
              </a:lnRef>
              <a:fillRef idx="1">
                <a:schemeClr val="lt1"/>
              </a:fillRef>
              <a:effectRef idx="0">
                <a:schemeClr val="accent2"/>
              </a:effectRef>
              <a:fontRef idx="minor">
                <a:schemeClr val="dk1"/>
              </a:fontRef>
            </p:style>
            <p:txBody>
              <a:bodyPr rtlCol="0" anchor="ctr"/>
              <a:lstStyle/>
              <a:p>
                <a:r>
                  <a:rPr lang="en-US" b="1">
                    <a:latin typeface="Open Sans" panose="020B0606030504020204" pitchFamily="34" charset="0"/>
                    <a:ea typeface="Open Sans" panose="020B0606030504020204" pitchFamily="34" charset="0"/>
                    <a:cs typeface="Open Sans" panose="020B0606030504020204" pitchFamily="34" charset="0"/>
                  </a:rPr>
                  <a:t>2</a:t>
                </a:r>
              </a:p>
            </p:txBody>
          </p:sp>
          <p:sp>
            <p:nvSpPr>
              <p:cNvPr id="11" name="Rectangle 10">
                <a:extLst>
                  <a:ext uri="{FF2B5EF4-FFF2-40B4-BE49-F238E27FC236}">
                    <a16:creationId xmlns:a16="http://schemas.microsoft.com/office/drawing/2014/main" id="{D8E90421-A062-4B80-8573-B9091BC4B2BC}"/>
                  </a:ext>
                </a:extLst>
              </p:cNvPr>
              <p:cNvSpPr/>
              <p:nvPr/>
            </p:nvSpPr>
            <p:spPr>
              <a:xfrm>
                <a:off x="1417319" y="2956938"/>
                <a:ext cx="4267863" cy="2939131"/>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r>
                  <a:rPr lang="en-US" b="1">
                    <a:latin typeface="Open Sans" panose="020B0606030504020204" pitchFamily="34" charset="0"/>
                    <a:ea typeface="Open Sans" panose="020B0606030504020204" pitchFamily="34" charset="0"/>
                    <a:cs typeface="Open Sans" panose="020B0606030504020204" pitchFamily="34" charset="0"/>
                  </a:rPr>
                  <a:t>Ph</a:t>
                </a:r>
                <a:r>
                  <a:rPr lang="vi-VN" b="1">
                    <a:latin typeface="Open Sans" panose="020B0606030504020204" pitchFamily="34" charset="0"/>
                    <a:ea typeface="Open Sans" panose="020B0606030504020204" pitchFamily="34" charset="0"/>
                    <a:cs typeface="Open Sans" panose="020B0606030504020204" pitchFamily="34" charset="0"/>
                  </a:rPr>
                  <a:t>ư</a:t>
                </a:r>
                <a:r>
                  <a:rPr lang="en-US" b="1">
                    <a:latin typeface="Open Sans" panose="020B0606030504020204" pitchFamily="34" charset="0"/>
                    <a:ea typeface="Open Sans" panose="020B0606030504020204" pitchFamily="34" charset="0"/>
                    <a:cs typeface="Open Sans" panose="020B0606030504020204" pitchFamily="34" charset="0"/>
                  </a:rPr>
                  <a:t>ơng pháp thực hiện:</a:t>
                </a:r>
              </a:p>
              <a:p>
                <a:pPr marL="742950" lvl="1" indent="-285750">
                  <a:buFont typeface="Arial" panose="020B0604020202020204" pitchFamily="34" charset="0"/>
                  <a:buChar char="•"/>
                </a:pPr>
                <a:r>
                  <a:rPr lang="en-US">
                    <a:latin typeface="Open Sans" panose="020B0606030504020204" pitchFamily="34" charset="0"/>
                    <a:ea typeface="Open Sans" panose="020B0606030504020204" pitchFamily="34" charset="0"/>
                    <a:cs typeface="Open Sans" panose="020B0606030504020204" pitchFamily="34" charset="0"/>
                  </a:rPr>
                  <a:t>Internet of Things</a:t>
                </a:r>
              </a:p>
              <a:p>
                <a:pPr marL="742950" lvl="1" indent="-285750">
                  <a:buFont typeface="Arial" panose="020B0604020202020204" pitchFamily="34" charset="0"/>
                  <a:buChar char="•"/>
                </a:pPr>
                <a:r>
                  <a:rPr lang="en-US">
                    <a:latin typeface="Open Sans" panose="020B0606030504020204" pitchFamily="34" charset="0"/>
                    <a:ea typeface="Open Sans" panose="020B0606030504020204" pitchFamily="34" charset="0"/>
                    <a:cs typeface="Open Sans" panose="020B0606030504020204" pitchFamily="34" charset="0"/>
                  </a:rPr>
                  <a:t>Các cảm biến và board mạch</a:t>
                </a:r>
              </a:p>
              <a:p>
                <a:pPr marL="742950" lvl="1" indent="-285750">
                  <a:buFont typeface="Arial" panose="020B0604020202020204" pitchFamily="34" charset="0"/>
                  <a:buChar char="•"/>
                </a:pPr>
                <a:r>
                  <a:rPr lang="en-US">
                    <a:latin typeface="Open Sans" panose="020B0606030504020204" pitchFamily="34" charset="0"/>
                    <a:ea typeface="Open Sans" panose="020B0606030504020204" pitchFamily="34" charset="0"/>
                    <a:cs typeface="Open Sans" panose="020B0606030504020204" pitchFamily="34" charset="0"/>
                  </a:rPr>
                  <a:t>ReactJs</a:t>
                </a:r>
              </a:p>
              <a:p>
                <a:pPr marL="742950" lvl="1" indent="-285750">
                  <a:buFont typeface="Arial" panose="020B0604020202020204" pitchFamily="34" charset="0"/>
                  <a:buChar char="•"/>
                </a:pPr>
                <a:r>
                  <a:rPr lang="en-US">
                    <a:latin typeface="Open Sans" panose="020B0606030504020204" pitchFamily="34" charset="0"/>
                    <a:ea typeface="Open Sans" panose="020B0606030504020204" pitchFamily="34" charset="0"/>
                    <a:cs typeface="Open Sans" panose="020B0606030504020204" pitchFamily="34" charset="0"/>
                  </a:rPr>
                  <a:t>ThingSpeak</a:t>
                </a:r>
              </a:p>
              <a:p>
                <a:pPr marL="742950" lvl="1" indent="-285750">
                  <a:buFont typeface="Arial" panose="020B0604020202020204" pitchFamily="34" charset="0"/>
                  <a:buChar char="•"/>
                </a:pPr>
                <a:r>
                  <a:rPr lang="en-US">
                    <a:latin typeface="Open Sans" panose="020B0606030504020204" pitchFamily="34" charset="0"/>
                    <a:ea typeface="Open Sans" panose="020B0606030504020204" pitchFamily="34" charset="0"/>
                    <a:cs typeface="Open Sans" panose="020B0606030504020204" pitchFamily="34" charset="0"/>
                  </a:rPr>
                  <a:t>React Native</a:t>
                </a:r>
              </a:p>
              <a:p>
                <a:pPr marL="742950" lvl="1" indent="-285750">
                  <a:buFont typeface="Arial" panose="020B0604020202020204" pitchFamily="34" charset="0"/>
                  <a:buChar char="•"/>
                </a:pPr>
                <a:r>
                  <a:rPr lang="en-US">
                    <a:latin typeface="Open Sans" panose="020B0606030504020204" pitchFamily="34" charset="0"/>
                    <a:ea typeface="Open Sans" panose="020B0606030504020204" pitchFamily="34" charset="0"/>
                    <a:cs typeface="Open Sans" panose="020B0606030504020204" pitchFamily="34" charset="0"/>
                  </a:rPr>
                  <a:t>Google Firebase</a:t>
                </a:r>
              </a:p>
              <a:p>
                <a:pPr marL="742950" lvl="1" indent="-285750">
                  <a:buFont typeface="Arial" panose="020B0604020202020204" pitchFamily="34" charset="0"/>
                  <a:buChar char="•"/>
                </a:pPr>
                <a:endParaRPr lang="en-US">
                  <a:latin typeface="Open Sans" panose="020B0606030504020204" pitchFamily="34" charset="0"/>
                  <a:ea typeface="Open Sans" panose="020B0606030504020204" pitchFamily="34" charset="0"/>
                  <a:cs typeface="Open Sans" panose="020B0606030504020204" pitchFamily="34" charset="0"/>
                </a:endParaRPr>
              </a:p>
            </p:txBody>
          </p:sp>
        </p:grpSp>
        <p:sp>
          <p:nvSpPr>
            <p:cNvPr id="28" name="Rectangle 27">
              <a:extLst>
                <a:ext uri="{FF2B5EF4-FFF2-40B4-BE49-F238E27FC236}">
                  <a16:creationId xmlns:a16="http://schemas.microsoft.com/office/drawing/2014/main" id="{EDE73F08-6DE7-467D-AD12-7968C5928DD6}"/>
                </a:ext>
              </a:extLst>
            </p:cNvPr>
            <p:cNvSpPr/>
            <p:nvPr/>
          </p:nvSpPr>
          <p:spPr>
            <a:xfrm rot="5400000">
              <a:off x="4857561" y="3423222"/>
              <a:ext cx="1462669" cy="622853"/>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a:latin typeface="Open Sans" panose="020B0606030504020204" pitchFamily="34" charset="0"/>
                  <a:ea typeface="Open Sans" panose="020B0606030504020204" pitchFamily="34" charset="0"/>
                  <a:cs typeface="Open Sans" panose="020B0606030504020204" pitchFamily="34" charset="0"/>
                </a:rPr>
                <a:t>D</a:t>
              </a:r>
              <a:r>
                <a:rPr lang="vi-VN">
                  <a:latin typeface="Open Sans" panose="020B0606030504020204" pitchFamily="34" charset="0"/>
                  <a:ea typeface="Open Sans" panose="020B0606030504020204" pitchFamily="34" charset="0"/>
                  <a:cs typeface="Open Sans" panose="020B0606030504020204" pitchFamily="34" charset="0"/>
                </a:rPr>
                <a:t>ư</a:t>
              </a:r>
              <a:r>
                <a:rPr lang="en-US">
                  <a:latin typeface="Open Sans" panose="020B0606030504020204" pitchFamily="34" charset="0"/>
                  <a:ea typeface="Open Sans" panose="020B0606030504020204" pitchFamily="34" charset="0"/>
                  <a:cs typeface="Open Sans" panose="020B0606030504020204" pitchFamily="34" charset="0"/>
                </a:rPr>
                <a:t>ơng</a:t>
              </a:r>
            </a:p>
          </p:txBody>
        </p:sp>
        <p:sp>
          <p:nvSpPr>
            <p:cNvPr id="29" name="Rectangle 28">
              <a:extLst>
                <a:ext uri="{FF2B5EF4-FFF2-40B4-BE49-F238E27FC236}">
                  <a16:creationId xmlns:a16="http://schemas.microsoft.com/office/drawing/2014/main" id="{6204E70E-F64C-45D9-833D-BE7C0890A38A}"/>
                </a:ext>
              </a:extLst>
            </p:cNvPr>
            <p:cNvSpPr/>
            <p:nvPr/>
          </p:nvSpPr>
          <p:spPr>
            <a:xfrm rot="5400000">
              <a:off x="4848897" y="4897432"/>
              <a:ext cx="1485752" cy="622853"/>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a:latin typeface="Open Sans" panose="020B0606030504020204" pitchFamily="34" charset="0"/>
                  <a:ea typeface="Open Sans" panose="020B0606030504020204" pitchFamily="34" charset="0"/>
                  <a:cs typeface="Open Sans" panose="020B0606030504020204" pitchFamily="34" charset="0"/>
                </a:rPr>
                <a:t>Đăng</a:t>
              </a:r>
            </a:p>
          </p:txBody>
        </p:sp>
      </p:grpSp>
      <p:grpSp>
        <p:nvGrpSpPr>
          <p:cNvPr id="36" name="Group 35">
            <a:extLst>
              <a:ext uri="{FF2B5EF4-FFF2-40B4-BE49-F238E27FC236}">
                <a16:creationId xmlns:a16="http://schemas.microsoft.com/office/drawing/2014/main" id="{D0BD4C97-7212-4D80-BAFD-01CE6D1E1CD5}"/>
              </a:ext>
            </a:extLst>
          </p:cNvPr>
          <p:cNvGrpSpPr/>
          <p:nvPr/>
        </p:nvGrpSpPr>
        <p:grpSpPr>
          <a:xfrm>
            <a:off x="6540064" y="3022900"/>
            <a:ext cx="5255563" cy="1355515"/>
            <a:chOff x="6540064" y="3022900"/>
            <a:chExt cx="5255563" cy="1355515"/>
          </a:xfrm>
        </p:grpSpPr>
        <p:grpSp>
          <p:nvGrpSpPr>
            <p:cNvPr id="24" name="Group 23">
              <a:extLst>
                <a:ext uri="{FF2B5EF4-FFF2-40B4-BE49-F238E27FC236}">
                  <a16:creationId xmlns:a16="http://schemas.microsoft.com/office/drawing/2014/main" id="{CA36C22E-189C-4C1B-B02D-1C183E05A80F}"/>
                </a:ext>
              </a:extLst>
            </p:cNvPr>
            <p:cNvGrpSpPr/>
            <p:nvPr/>
          </p:nvGrpSpPr>
          <p:grpSpPr>
            <a:xfrm>
              <a:off x="6540064" y="3022900"/>
              <a:ext cx="4632710" cy="1348728"/>
              <a:chOff x="6645717" y="2956939"/>
              <a:chExt cx="4632710" cy="1348728"/>
            </a:xfrm>
          </p:grpSpPr>
          <p:sp>
            <p:nvSpPr>
              <p:cNvPr id="19" name="Oval 18">
                <a:extLst>
                  <a:ext uri="{FF2B5EF4-FFF2-40B4-BE49-F238E27FC236}">
                    <a16:creationId xmlns:a16="http://schemas.microsoft.com/office/drawing/2014/main" id="{56B500A8-F93D-421A-B718-A0F94F02F059}"/>
                  </a:ext>
                </a:extLst>
              </p:cNvPr>
              <p:cNvSpPr/>
              <p:nvPr/>
            </p:nvSpPr>
            <p:spPr>
              <a:xfrm>
                <a:off x="6645717" y="3429000"/>
                <a:ext cx="676688" cy="622852"/>
              </a:xfrm>
              <a:prstGeom prst="ellipse">
                <a:avLst/>
              </a:prstGeom>
            </p:spPr>
            <p:style>
              <a:lnRef idx="2">
                <a:schemeClr val="accent2"/>
              </a:lnRef>
              <a:fillRef idx="1">
                <a:schemeClr val="lt1"/>
              </a:fillRef>
              <a:effectRef idx="0">
                <a:schemeClr val="accent2"/>
              </a:effectRef>
              <a:fontRef idx="minor">
                <a:schemeClr val="dk1"/>
              </a:fontRef>
            </p:style>
            <p:txBody>
              <a:bodyPr rtlCol="0" anchor="ctr"/>
              <a:lstStyle/>
              <a:p>
                <a:r>
                  <a:rPr lang="en-US" b="1">
                    <a:latin typeface="Open Sans" panose="020B0606030504020204" pitchFamily="34" charset="0"/>
                    <a:ea typeface="Open Sans" panose="020B0606030504020204" pitchFamily="34" charset="0"/>
                    <a:cs typeface="Open Sans" panose="020B0606030504020204" pitchFamily="34" charset="0"/>
                  </a:rPr>
                  <a:t>4</a:t>
                </a:r>
              </a:p>
            </p:txBody>
          </p:sp>
          <p:sp>
            <p:nvSpPr>
              <p:cNvPr id="13" name="Rectangle 12">
                <a:extLst>
                  <a:ext uri="{FF2B5EF4-FFF2-40B4-BE49-F238E27FC236}">
                    <a16:creationId xmlns:a16="http://schemas.microsoft.com/office/drawing/2014/main" id="{77526B0A-D4B3-4F80-9FF8-B04ED426DA4B}"/>
                  </a:ext>
                </a:extLst>
              </p:cNvPr>
              <p:cNvSpPr/>
              <p:nvPr/>
            </p:nvSpPr>
            <p:spPr>
              <a:xfrm>
                <a:off x="7010565" y="2956939"/>
                <a:ext cx="4267862" cy="1348728"/>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r>
                  <a:rPr lang="en-US" b="1">
                    <a:latin typeface="Open Sans" panose="020B0606030504020204" pitchFamily="34" charset="0"/>
                    <a:ea typeface="Open Sans" panose="020B0606030504020204" pitchFamily="34" charset="0"/>
                    <a:cs typeface="Open Sans" panose="020B0606030504020204" pitchFamily="34" charset="0"/>
                  </a:rPr>
                  <a:t>Kết luận:</a:t>
                </a:r>
              </a:p>
              <a:p>
                <a:pPr marL="742950" lvl="1" indent="-285750">
                  <a:buFont typeface="Arial" panose="020B0604020202020204" pitchFamily="34" charset="0"/>
                  <a:buChar char="•"/>
                </a:pPr>
                <a:r>
                  <a:rPr lang="en-US">
                    <a:latin typeface="Open Sans" panose="020B0606030504020204" pitchFamily="34" charset="0"/>
                    <a:ea typeface="Open Sans" panose="020B0606030504020204" pitchFamily="34" charset="0"/>
                    <a:cs typeface="Open Sans" panose="020B0606030504020204" pitchFamily="34" charset="0"/>
                  </a:rPr>
                  <a:t>Kết quả đạt đ</a:t>
                </a:r>
                <a:r>
                  <a:rPr lang="vi-VN">
                    <a:latin typeface="Open Sans" panose="020B0606030504020204" pitchFamily="34" charset="0"/>
                    <a:ea typeface="Open Sans" panose="020B0606030504020204" pitchFamily="34" charset="0"/>
                    <a:cs typeface="Open Sans" panose="020B0606030504020204" pitchFamily="34" charset="0"/>
                  </a:rPr>
                  <a:t>ư</a:t>
                </a:r>
                <a:r>
                  <a:rPr lang="en-US">
                    <a:latin typeface="Open Sans" panose="020B0606030504020204" pitchFamily="34" charset="0"/>
                    <a:ea typeface="Open Sans" panose="020B0606030504020204" pitchFamily="34" charset="0"/>
                    <a:cs typeface="Open Sans" panose="020B0606030504020204" pitchFamily="34" charset="0"/>
                  </a:rPr>
                  <a:t>ợc</a:t>
                </a:r>
              </a:p>
              <a:p>
                <a:pPr marL="742950" lvl="1" indent="-285750">
                  <a:buFont typeface="Arial" panose="020B0604020202020204" pitchFamily="34" charset="0"/>
                  <a:buChar char="•"/>
                </a:pPr>
                <a:r>
                  <a:rPr lang="en-US">
                    <a:latin typeface="Open Sans" panose="020B0606030504020204" pitchFamily="34" charset="0"/>
                    <a:ea typeface="Open Sans" panose="020B0606030504020204" pitchFamily="34" charset="0"/>
                    <a:cs typeface="Open Sans" panose="020B0606030504020204" pitchFamily="34" charset="0"/>
                  </a:rPr>
                  <a:t>Hạn chế</a:t>
                </a:r>
              </a:p>
              <a:p>
                <a:pPr marL="742950" lvl="1" indent="-285750">
                  <a:buFont typeface="Arial" panose="020B0604020202020204" pitchFamily="34" charset="0"/>
                  <a:buChar char="•"/>
                </a:pPr>
                <a:r>
                  <a:rPr lang="en-US">
                    <a:latin typeface="Open Sans" panose="020B0606030504020204" pitchFamily="34" charset="0"/>
                    <a:ea typeface="Open Sans" panose="020B0606030504020204" pitchFamily="34" charset="0"/>
                    <a:cs typeface="Open Sans" panose="020B0606030504020204" pitchFamily="34" charset="0"/>
                  </a:rPr>
                  <a:t>Hướng phát tiển</a:t>
                </a:r>
              </a:p>
            </p:txBody>
          </p:sp>
        </p:grpSp>
        <p:sp>
          <p:nvSpPr>
            <p:cNvPr id="30" name="Rectangle 29">
              <a:extLst>
                <a:ext uri="{FF2B5EF4-FFF2-40B4-BE49-F238E27FC236}">
                  <a16:creationId xmlns:a16="http://schemas.microsoft.com/office/drawing/2014/main" id="{01DC6051-A1D3-43A0-8D54-8266646F5E04}"/>
                </a:ext>
              </a:extLst>
            </p:cNvPr>
            <p:cNvSpPr/>
            <p:nvPr/>
          </p:nvSpPr>
          <p:spPr>
            <a:xfrm rot="5400000">
              <a:off x="10809837" y="3392625"/>
              <a:ext cx="1348727" cy="622853"/>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a:latin typeface="Open Sans" panose="020B0606030504020204" pitchFamily="34" charset="0"/>
                  <a:ea typeface="Open Sans" panose="020B0606030504020204" pitchFamily="34" charset="0"/>
                  <a:cs typeface="Open Sans" panose="020B0606030504020204" pitchFamily="34" charset="0"/>
                </a:rPr>
                <a:t>Đăng</a:t>
              </a:r>
            </a:p>
          </p:txBody>
        </p:sp>
      </p:grpSp>
      <p:grpSp>
        <p:nvGrpSpPr>
          <p:cNvPr id="35" name="Group 34">
            <a:extLst>
              <a:ext uri="{FF2B5EF4-FFF2-40B4-BE49-F238E27FC236}">
                <a16:creationId xmlns:a16="http://schemas.microsoft.com/office/drawing/2014/main" id="{D796F68D-8B44-4C56-ADE4-E1D834214639}"/>
              </a:ext>
            </a:extLst>
          </p:cNvPr>
          <p:cNvGrpSpPr/>
          <p:nvPr/>
        </p:nvGrpSpPr>
        <p:grpSpPr>
          <a:xfrm>
            <a:off x="6606125" y="1418314"/>
            <a:ext cx="5230086" cy="1348728"/>
            <a:chOff x="6606125" y="1418314"/>
            <a:chExt cx="5230086" cy="1348728"/>
          </a:xfrm>
        </p:grpSpPr>
        <p:grpSp>
          <p:nvGrpSpPr>
            <p:cNvPr id="23" name="Group 22">
              <a:extLst>
                <a:ext uri="{FF2B5EF4-FFF2-40B4-BE49-F238E27FC236}">
                  <a16:creationId xmlns:a16="http://schemas.microsoft.com/office/drawing/2014/main" id="{55AA0A31-C29F-4A65-825E-90D4280D5328}"/>
                </a:ext>
              </a:extLst>
            </p:cNvPr>
            <p:cNvGrpSpPr/>
            <p:nvPr/>
          </p:nvGrpSpPr>
          <p:grpSpPr>
            <a:xfrm>
              <a:off x="6606125" y="1418314"/>
              <a:ext cx="4632710" cy="1348728"/>
              <a:chOff x="6645717" y="1272817"/>
              <a:chExt cx="4632710" cy="1348728"/>
            </a:xfrm>
          </p:grpSpPr>
          <p:sp>
            <p:nvSpPr>
              <p:cNvPr id="18" name="Oval 17">
                <a:extLst>
                  <a:ext uri="{FF2B5EF4-FFF2-40B4-BE49-F238E27FC236}">
                    <a16:creationId xmlns:a16="http://schemas.microsoft.com/office/drawing/2014/main" id="{DAD87B7F-C55C-4200-B427-1E162A28C415}"/>
                  </a:ext>
                </a:extLst>
              </p:cNvPr>
              <p:cNvSpPr/>
              <p:nvPr/>
            </p:nvSpPr>
            <p:spPr>
              <a:xfrm>
                <a:off x="6645717" y="1663848"/>
                <a:ext cx="676688" cy="622852"/>
              </a:xfrm>
              <a:prstGeom prst="ellipse">
                <a:avLst/>
              </a:prstGeom>
            </p:spPr>
            <p:style>
              <a:lnRef idx="2">
                <a:schemeClr val="accent2"/>
              </a:lnRef>
              <a:fillRef idx="1">
                <a:schemeClr val="lt1"/>
              </a:fillRef>
              <a:effectRef idx="0">
                <a:schemeClr val="accent2"/>
              </a:effectRef>
              <a:fontRef idx="minor">
                <a:schemeClr val="dk1"/>
              </a:fontRef>
            </p:style>
            <p:txBody>
              <a:bodyPr rtlCol="0" anchor="ctr"/>
              <a:lstStyle/>
              <a:p>
                <a:r>
                  <a:rPr lang="en-US" b="1">
                    <a:latin typeface="Open Sans" panose="020B0606030504020204" pitchFamily="34" charset="0"/>
                    <a:ea typeface="Open Sans" panose="020B0606030504020204" pitchFamily="34" charset="0"/>
                    <a:cs typeface="Open Sans" panose="020B0606030504020204" pitchFamily="34" charset="0"/>
                  </a:rPr>
                  <a:t>3</a:t>
                </a:r>
              </a:p>
            </p:txBody>
          </p:sp>
          <p:sp>
            <p:nvSpPr>
              <p:cNvPr id="12" name="Rectangle 11">
                <a:extLst>
                  <a:ext uri="{FF2B5EF4-FFF2-40B4-BE49-F238E27FC236}">
                    <a16:creationId xmlns:a16="http://schemas.microsoft.com/office/drawing/2014/main" id="{85542D45-F2C1-4A18-B154-7A4E78D1EBE1}"/>
                  </a:ext>
                </a:extLst>
              </p:cNvPr>
              <p:cNvSpPr/>
              <p:nvPr/>
            </p:nvSpPr>
            <p:spPr>
              <a:xfrm>
                <a:off x="7010565" y="1272817"/>
                <a:ext cx="4267862" cy="1348728"/>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r>
                  <a:rPr lang="en-US" b="1">
                    <a:latin typeface="Open Sans" panose="020B0606030504020204" pitchFamily="34" charset="0"/>
                    <a:ea typeface="Open Sans" panose="020B0606030504020204" pitchFamily="34" charset="0"/>
                    <a:cs typeface="Open Sans" panose="020B0606030504020204" pitchFamily="34" charset="0"/>
                  </a:rPr>
                  <a:t>Thiết kế và cài đặt:</a:t>
                </a:r>
              </a:p>
              <a:p>
                <a:pPr marL="742950" lvl="1" indent="-285750">
                  <a:buFont typeface="Arial" panose="020B0604020202020204" pitchFamily="34" charset="0"/>
                  <a:buChar char="•"/>
                </a:pPr>
                <a:r>
                  <a:rPr lang="en-US">
                    <a:latin typeface="Open Sans" panose="020B0606030504020204" pitchFamily="34" charset="0"/>
                    <a:ea typeface="Open Sans" panose="020B0606030504020204" pitchFamily="34" charset="0"/>
                    <a:cs typeface="Open Sans" panose="020B0606030504020204" pitchFamily="34" charset="0"/>
                  </a:rPr>
                  <a:t>Kiến trúc hệ thống</a:t>
                </a:r>
              </a:p>
              <a:p>
                <a:pPr marL="742950" lvl="1" indent="-285750">
                  <a:buFont typeface="Arial" panose="020B0604020202020204" pitchFamily="34" charset="0"/>
                  <a:buChar char="•"/>
                </a:pPr>
                <a:r>
                  <a:rPr lang="en-US">
                    <a:latin typeface="Open Sans" panose="020B0606030504020204" pitchFamily="34" charset="0"/>
                    <a:ea typeface="Open Sans" panose="020B0606030504020204" pitchFamily="34" charset="0"/>
                    <a:cs typeface="Open Sans" panose="020B0606030504020204" pitchFamily="34" charset="0"/>
                  </a:rPr>
                  <a:t>S</a:t>
                </a:r>
                <a:r>
                  <a:rPr lang="vi-VN">
                    <a:latin typeface="Open Sans" panose="020B0606030504020204" pitchFamily="34" charset="0"/>
                    <a:ea typeface="Open Sans" panose="020B0606030504020204" pitchFamily="34" charset="0"/>
                    <a:cs typeface="Open Sans" panose="020B0606030504020204" pitchFamily="34" charset="0"/>
                  </a:rPr>
                  <a:t>ơ</a:t>
                </a:r>
                <a:r>
                  <a:rPr lang="en-US">
                    <a:latin typeface="Open Sans" panose="020B0606030504020204" pitchFamily="34" charset="0"/>
                    <a:ea typeface="Open Sans" panose="020B0606030504020204" pitchFamily="34" charset="0"/>
                    <a:cs typeface="Open Sans" panose="020B0606030504020204" pitchFamily="34" charset="0"/>
                  </a:rPr>
                  <a:t> đồ phân rã chức năng</a:t>
                </a:r>
              </a:p>
              <a:p>
                <a:pPr marL="742950" lvl="1" indent="-285750">
                  <a:buFont typeface="Arial" panose="020B0604020202020204" pitchFamily="34" charset="0"/>
                  <a:buChar char="•"/>
                </a:pPr>
                <a:r>
                  <a:rPr lang="en-US">
                    <a:latin typeface="Open Sans" panose="020B0606030504020204" pitchFamily="34" charset="0"/>
                    <a:ea typeface="Open Sans" panose="020B0606030504020204" pitchFamily="34" charset="0"/>
                    <a:cs typeface="Open Sans" panose="020B0606030504020204" pitchFamily="34" charset="0"/>
                  </a:rPr>
                  <a:t>S</a:t>
                </a:r>
                <a:r>
                  <a:rPr lang="vi-VN">
                    <a:latin typeface="Open Sans" panose="020B0606030504020204" pitchFamily="34" charset="0"/>
                    <a:ea typeface="Open Sans" panose="020B0606030504020204" pitchFamily="34" charset="0"/>
                    <a:cs typeface="Open Sans" panose="020B0606030504020204" pitchFamily="34" charset="0"/>
                  </a:rPr>
                  <a:t>ơ</a:t>
                </a:r>
                <a:r>
                  <a:rPr lang="en-US">
                    <a:latin typeface="Open Sans" panose="020B0606030504020204" pitchFamily="34" charset="0"/>
                    <a:ea typeface="Open Sans" panose="020B0606030504020204" pitchFamily="34" charset="0"/>
                    <a:cs typeface="Open Sans" panose="020B0606030504020204" pitchFamily="34" charset="0"/>
                  </a:rPr>
                  <a:t> đồ Use Case</a:t>
                </a:r>
              </a:p>
              <a:p>
                <a:pPr marL="742950" lvl="1" indent="-285750">
                  <a:buFont typeface="Arial" panose="020B0604020202020204" pitchFamily="34" charset="0"/>
                  <a:buChar char="•"/>
                </a:pPr>
                <a:r>
                  <a:rPr lang="en-US">
                    <a:latin typeface="Open Sans" panose="020B0606030504020204" pitchFamily="34" charset="0"/>
                    <a:ea typeface="Open Sans" panose="020B0606030504020204" pitchFamily="34" charset="0"/>
                    <a:cs typeface="Open Sans" panose="020B0606030504020204" pitchFamily="34" charset="0"/>
                  </a:rPr>
                  <a:t>Thiết kế CSDL</a:t>
                </a:r>
              </a:p>
            </p:txBody>
          </p:sp>
        </p:grpSp>
        <p:sp>
          <p:nvSpPr>
            <p:cNvPr id="31" name="Rectangle 30">
              <a:extLst>
                <a:ext uri="{FF2B5EF4-FFF2-40B4-BE49-F238E27FC236}">
                  <a16:creationId xmlns:a16="http://schemas.microsoft.com/office/drawing/2014/main" id="{FF3A4019-87CD-41B5-9EAB-8004AA8C4881}"/>
                </a:ext>
              </a:extLst>
            </p:cNvPr>
            <p:cNvSpPr/>
            <p:nvPr/>
          </p:nvSpPr>
          <p:spPr>
            <a:xfrm rot="5400000">
              <a:off x="10850421" y="1781251"/>
              <a:ext cx="1348727" cy="622853"/>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a:latin typeface="Open Sans" panose="020B0606030504020204" pitchFamily="34" charset="0"/>
                  <a:ea typeface="Open Sans" panose="020B0606030504020204" pitchFamily="34" charset="0"/>
                  <a:cs typeface="Open Sans" panose="020B0606030504020204" pitchFamily="34" charset="0"/>
                </a:rPr>
                <a:t>Đăng</a:t>
              </a:r>
            </a:p>
          </p:txBody>
        </p:sp>
      </p:grpSp>
      <p:grpSp>
        <p:nvGrpSpPr>
          <p:cNvPr id="37" name="Group 36">
            <a:extLst>
              <a:ext uri="{FF2B5EF4-FFF2-40B4-BE49-F238E27FC236}">
                <a16:creationId xmlns:a16="http://schemas.microsoft.com/office/drawing/2014/main" id="{9158BD0E-7E27-4C73-80A9-32E851EAEA7A}"/>
              </a:ext>
            </a:extLst>
          </p:cNvPr>
          <p:cNvGrpSpPr/>
          <p:nvPr/>
        </p:nvGrpSpPr>
        <p:grpSpPr>
          <a:xfrm>
            <a:off x="6645717" y="4641061"/>
            <a:ext cx="5149909" cy="1348728"/>
            <a:chOff x="6645717" y="4641061"/>
            <a:chExt cx="5149909" cy="1348728"/>
          </a:xfrm>
        </p:grpSpPr>
        <p:grpSp>
          <p:nvGrpSpPr>
            <p:cNvPr id="25" name="Group 24">
              <a:extLst>
                <a:ext uri="{FF2B5EF4-FFF2-40B4-BE49-F238E27FC236}">
                  <a16:creationId xmlns:a16="http://schemas.microsoft.com/office/drawing/2014/main" id="{16055516-B889-4165-AC78-6DA608E2A7FE}"/>
                </a:ext>
              </a:extLst>
            </p:cNvPr>
            <p:cNvGrpSpPr/>
            <p:nvPr/>
          </p:nvGrpSpPr>
          <p:grpSpPr>
            <a:xfrm>
              <a:off x="6645717" y="4641061"/>
              <a:ext cx="4527057" cy="1348728"/>
              <a:chOff x="6645717" y="4641061"/>
              <a:chExt cx="4632710" cy="1348728"/>
            </a:xfrm>
          </p:grpSpPr>
          <p:sp>
            <p:nvSpPr>
              <p:cNvPr id="20" name="Oval 19">
                <a:extLst>
                  <a:ext uri="{FF2B5EF4-FFF2-40B4-BE49-F238E27FC236}">
                    <a16:creationId xmlns:a16="http://schemas.microsoft.com/office/drawing/2014/main" id="{3C106658-A140-41D2-8715-A84749609C8F}"/>
                  </a:ext>
                </a:extLst>
              </p:cNvPr>
              <p:cNvSpPr/>
              <p:nvPr/>
            </p:nvSpPr>
            <p:spPr>
              <a:xfrm>
                <a:off x="6645717" y="4962331"/>
                <a:ext cx="676688" cy="622852"/>
              </a:xfrm>
              <a:prstGeom prst="ellipse">
                <a:avLst/>
              </a:prstGeom>
            </p:spPr>
            <p:style>
              <a:lnRef idx="2">
                <a:schemeClr val="accent2"/>
              </a:lnRef>
              <a:fillRef idx="1">
                <a:schemeClr val="lt1"/>
              </a:fillRef>
              <a:effectRef idx="0">
                <a:schemeClr val="accent2"/>
              </a:effectRef>
              <a:fontRef idx="minor">
                <a:schemeClr val="dk1"/>
              </a:fontRef>
            </p:style>
            <p:txBody>
              <a:bodyPr rtlCol="0" anchor="ctr"/>
              <a:lstStyle/>
              <a:p>
                <a:r>
                  <a:rPr lang="en-US" b="1">
                    <a:latin typeface="Open Sans" panose="020B0606030504020204" pitchFamily="34" charset="0"/>
                    <a:ea typeface="Open Sans" panose="020B0606030504020204" pitchFamily="34" charset="0"/>
                    <a:cs typeface="Open Sans" panose="020B0606030504020204" pitchFamily="34" charset="0"/>
                  </a:rPr>
                  <a:t>5</a:t>
                </a:r>
              </a:p>
            </p:txBody>
          </p:sp>
          <p:sp>
            <p:nvSpPr>
              <p:cNvPr id="14" name="Rectangle 13">
                <a:extLst>
                  <a:ext uri="{FF2B5EF4-FFF2-40B4-BE49-F238E27FC236}">
                    <a16:creationId xmlns:a16="http://schemas.microsoft.com/office/drawing/2014/main" id="{4F7C7AB9-B1BE-4832-A25D-364EBC0A0901}"/>
                  </a:ext>
                </a:extLst>
              </p:cNvPr>
              <p:cNvSpPr/>
              <p:nvPr/>
            </p:nvSpPr>
            <p:spPr>
              <a:xfrm>
                <a:off x="7010565" y="4641061"/>
                <a:ext cx="4267862" cy="1348728"/>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r>
                  <a:rPr lang="en-US" b="1">
                    <a:latin typeface="Open Sans" panose="020B0606030504020204" pitchFamily="34" charset="0"/>
                    <a:ea typeface="Open Sans" panose="020B0606030504020204" pitchFamily="34" charset="0"/>
                    <a:cs typeface="Open Sans" panose="020B0606030504020204" pitchFamily="34" charset="0"/>
                  </a:rPr>
                  <a:t>Demo</a:t>
                </a:r>
              </a:p>
            </p:txBody>
          </p:sp>
        </p:grpSp>
        <p:sp>
          <p:nvSpPr>
            <p:cNvPr id="32" name="Rectangle 31">
              <a:extLst>
                <a:ext uri="{FF2B5EF4-FFF2-40B4-BE49-F238E27FC236}">
                  <a16:creationId xmlns:a16="http://schemas.microsoft.com/office/drawing/2014/main" id="{ED6A0B60-4E7E-42D2-9FC8-C165E2D28837}"/>
                </a:ext>
              </a:extLst>
            </p:cNvPr>
            <p:cNvSpPr/>
            <p:nvPr/>
          </p:nvSpPr>
          <p:spPr>
            <a:xfrm rot="5400000">
              <a:off x="10809836" y="5003998"/>
              <a:ext cx="1348727" cy="622853"/>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a:latin typeface="Open Sans" panose="020B0606030504020204" pitchFamily="34" charset="0"/>
                  <a:ea typeface="Open Sans" panose="020B0606030504020204" pitchFamily="34" charset="0"/>
                  <a:cs typeface="Open Sans" panose="020B0606030504020204" pitchFamily="34" charset="0"/>
                </a:rPr>
                <a:t>D</a:t>
              </a:r>
              <a:r>
                <a:rPr lang="vi-VN">
                  <a:latin typeface="Open Sans" panose="020B0606030504020204" pitchFamily="34" charset="0"/>
                  <a:ea typeface="Open Sans" panose="020B0606030504020204" pitchFamily="34" charset="0"/>
                  <a:cs typeface="Open Sans" panose="020B0606030504020204" pitchFamily="34" charset="0"/>
                </a:rPr>
                <a:t>ư</a:t>
              </a:r>
              <a:r>
                <a:rPr lang="en-US">
                  <a:latin typeface="Open Sans" panose="020B0606030504020204" pitchFamily="34" charset="0"/>
                  <a:ea typeface="Open Sans" panose="020B0606030504020204" pitchFamily="34" charset="0"/>
                  <a:cs typeface="Open Sans" panose="020B0606030504020204" pitchFamily="34" charset="0"/>
                </a:rPr>
                <a:t>ơng Đăng</a:t>
              </a:r>
            </a:p>
          </p:txBody>
        </p:sp>
      </p:grpSp>
      <p:sp>
        <p:nvSpPr>
          <p:cNvPr id="39" name="Footer Placeholder 38">
            <a:extLst>
              <a:ext uri="{FF2B5EF4-FFF2-40B4-BE49-F238E27FC236}">
                <a16:creationId xmlns:a16="http://schemas.microsoft.com/office/drawing/2014/main" id="{1D5EE034-4ABC-4C18-8E58-187E9682D9E0}"/>
              </a:ext>
            </a:extLst>
          </p:cNvPr>
          <p:cNvSpPr>
            <a:spLocks noGrp="1"/>
          </p:cNvSpPr>
          <p:nvPr>
            <p:ph type="ftr" sz="quarter" idx="11"/>
          </p:nvPr>
        </p:nvSpPr>
        <p:spPr/>
        <p:txBody>
          <a:bodyPr/>
          <a:lstStyle/>
          <a:p>
            <a:r>
              <a:rPr lang="en-US"/>
              <a:t>1</a:t>
            </a:r>
          </a:p>
        </p:txBody>
      </p:sp>
    </p:spTree>
    <p:extLst>
      <p:ext uri="{BB962C8B-B14F-4D97-AF65-F5344CB8AC3E}">
        <p14:creationId xmlns:p14="http://schemas.microsoft.com/office/powerpoint/2010/main" val="34133259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539BD891-82BF-4516-BC0C-4148E1578DC0}"/>
              </a:ext>
            </a:extLst>
          </p:cNvPr>
          <p:cNvGrpSpPr/>
          <p:nvPr/>
        </p:nvGrpSpPr>
        <p:grpSpPr>
          <a:xfrm>
            <a:off x="601206" y="330973"/>
            <a:ext cx="2442580" cy="630942"/>
            <a:chOff x="601206" y="330973"/>
            <a:chExt cx="2428870" cy="630942"/>
          </a:xfrm>
        </p:grpSpPr>
        <p:sp>
          <p:nvSpPr>
            <p:cNvPr id="5" name="TextBox 4">
              <a:extLst>
                <a:ext uri="{FF2B5EF4-FFF2-40B4-BE49-F238E27FC236}">
                  <a16:creationId xmlns:a16="http://schemas.microsoft.com/office/drawing/2014/main" id="{01F61641-1819-4066-A670-CC1607697CCE}"/>
                </a:ext>
              </a:extLst>
            </p:cNvPr>
            <p:cNvSpPr txBox="1"/>
            <p:nvPr/>
          </p:nvSpPr>
          <p:spPr>
            <a:xfrm>
              <a:off x="601206" y="330973"/>
              <a:ext cx="2428870" cy="630942"/>
            </a:xfrm>
            <a:prstGeom prst="rect">
              <a:avLst/>
            </a:prstGeom>
            <a:noFill/>
          </p:spPr>
          <p:txBody>
            <a:bodyPr wrap="none" rtlCol="0">
              <a:spAutoFit/>
            </a:bodyPr>
            <a:lstStyle/>
            <a:p>
              <a:pPr algn="ctr"/>
              <a:r>
                <a:rPr lang="en-US" sz="3500">
                  <a:latin typeface="Open Sans" panose="020B0606030504020204" pitchFamily="34" charset="0"/>
                  <a:ea typeface="Open Sans" panose="020B0606030504020204" pitchFamily="34" charset="0"/>
                  <a:cs typeface="Open Sans" panose="020B0606030504020204" pitchFamily="34" charset="0"/>
                </a:rPr>
                <a:t>Đặt vấn đề</a:t>
              </a:r>
            </a:p>
          </p:txBody>
        </p:sp>
        <p:cxnSp>
          <p:nvCxnSpPr>
            <p:cNvPr id="6" name="Straight Connector 5">
              <a:extLst>
                <a:ext uri="{FF2B5EF4-FFF2-40B4-BE49-F238E27FC236}">
                  <a16:creationId xmlns:a16="http://schemas.microsoft.com/office/drawing/2014/main" id="{24A6A40C-DCF3-4788-9030-9E581D909C0E}"/>
                </a:ext>
              </a:extLst>
            </p:cNvPr>
            <p:cNvCxnSpPr>
              <a:cxnSpLocks/>
            </p:cNvCxnSpPr>
            <p:nvPr/>
          </p:nvCxnSpPr>
          <p:spPr>
            <a:xfrm>
              <a:off x="601206" y="961915"/>
              <a:ext cx="2428870" cy="0"/>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pic>
        <p:nvPicPr>
          <p:cNvPr id="8" name="Picture 7">
            <a:extLst>
              <a:ext uri="{FF2B5EF4-FFF2-40B4-BE49-F238E27FC236}">
                <a16:creationId xmlns:a16="http://schemas.microsoft.com/office/drawing/2014/main" id="{79DAE78E-9012-4446-B724-248420070F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1206" y="1263497"/>
            <a:ext cx="5219700" cy="3057043"/>
          </a:xfrm>
          <a:prstGeom prst="rect">
            <a:avLst/>
          </a:prstGeom>
          <a:ln>
            <a:noFill/>
          </a:ln>
          <a:effectLst>
            <a:outerShdw blurRad="292100" dist="139700" dir="2700000" algn="tl" rotWithShape="0">
              <a:srgbClr val="333333">
                <a:alpha val="65000"/>
              </a:srgbClr>
            </a:outerShdw>
          </a:effectLst>
        </p:spPr>
      </p:pic>
      <p:sp>
        <p:nvSpPr>
          <p:cNvPr id="9" name="Content Placeholder 4">
            <a:extLst>
              <a:ext uri="{FF2B5EF4-FFF2-40B4-BE49-F238E27FC236}">
                <a16:creationId xmlns:a16="http://schemas.microsoft.com/office/drawing/2014/main" id="{6E847FDD-0846-4DB5-A80C-1294B0B3F339}"/>
              </a:ext>
            </a:extLst>
          </p:cNvPr>
          <p:cNvSpPr>
            <a:spLocks noGrp="1"/>
          </p:cNvSpPr>
          <p:nvPr>
            <p:ph idx="1"/>
          </p:nvPr>
        </p:nvSpPr>
        <p:spPr>
          <a:xfrm>
            <a:off x="740969" y="4724300"/>
            <a:ext cx="4940173" cy="892552"/>
          </a:xfrm>
        </p:spPr>
        <p:txBody>
          <a:bodyPr>
            <a:noAutofit/>
          </a:bodyPr>
          <a:lstStyle/>
          <a:p>
            <a:pPr marL="0" indent="0" algn="ctr">
              <a:lnSpc>
                <a:spcPct val="120000"/>
              </a:lnSpc>
              <a:buNone/>
              <a:defRPr/>
            </a:pPr>
            <a:r>
              <a:rPr lang="en-US" sz="2600">
                <a:latin typeface="Open Sans" panose="020B0606030504020204" pitchFamily="34" charset="0"/>
                <a:ea typeface="Open Sans" panose="020B0606030504020204" pitchFamily="34" charset="0"/>
                <a:cs typeface="Open Sans" panose="020B0606030504020204" pitchFamily="34" charset="0"/>
              </a:rPr>
              <a:t>IoT kết hợp với đời sống xã hội ở Việt Nam ch</a:t>
            </a:r>
            <a:r>
              <a:rPr lang="vi-VN" sz="2600">
                <a:latin typeface="Open Sans" panose="020B0606030504020204" pitchFamily="34" charset="0"/>
                <a:ea typeface="Open Sans" panose="020B0606030504020204" pitchFamily="34" charset="0"/>
                <a:cs typeface="Open Sans" panose="020B0606030504020204" pitchFamily="34" charset="0"/>
              </a:rPr>
              <a:t>ư</a:t>
            </a:r>
            <a:r>
              <a:rPr lang="en-US" sz="2600">
                <a:latin typeface="Open Sans" panose="020B0606030504020204" pitchFamily="34" charset="0"/>
                <a:ea typeface="Open Sans" panose="020B0606030504020204" pitchFamily="34" charset="0"/>
                <a:cs typeface="Open Sans" panose="020B0606030504020204" pitchFamily="34" charset="0"/>
              </a:rPr>
              <a:t>a phổ biến.</a:t>
            </a:r>
          </a:p>
          <a:p>
            <a:pPr algn="ctr">
              <a:buFontTx/>
              <a:buChar char="-"/>
              <a:defRPr/>
            </a:pPr>
            <a:endParaRPr lang="en-US" sz="2600">
              <a:latin typeface="Open Sans" panose="020B0606030504020204" pitchFamily="34" charset="0"/>
              <a:ea typeface="Open Sans" panose="020B0606030504020204" pitchFamily="34" charset="0"/>
              <a:cs typeface="Open Sans" panose="020B0606030504020204" pitchFamily="34" charset="0"/>
            </a:endParaRPr>
          </a:p>
          <a:p>
            <a:pPr algn="ctr">
              <a:buFontTx/>
              <a:buChar char="-"/>
              <a:defRPr/>
            </a:pPr>
            <a:endParaRPr lang="en-US" sz="2600">
              <a:latin typeface="Open Sans" panose="020B0606030504020204" pitchFamily="34" charset="0"/>
              <a:ea typeface="Open Sans" panose="020B0606030504020204" pitchFamily="34" charset="0"/>
              <a:cs typeface="Open Sans" panose="020B0606030504020204" pitchFamily="34" charset="0"/>
            </a:endParaRPr>
          </a:p>
        </p:txBody>
      </p:sp>
      <p:pic>
        <p:nvPicPr>
          <p:cNvPr id="10" name="Picture 9">
            <a:extLst>
              <a:ext uri="{FF2B5EF4-FFF2-40B4-BE49-F238E27FC236}">
                <a16:creationId xmlns:a16="http://schemas.microsoft.com/office/drawing/2014/main" id="{F740AFF7-E28C-4A03-B424-80933F507E3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13297" y="518449"/>
            <a:ext cx="3219048" cy="1915584"/>
          </a:xfrm>
          <a:prstGeom prst="rect">
            <a:avLst/>
          </a:prstGeom>
        </p:spPr>
      </p:pic>
      <p:sp>
        <p:nvSpPr>
          <p:cNvPr id="11" name="Content Placeholder 4">
            <a:extLst>
              <a:ext uri="{FF2B5EF4-FFF2-40B4-BE49-F238E27FC236}">
                <a16:creationId xmlns:a16="http://schemas.microsoft.com/office/drawing/2014/main" id="{1E150EFA-E61C-48D9-B8EB-6927FE53ACC9}"/>
              </a:ext>
            </a:extLst>
          </p:cNvPr>
          <p:cNvSpPr txBox="1">
            <a:spLocks/>
          </p:cNvSpPr>
          <p:nvPr/>
        </p:nvSpPr>
        <p:spPr>
          <a:xfrm>
            <a:off x="5820906" y="2434033"/>
            <a:ext cx="6092204" cy="10516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20000"/>
              </a:lnSpc>
              <a:buFont typeface="Arial" panose="020B0604020202020204" pitchFamily="34" charset="0"/>
              <a:buNone/>
              <a:defRPr/>
            </a:pPr>
            <a:r>
              <a:rPr lang="en-US" sz="2600">
                <a:latin typeface="Open Sans" panose="020B0606030504020204" pitchFamily="34" charset="0"/>
                <a:ea typeface="Open Sans" panose="020B0606030504020204" pitchFamily="34" charset="0"/>
                <a:cs typeface="Open Sans" panose="020B0606030504020204" pitchFamily="34" charset="0"/>
              </a:rPr>
              <a:t>Ý thức ng</a:t>
            </a:r>
            <a:r>
              <a:rPr lang="vi-VN" sz="2600">
                <a:latin typeface="Open Sans" panose="020B0606030504020204" pitchFamily="34" charset="0"/>
                <a:ea typeface="Open Sans" panose="020B0606030504020204" pitchFamily="34" charset="0"/>
                <a:cs typeface="Open Sans" panose="020B0606030504020204" pitchFamily="34" charset="0"/>
              </a:rPr>
              <a:t>ư</a:t>
            </a:r>
            <a:r>
              <a:rPr lang="en-US" sz="2600">
                <a:latin typeface="Open Sans" panose="020B0606030504020204" pitchFamily="34" charset="0"/>
                <a:ea typeface="Open Sans" panose="020B0606030504020204" pitchFamily="34" charset="0"/>
                <a:cs typeface="Open Sans" panose="020B0606030504020204" pitchFamily="34" charset="0"/>
              </a:rPr>
              <a:t>ời dân về phòng chống cháy nổ ch</a:t>
            </a:r>
            <a:r>
              <a:rPr lang="vi-VN" sz="2600">
                <a:latin typeface="Open Sans" panose="020B0606030504020204" pitchFamily="34" charset="0"/>
                <a:ea typeface="Open Sans" panose="020B0606030504020204" pitchFamily="34" charset="0"/>
                <a:cs typeface="Open Sans" panose="020B0606030504020204" pitchFamily="34" charset="0"/>
              </a:rPr>
              <a:t>ư</a:t>
            </a:r>
            <a:r>
              <a:rPr lang="en-US" sz="2600">
                <a:latin typeface="Open Sans" panose="020B0606030504020204" pitchFamily="34" charset="0"/>
                <a:ea typeface="Open Sans" panose="020B0606030504020204" pitchFamily="34" charset="0"/>
                <a:cs typeface="Open Sans" panose="020B0606030504020204" pitchFamily="34" charset="0"/>
              </a:rPr>
              <a:t>a cao.</a:t>
            </a:r>
          </a:p>
        </p:txBody>
      </p:sp>
      <p:pic>
        <p:nvPicPr>
          <p:cNvPr id="13" name="Picture 12">
            <a:extLst>
              <a:ext uri="{FF2B5EF4-FFF2-40B4-BE49-F238E27FC236}">
                <a16:creationId xmlns:a16="http://schemas.microsoft.com/office/drawing/2014/main" id="{6EB9A0B1-0AFB-47EB-9D3D-6947ECC16F8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213297" y="3604569"/>
            <a:ext cx="3482911" cy="1937240"/>
          </a:xfrm>
          <a:prstGeom prst="rect">
            <a:avLst/>
          </a:prstGeom>
        </p:spPr>
      </p:pic>
      <p:sp>
        <p:nvSpPr>
          <p:cNvPr id="14" name="Rectangle 13">
            <a:extLst>
              <a:ext uri="{FF2B5EF4-FFF2-40B4-BE49-F238E27FC236}">
                <a16:creationId xmlns:a16="http://schemas.microsoft.com/office/drawing/2014/main" id="{849A8542-A676-4096-A1E9-373FC10850BE}"/>
              </a:ext>
            </a:extLst>
          </p:cNvPr>
          <p:cNvSpPr/>
          <p:nvPr/>
        </p:nvSpPr>
        <p:spPr>
          <a:xfrm>
            <a:off x="6389871" y="5660714"/>
            <a:ext cx="5363706" cy="892552"/>
          </a:xfrm>
          <a:prstGeom prst="rect">
            <a:avLst/>
          </a:prstGeom>
        </p:spPr>
        <p:txBody>
          <a:bodyPr wrap="square">
            <a:spAutoFit/>
          </a:bodyPr>
          <a:lstStyle/>
          <a:p>
            <a:pPr algn="ctr"/>
            <a:r>
              <a:rPr lang="en-US" sz="2600">
                <a:latin typeface="Open Sans" panose="020B0606030504020204" pitchFamily="34" charset="0"/>
                <a:ea typeface="Open Sans" panose="020B0606030504020204" pitchFamily="34" charset="0"/>
                <a:cs typeface="Open Sans" panose="020B0606030504020204" pitchFamily="34" charset="0"/>
              </a:rPr>
              <a:t>Các thiết bị cảnh báo cháy còn hạn chế và ch</a:t>
            </a:r>
            <a:r>
              <a:rPr lang="vi-VN" sz="2600">
                <a:latin typeface="Open Sans" panose="020B0606030504020204" pitchFamily="34" charset="0"/>
                <a:ea typeface="Open Sans" panose="020B0606030504020204" pitchFamily="34" charset="0"/>
                <a:cs typeface="Open Sans" panose="020B0606030504020204" pitchFamily="34" charset="0"/>
              </a:rPr>
              <a:t>ư</a:t>
            </a:r>
            <a:r>
              <a:rPr lang="en-US" sz="2600">
                <a:latin typeface="Open Sans" panose="020B0606030504020204" pitchFamily="34" charset="0"/>
                <a:ea typeface="Open Sans" panose="020B0606030504020204" pitchFamily="34" charset="0"/>
                <a:cs typeface="Open Sans" panose="020B0606030504020204" pitchFamily="34" charset="0"/>
              </a:rPr>
              <a:t>a áp dụng nhiều.</a:t>
            </a:r>
          </a:p>
        </p:txBody>
      </p:sp>
      <p:sp>
        <p:nvSpPr>
          <p:cNvPr id="15" name="Footer Placeholder 14">
            <a:extLst>
              <a:ext uri="{FF2B5EF4-FFF2-40B4-BE49-F238E27FC236}">
                <a16:creationId xmlns:a16="http://schemas.microsoft.com/office/drawing/2014/main" id="{A5DDC50B-E891-4F25-ADFC-85B7932C81DF}"/>
              </a:ext>
            </a:extLst>
          </p:cNvPr>
          <p:cNvSpPr>
            <a:spLocks noGrp="1"/>
          </p:cNvSpPr>
          <p:nvPr>
            <p:ph type="ftr" sz="quarter" idx="11"/>
          </p:nvPr>
        </p:nvSpPr>
        <p:spPr/>
        <p:txBody>
          <a:bodyPr/>
          <a:lstStyle/>
          <a:p>
            <a:r>
              <a:rPr lang="en-US"/>
              <a:t>2</a:t>
            </a:r>
          </a:p>
        </p:txBody>
      </p:sp>
    </p:spTree>
    <p:extLst>
      <p:ext uri="{BB962C8B-B14F-4D97-AF65-F5344CB8AC3E}">
        <p14:creationId xmlns:p14="http://schemas.microsoft.com/office/powerpoint/2010/main" val="28889450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AB78593C-ECB2-4108-88F9-0E9A18B62D41}"/>
              </a:ext>
            </a:extLst>
          </p:cNvPr>
          <p:cNvSpPr>
            <a:spLocks noGrp="1"/>
          </p:cNvSpPr>
          <p:nvPr>
            <p:ph type="ftr" sz="quarter" idx="11"/>
          </p:nvPr>
        </p:nvSpPr>
        <p:spPr/>
        <p:txBody>
          <a:bodyPr/>
          <a:lstStyle/>
          <a:p>
            <a:r>
              <a:rPr lang="en-US"/>
              <a:t>3</a:t>
            </a:r>
          </a:p>
        </p:txBody>
      </p:sp>
      <p:pic>
        <p:nvPicPr>
          <p:cNvPr id="5" name="Picture 2">
            <a:extLst>
              <a:ext uri="{FF2B5EF4-FFF2-40B4-BE49-F238E27FC236}">
                <a16:creationId xmlns:a16="http://schemas.microsoft.com/office/drawing/2014/main" id="{C0C5765A-E04A-4752-B9E3-3F5461CFC5C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20873862">
            <a:off x="432615" y="1471576"/>
            <a:ext cx="5054600" cy="286067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4">
            <a:extLst>
              <a:ext uri="{FF2B5EF4-FFF2-40B4-BE49-F238E27FC236}">
                <a16:creationId xmlns:a16="http://schemas.microsoft.com/office/drawing/2014/main" id="{B21E6585-CB2A-4808-8C58-CD24E56807A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0087" y="3556361"/>
            <a:ext cx="4137025" cy="2547938"/>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9">
            <a:extLst>
              <a:ext uri="{FF2B5EF4-FFF2-40B4-BE49-F238E27FC236}">
                <a16:creationId xmlns:a16="http://schemas.microsoft.com/office/drawing/2014/main" id="{74E29EBA-22A7-4385-BBB3-2AD8CB3FC43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1211972">
            <a:off x="5797201" y="1210440"/>
            <a:ext cx="2497137" cy="82867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8" name="Group 7">
            <a:extLst>
              <a:ext uri="{FF2B5EF4-FFF2-40B4-BE49-F238E27FC236}">
                <a16:creationId xmlns:a16="http://schemas.microsoft.com/office/drawing/2014/main" id="{FCF63300-C0BC-42E4-B024-EAB3BF6369A6}"/>
              </a:ext>
            </a:extLst>
          </p:cNvPr>
          <p:cNvGrpSpPr/>
          <p:nvPr/>
        </p:nvGrpSpPr>
        <p:grpSpPr>
          <a:xfrm>
            <a:off x="212307" y="271925"/>
            <a:ext cx="5306261" cy="630942"/>
            <a:chOff x="-822592" y="330973"/>
            <a:chExt cx="5276473" cy="630942"/>
          </a:xfrm>
        </p:grpSpPr>
        <p:sp>
          <p:nvSpPr>
            <p:cNvPr id="9" name="TextBox 8">
              <a:extLst>
                <a:ext uri="{FF2B5EF4-FFF2-40B4-BE49-F238E27FC236}">
                  <a16:creationId xmlns:a16="http://schemas.microsoft.com/office/drawing/2014/main" id="{8168BA83-AD99-4BFA-B20D-456DF25FFC05}"/>
                </a:ext>
              </a:extLst>
            </p:cNvPr>
            <p:cNvSpPr txBox="1"/>
            <p:nvPr/>
          </p:nvSpPr>
          <p:spPr>
            <a:xfrm>
              <a:off x="-822592" y="330973"/>
              <a:ext cx="5276473" cy="630942"/>
            </a:xfrm>
            <a:prstGeom prst="rect">
              <a:avLst/>
            </a:prstGeom>
            <a:noFill/>
          </p:spPr>
          <p:txBody>
            <a:bodyPr wrap="none" rtlCol="0">
              <a:spAutoFit/>
            </a:bodyPr>
            <a:lstStyle/>
            <a:p>
              <a:pPr algn="ctr"/>
              <a:r>
                <a:rPr lang="en-US" sz="3500">
                  <a:latin typeface="Open Sans" panose="020B0606030504020204" pitchFamily="34" charset="0"/>
                  <a:ea typeface="Open Sans" panose="020B0606030504020204" pitchFamily="34" charset="0"/>
                  <a:cs typeface="Open Sans" panose="020B0606030504020204" pitchFamily="34" charset="0"/>
                </a:rPr>
                <a:t>Lịch sử giải quyết vấn đề</a:t>
              </a:r>
            </a:p>
          </p:txBody>
        </p:sp>
        <p:cxnSp>
          <p:nvCxnSpPr>
            <p:cNvPr id="10" name="Straight Connector 9">
              <a:extLst>
                <a:ext uri="{FF2B5EF4-FFF2-40B4-BE49-F238E27FC236}">
                  <a16:creationId xmlns:a16="http://schemas.microsoft.com/office/drawing/2014/main" id="{15C79C7B-BA3B-4151-A39B-DFA464DEDE99}"/>
                </a:ext>
              </a:extLst>
            </p:cNvPr>
            <p:cNvCxnSpPr>
              <a:cxnSpLocks/>
            </p:cNvCxnSpPr>
            <p:nvPr/>
          </p:nvCxnSpPr>
          <p:spPr>
            <a:xfrm>
              <a:off x="-715464" y="961915"/>
              <a:ext cx="5078418" cy="0"/>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13" name="Rectangle: Rounded Corners 12">
            <a:extLst>
              <a:ext uri="{FF2B5EF4-FFF2-40B4-BE49-F238E27FC236}">
                <a16:creationId xmlns:a16="http://schemas.microsoft.com/office/drawing/2014/main" id="{CC53AB21-C81E-4987-B005-50EEA5C8C41A}"/>
              </a:ext>
            </a:extLst>
          </p:cNvPr>
          <p:cNvSpPr/>
          <p:nvPr/>
        </p:nvSpPr>
        <p:spPr>
          <a:xfrm>
            <a:off x="10016953" y="2492375"/>
            <a:ext cx="2070929" cy="2365375"/>
          </a:xfrm>
          <a:prstGeom prst="roundRect">
            <a:avLst/>
          </a:prstGeom>
        </p:spPr>
        <p:style>
          <a:lnRef idx="2">
            <a:schemeClr val="accent1"/>
          </a:lnRef>
          <a:fillRef idx="1">
            <a:schemeClr val="lt1"/>
          </a:fillRef>
          <a:effectRef idx="0">
            <a:schemeClr val="accent1"/>
          </a:effectRef>
          <a:fontRef idx="minor">
            <a:schemeClr val="dk1"/>
          </a:fontRef>
        </p:style>
        <p:txBody>
          <a:bodyPr anchor="ctr"/>
          <a:lstStyle/>
          <a:p>
            <a:pPr>
              <a:defRPr/>
            </a:pPr>
            <a:r>
              <a:rPr lang="en-US">
                <a:solidFill>
                  <a:schemeClr val="tx1"/>
                </a:solidFill>
                <a:latin typeface="Open Sans" panose="020B0606030504020204" pitchFamily="34" charset="0"/>
                <a:ea typeface="Open Sans" panose="020B0606030504020204" pitchFamily="34" charset="0"/>
                <a:cs typeface="Open Sans" panose="020B0606030504020204" pitchFamily="34" charset="0"/>
              </a:rPr>
              <a:t>Nhiều cảm biến</a:t>
            </a:r>
          </a:p>
          <a:p>
            <a:pPr>
              <a:defRPr/>
            </a:pPr>
            <a:r>
              <a:rPr lang="en-US">
                <a:solidFill>
                  <a:schemeClr val="tx1"/>
                </a:solidFill>
                <a:latin typeface="Open Sans" panose="020B0606030504020204" pitchFamily="34" charset="0"/>
                <a:ea typeface="Open Sans" panose="020B0606030504020204" pitchFamily="34" charset="0"/>
                <a:cs typeface="Open Sans" panose="020B0606030504020204" pitchFamily="34" charset="0"/>
              </a:rPr>
              <a:t>Quy mô nhỏ </a:t>
            </a:r>
          </a:p>
          <a:p>
            <a:pPr>
              <a:defRPr/>
            </a:pPr>
            <a:r>
              <a:rPr lang="en-US">
                <a:solidFill>
                  <a:schemeClr val="tx1"/>
                </a:solidFill>
                <a:latin typeface="Open Sans" panose="020B0606030504020204" pitchFamily="34" charset="0"/>
                <a:ea typeface="Open Sans" panose="020B0606030504020204" pitchFamily="34" charset="0"/>
                <a:cs typeface="Open Sans" panose="020B0606030504020204" pitchFamily="34" charset="0"/>
              </a:rPr>
              <a:t>Giảm chi phí</a:t>
            </a:r>
          </a:p>
          <a:p>
            <a:pPr>
              <a:defRPr/>
            </a:pPr>
            <a:r>
              <a:rPr lang="en-US">
                <a:solidFill>
                  <a:schemeClr val="tx1"/>
                </a:solidFill>
                <a:latin typeface="Open Sans" panose="020B0606030504020204" pitchFamily="34" charset="0"/>
                <a:ea typeface="Open Sans" panose="020B0606030504020204" pitchFamily="34" charset="0"/>
                <a:cs typeface="Open Sans" panose="020B0606030504020204" pitchFamily="34" charset="0"/>
              </a:rPr>
              <a:t>Tăng độ tin cậy.</a:t>
            </a:r>
            <a:endParaRPr lang="nl-NL" sz="200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4" name="Rectangle: Rounded Corners 13">
            <a:extLst>
              <a:ext uri="{FF2B5EF4-FFF2-40B4-BE49-F238E27FC236}">
                <a16:creationId xmlns:a16="http://schemas.microsoft.com/office/drawing/2014/main" id="{20BBDC36-3A58-4C95-A80F-7062647E0765}"/>
              </a:ext>
            </a:extLst>
          </p:cNvPr>
          <p:cNvSpPr/>
          <p:nvPr/>
        </p:nvSpPr>
        <p:spPr>
          <a:xfrm>
            <a:off x="6461074" y="3908425"/>
            <a:ext cx="3452864" cy="942975"/>
          </a:xfrm>
          <a:prstGeom prst="roundRect">
            <a:avLst/>
          </a:prstGeom>
        </p:spPr>
        <p:style>
          <a:lnRef idx="2">
            <a:schemeClr val="accent1"/>
          </a:lnRef>
          <a:fillRef idx="1">
            <a:schemeClr val="lt1"/>
          </a:fillRef>
          <a:effectRef idx="0">
            <a:schemeClr val="accent1"/>
          </a:effectRef>
          <a:fontRef idx="minor">
            <a:schemeClr val="dk1"/>
          </a:fontRef>
        </p:style>
        <p:txBody>
          <a:bodyPr anchor="ctr"/>
          <a:lstStyle/>
          <a:p>
            <a:pPr lvl="1">
              <a:defRPr/>
            </a:pPr>
            <a:r>
              <a:rPr lang="en-US">
                <a:solidFill>
                  <a:schemeClr val="tx1"/>
                </a:solidFill>
                <a:latin typeface="Open Sans" panose="020B0606030504020204" pitchFamily="34" charset="0"/>
                <a:ea typeface="Open Sans" panose="020B0606030504020204" pitchFamily="34" charset="0"/>
                <a:cs typeface="Open Sans" panose="020B0606030504020204" pitchFamily="34" charset="0"/>
              </a:rPr>
              <a:t>Áp dụng quy mô lớn.</a:t>
            </a:r>
          </a:p>
          <a:p>
            <a:pPr lvl="1">
              <a:defRPr/>
            </a:pPr>
            <a:r>
              <a:rPr lang="en-US">
                <a:solidFill>
                  <a:schemeClr val="tx1"/>
                </a:solidFill>
                <a:latin typeface="Open Sans" panose="020B0606030504020204" pitchFamily="34" charset="0"/>
                <a:ea typeface="Open Sans" panose="020B0606030504020204" pitchFamily="34" charset="0"/>
                <a:cs typeface="Open Sans" panose="020B0606030504020204" pitchFamily="34" charset="0"/>
              </a:rPr>
              <a:t>Chi phí cao.</a:t>
            </a:r>
          </a:p>
          <a:p>
            <a:pPr lvl="1">
              <a:defRPr/>
            </a:pPr>
            <a:r>
              <a:rPr lang="en-US">
                <a:solidFill>
                  <a:schemeClr val="tx1"/>
                </a:solidFill>
                <a:latin typeface="Open Sans" panose="020B0606030504020204" pitchFamily="34" charset="0"/>
                <a:ea typeface="Open Sans" panose="020B0606030504020204" pitchFamily="34" charset="0"/>
                <a:cs typeface="Open Sans" panose="020B0606030504020204" pitchFamily="34" charset="0"/>
              </a:rPr>
              <a:t>Khó kiểm soát độ tin cậy.</a:t>
            </a:r>
          </a:p>
        </p:txBody>
      </p:sp>
      <p:sp>
        <p:nvSpPr>
          <p:cNvPr id="15" name="Rectangle: Rounded Corners 14">
            <a:extLst>
              <a:ext uri="{FF2B5EF4-FFF2-40B4-BE49-F238E27FC236}">
                <a16:creationId xmlns:a16="http://schemas.microsoft.com/office/drawing/2014/main" id="{159C8AAC-4104-4E03-B4D4-FD4834151DF4}"/>
              </a:ext>
            </a:extLst>
          </p:cNvPr>
          <p:cNvSpPr/>
          <p:nvPr/>
        </p:nvSpPr>
        <p:spPr>
          <a:xfrm>
            <a:off x="6461074" y="2486025"/>
            <a:ext cx="3452863" cy="942975"/>
          </a:xfrm>
          <a:prstGeom prst="roundRect">
            <a:avLst/>
          </a:prstGeom>
        </p:spPr>
        <p:style>
          <a:lnRef idx="2">
            <a:schemeClr val="accent1"/>
          </a:lnRef>
          <a:fillRef idx="1">
            <a:schemeClr val="lt1"/>
          </a:fillRef>
          <a:effectRef idx="0">
            <a:schemeClr val="accent1"/>
          </a:effectRef>
          <a:fontRef idx="minor">
            <a:schemeClr val="dk1"/>
          </a:fontRef>
        </p:style>
        <p:txBody>
          <a:bodyPr anchor="ctr"/>
          <a:lstStyle/>
          <a:p>
            <a:pPr lvl="1">
              <a:defRPr/>
            </a:pPr>
            <a:r>
              <a:rPr lang="en-US">
                <a:solidFill>
                  <a:schemeClr val="tx1"/>
                </a:solidFill>
                <a:latin typeface="Open Sans" panose="020B0606030504020204" pitchFamily="34" charset="0"/>
                <a:ea typeface="Open Sans" panose="020B0606030504020204" pitchFamily="34" charset="0"/>
                <a:cs typeface="Open Sans" panose="020B0606030504020204" pitchFamily="34" charset="0"/>
              </a:rPr>
              <a:t>Chi phí cao.</a:t>
            </a:r>
          </a:p>
          <a:p>
            <a:pPr lvl="1">
              <a:defRPr/>
            </a:pPr>
            <a:r>
              <a:rPr lang="en-US">
                <a:solidFill>
                  <a:schemeClr val="tx1"/>
                </a:solidFill>
                <a:latin typeface="Open Sans" panose="020B0606030504020204" pitchFamily="34" charset="0"/>
                <a:ea typeface="Open Sans" panose="020B0606030504020204" pitchFamily="34" charset="0"/>
                <a:cs typeface="Open Sans" panose="020B0606030504020204" pitchFamily="34" charset="0"/>
              </a:rPr>
              <a:t>Áp dụng cho siêu thị, khu chung c</a:t>
            </a:r>
            <a:r>
              <a:rPr lang="vi-VN">
                <a:solidFill>
                  <a:schemeClr val="tx1"/>
                </a:solidFill>
                <a:latin typeface="Open Sans" panose="020B0606030504020204" pitchFamily="34" charset="0"/>
                <a:ea typeface="Open Sans" panose="020B0606030504020204" pitchFamily="34" charset="0"/>
                <a:cs typeface="Open Sans" panose="020B0606030504020204" pitchFamily="34" charset="0"/>
              </a:rPr>
              <a:t>ư</a:t>
            </a:r>
            <a:r>
              <a:rPr lang="en-US">
                <a:solidFill>
                  <a:schemeClr val="tx1"/>
                </a:solidFill>
                <a:latin typeface="Open Sans" panose="020B0606030504020204" pitchFamily="34" charset="0"/>
                <a:ea typeface="Open Sans" panose="020B0606030504020204" pitchFamily="34" charset="0"/>
                <a:cs typeface="Open Sans" panose="020B0606030504020204" pitchFamily="34" charset="0"/>
              </a:rPr>
              <a:t>.</a:t>
            </a:r>
          </a:p>
        </p:txBody>
      </p:sp>
      <p:sp>
        <p:nvSpPr>
          <p:cNvPr id="16" name="Arrow: Curved Up 15">
            <a:extLst>
              <a:ext uri="{FF2B5EF4-FFF2-40B4-BE49-F238E27FC236}">
                <a16:creationId xmlns:a16="http://schemas.microsoft.com/office/drawing/2014/main" id="{0457711A-F167-4D4F-84A6-C72ABAE98929}"/>
              </a:ext>
            </a:extLst>
          </p:cNvPr>
          <p:cNvSpPr/>
          <p:nvPr/>
        </p:nvSpPr>
        <p:spPr>
          <a:xfrm>
            <a:off x="9159875" y="4851400"/>
            <a:ext cx="1981200" cy="762000"/>
          </a:xfrm>
          <a:prstGeom prst="curvedUpArrow">
            <a:avLst/>
          </a:prstGeom>
        </p:spPr>
        <p:style>
          <a:lnRef idx="2">
            <a:schemeClr val="accent1"/>
          </a:lnRef>
          <a:fillRef idx="1">
            <a:schemeClr val="lt1"/>
          </a:fillRef>
          <a:effectRef idx="0">
            <a:schemeClr val="accent1"/>
          </a:effectRef>
          <a:fontRef idx="minor">
            <a:schemeClr val="dk1"/>
          </a:fontRef>
        </p:style>
        <p:txBody>
          <a:bodyPr anchor="ctr"/>
          <a:lstStyle/>
          <a:p>
            <a:pPr algn="ctr">
              <a:defRPr/>
            </a:pPr>
            <a:endParaRPr lang="en-US">
              <a:solidFill>
                <a:schemeClr val="tx1"/>
              </a:solidFill>
            </a:endParaRPr>
          </a:p>
        </p:txBody>
      </p:sp>
      <p:sp>
        <p:nvSpPr>
          <p:cNvPr id="17" name="Arrow: Curved Down 16">
            <a:extLst>
              <a:ext uri="{FF2B5EF4-FFF2-40B4-BE49-F238E27FC236}">
                <a16:creationId xmlns:a16="http://schemas.microsoft.com/office/drawing/2014/main" id="{67F73145-A146-43E0-B5CD-D1934A6C78D1}"/>
              </a:ext>
            </a:extLst>
          </p:cNvPr>
          <p:cNvSpPr/>
          <p:nvPr/>
        </p:nvSpPr>
        <p:spPr>
          <a:xfrm>
            <a:off x="9026525" y="1881188"/>
            <a:ext cx="2114550" cy="611187"/>
          </a:xfrm>
          <a:prstGeom prst="curvedDownArrow">
            <a:avLst/>
          </a:prstGeom>
        </p:spPr>
        <p:style>
          <a:lnRef idx="2">
            <a:schemeClr val="accent1"/>
          </a:lnRef>
          <a:fillRef idx="1">
            <a:schemeClr val="lt1"/>
          </a:fillRef>
          <a:effectRef idx="0">
            <a:schemeClr val="accent1"/>
          </a:effectRef>
          <a:fontRef idx="minor">
            <a:schemeClr val="dk1"/>
          </a:fontRef>
        </p:style>
        <p:txBody>
          <a:bodyPr anchor="ctr"/>
          <a:lstStyle/>
          <a:p>
            <a:pPr algn="ctr">
              <a:defRPr/>
            </a:pPr>
            <a:endParaRPr lang="en-US">
              <a:solidFill>
                <a:schemeClr val="tx1"/>
              </a:solidFill>
            </a:endParaRPr>
          </a:p>
        </p:txBody>
      </p:sp>
    </p:spTree>
    <p:extLst>
      <p:ext uri="{BB962C8B-B14F-4D97-AF65-F5344CB8AC3E}">
        <p14:creationId xmlns:p14="http://schemas.microsoft.com/office/powerpoint/2010/main" val="28341919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82BF505F-2340-4551-8907-3314B686080E}"/>
              </a:ext>
            </a:extLst>
          </p:cNvPr>
          <p:cNvSpPr>
            <a:spLocks noGrp="1"/>
          </p:cNvSpPr>
          <p:nvPr>
            <p:ph type="ftr" sz="quarter" idx="11"/>
          </p:nvPr>
        </p:nvSpPr>
        <p:spPr/>
        <p:txBody>
          <a:bodyPr/>
          <a:lstStyle/>
          <a:p>
            <a:r>
              <a:rPr lang="en-US"/>
              <a:t>4</a:t>
            </a:r>
          </a:p>
        </p:txBody>
      </p:sp>
      <p:grpSp>
        <p:nvGrpSpPr>
          <p:cNvPr id="5" name="Group 4">
            <a:extLst>
              <a:ext uri="{FF2B5EF4-FFF2-40B4-BE49-F238E27FC236}">
                <a16:creationId xmlns:a16="http://schemas.microsoft.com/office/drawing/2014/main" id="{1EC98219-319F-45A9-B8DA-B66A9805983A}"/>
              </a:ext>
            </a:extLst>
          </p:cNvPr>
          <p:cNvGrpSpPr/>
          <p:nvPr/>
        </p:nvGrpSpPr>
        <p:grpSpPr>
          <a:xfrm>
            <a:off x="233157" y="271925"/>
            <a:ext cx="5264583" cy="630942"/>
            <a:chOff x="-801859" y="330973"/>
            <a:chExt cx="5235029" cy="630942"/>
          </a:xfrm>
        </p:grpSpPr>
        <p:sp>
          <p:nvSpPr>
            <p:cNvPr id="6" name="TextBox 5">
              <a:extLst>
                <a:ext uri="{FF2B5EF4-FFF2-40B4-BE49-F238E27FC236}">
                  <a16:creationId xmlns:a16="http://schemas.microsoft.com/office/drawing/2014/main" id="{B4284E6D-B788-4089-86C0-98ADD60A7473}"/>
                </a:ext>
              </a:extLst>
            </p:cNvPr>
            <p:cNvSpPr txBox="1"/>
            <p:nvPr/>
          </p:nvSpPr>
          <p:spPr>
            <a:xfrm>
              <a:off x="-801859" y="330973"/>
              <a:ext cx="5235029" cy="630942"/>
            </a:xfrm>
            <a:prstGeom prst="rect">
              <a:avLst/>
            </a:prstGeom>
            <a:noFill/>
          </p:spPr>
          <p:txBody>
            <a:bodyPr wrap="none" rtlCol="0">
              <a:spAutoFit/>
            </a:bodyPr>
            <a:lstStyle/>
            <a:p>
              <a:pPr algn="ctr"/>
              <a:r>
                <a:rPr lang="en-US" sz="3500">
                  <a:latin typeface="Open Sans" panose="020B0606030504020204" pitchFamily="34" charset="0"/>
                  <a:ea typeface="Open Sans" panose="020B0606030504020204" pitchFamily="34" charset="0"/>
                  <a:cs typeface="Open Sans" panose="020B0606030504020204" pitchFamily="34" charset="0"/>
                </a:rPr>
                <a:t>H</a:t>
              </a:r>
              <a:r>
                <a:rPr lang="vi-VN" sz="3500">
                  <a:latin typeface="Open Sans" panose="020B0606030504020204" pitchFamily="34" charset="0"/>
                  <a:ea typeface="Open Sans" panose="020B0606030504020204" pitchFamily="34" charset="0"/>
                  <a:cs typeface="Open Sans" panose="020B0606030504020204" pitchFamily="34" charset="0"/>
                </a:rPr>
                <a:t>ư</a:t>
              </a:r>
              <a:r>
                <a:rPr lang="en-US" sz="3500">
                  <a:latin typeface="Open Sans" panose="020B0606030504020204" pitchFamily="34" charset="0"/>
                  <a:ea typeface="Open Sans" panose="020B0606030504020204" pitchFamily="34" charset="0"/>
                  <a:cs typeface="Open Sans" panose="020B0606030504020204" pitchFamily="34" charset="0"/>
                </a:rPr>
                <a:t>ớng giải quyết vấn đề</a:t>
              </a:r>
            </a:p>
          </p:txBody>
        </p:sp>
        <p:cxnSp>
          <p:nvCxnSpPr>
            <p:cNvPr id="7" name="Straight Connector 6">
              <a:extLst>
                <a:ext uri="{FF2B5EF4-FFF2-40B4-BE49-F238E27FC236}">
                  <a16:creationId xmlns:a16="http://schemas.microsoft.com/office/drawing/2014/main" id="{E2403CC0-D862-4AA6-9C05-8AA38DBE558C}"/>
                </a:ext>
              </a:extLst>
            </p:cNvPr>
            <p:cNvCxnSpPr>
              <a:cxnSpLocks/>
            </p:cNvCxnSpPr>
            <p:nvPr/>
          </p:nvCxnSpPr>
          <p:spPr>
            <a:xfrm>
              <a:off x="-715464" y="961915"/>
              <a:ext cx="5078418" cy="0"/>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8" name="Content Placeholder 4">
            <a:extLst>
              <a:ext uri="{FF2B5EF4-FFF2-40B4-BE49-F238E27FC236}">
                <a16:creationId xmlns:a16="http://schemas.microsoft.com/office/drawing/2014/main" id="{AFC09404-E33E-4DF3-BCF5-24E78ADB9623}"/>
              </a:ext>
            </a:extLst>
          </p:cNvPr>
          <p:cNvSpPr txBox="1">
            <a:spLocks/>
          </p:cNvSpPr>
          <p:nvPr/>
        </p:nvSpPr>
        <p:spPr>
          <a:xfrm>
            <a:off x="233157" y="1476172"/>
            <a:ext cx="7920243" cy="10516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buFont typeface="Arial" panose="020B0604020202020204" pitchFamily="34" charset="0"/>
              <a:buNone/>
              <a:defRPr/>
            </a:pPr>
            <a:r>
              <a:rPr lang="en-US" sz="2600">
                <a:latin typeface="Open Sans" panose="020B0606030504020204" pitchFamily="34" charset="0"/>
                <a:ea typeface="Open Sans" panose="020B0606030504020204" pitchFamily="34" charset="0"/>
                <a:cs typeface="Open Sans" panose="020B0606030504020204" pitchFamily="34" charset="0"/>
              </a:rPr>
              <a:t>Mục tiêu: xây dựng hệ thống website và ứng dụng di động cho việc theo dõi thông số môi tr</a:t>
            </a:r>
            <a:r>
              <a:rPr lang="vi-VN" sz="2600">
                <a:latin typeface="Open Sans" panose="020B0606030504020204" pitchFamily="34" charset="0"/>
                <a:ea typeface="Open Sans" panose="020B0606030504020204" pitchFamily="34" charset="0"/>
                <a:cs typeface="Open Sans" panose="020B0606030504020204" pitchFamily="34" charset="0"/>
              </a:rPr>
              <a:t>ư</a:t>
            </a:r>
            <a:r>
              <a:rPr lang="en-US" sz="2600">
                <a:latin typeface="Open Sans" panose="020B0606030504020204" pitchFamily="34" charset="0"/>
                <a:ea typeface="Open Sans" panose="020B0606030504020204" pitchFamily="34" charset="0"/>
                <a:cs typeface="Open Sans" panose="020B0606030504020204" pitchFamily="34" charset="0"/>
              </a:rPr>
              <a:t>ờng.</a:t>
            </a:r>
          </a:p>
        </p:txBody>
      </p:sp>
      <p:sp>
        <p:nvSpPr>
          <p:cNvPr id="9" name="Content Placeholder 4">
            <a:extLst>
              <a:ext uri="{FF2B5EF4-FFF2-40B4-BE49-F238E27FC236}">
                <a16:creationId xmlns:a16="http://schemas.microsoft.com/office/drawing/2014/main" id="{12988D57-C986-4013-82FF-BA0581BE88B4}"/>
              </a:ext>
            </a:extLst>
          </p:cNvPr>
          <p:cNvSpPr txBox="1">
            <a:spLocks/>
          </p:cNvSpPr>
          <p:nvPr/>
        </p:nvSpPr>
        <p:spPr>
          <a:xfrm>
            <a:off x="320040" y="3101107"/>
            <a:ext cx="8062497" cy="280653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buFont typeface="Arial" panose="020B0604020202020204" pitchFamily="34" charset="0"/>
              <a:buNone/>
              <a:defRPr/>
            </a:pPr>
            <a:r>
              <a:rPr lang="en-US" sz="2600">
                <a:latin typeface="Open Sans" panose="020B0606030504020204" pitchFamily="34" charset="0"/>
                <a:ea typeface="Open Sans" panose="020B0606030504020204" pitchFamily="34" charset="0"/>
                <a:cs typeface="Open Sans" panose="020B0606030504020204" pitchFamily="34" charset="0"/>
              </a:rPr>
              <a:t>Bổ sung các chức năng:</a:t>
            </a:r>
          </a:p>
          <a:p>
            <a:pPr>
              <a:lnSpc>
                <a:spcPct val="120000"/>
              </a:lnSpc>
              <a:defRPr/>
            </a:pPr>
            <a:r>
              <a:rPr lang="en-US" sz="2600">
                <a:latin typeface="Open Sans" panose="020B0606030504020204" pitchFamily="34" charset="0"/>
                <a:ea typeface="Open Sans" panose="020B0606030504020204" pitchFamily="34" charset="0"/>
                <a:cs typeface="Open Sans" panose="020B0606030504020204" pitchFamily="34" charset="0"/>
              </a:rPr>
              <a:t>Nhận cảnh báo và phát âm thanh khi có cháy.</a:t>
            </a:r>
          </a:p>
          <a:p>
            <a:pPr>
              <a:lnSpc>
                <a:spcPct val="120000"/>
              </a:lnSpc>
              <a:defRPr/>
            </a:pPr>
            <a:r>
              <a:rPr lang="en-US" sz="2600">
                <a:latin typeface="Open Sans" panose="020B0606030504020204" pitchFamily="34" charset="0"/>
                <a:ea typeface="Open Sans" panose="020B0606030504020204" pitchFamily="34" charset="0"/>
                <a:cs typeface="Open Sans" panose="020B0606030504020204" pitchFamily="34" charset="0"/>
              </a:rPr>
              <a:t>Xuất giá trị cảm biến theo định dạng CSV, XML.</a:t>
            </a:r>
          </a:p>
          <a:p>
            <a:pPr>
              <a:lnSpc>
                <a:spcPct val="120000"/>
              </a:lnSpc>
              <a:defRPr/>
            </a:pPr>
            <a:r>
              <a:rPr lang="en-US" sz="2600">
                <a:latin typeface="Open Sans" panose="020B0606030504020204" pitchFamily="34" charset="0"/>
                <a:ea typeface="Open Sans" panose="020B0606030504020204" pitchFamily="34" charset="0"/>
                <a:cs typeface="Open Sans" panose="020B0606030504020204" pitchFamily="34" charset="0"/>
              </a:rPr>
              <a:t>Quản lý các thông tin ng</a:t>
            </a:r>
            <a:r>
              <a:rPr lang="vi-VN" sz="2600">
                <a:latin typeface="Open Sans" panose="020B0606030504020204" pitchFamily="34" charset="0"/>
                <a:ea typeface="Open Sans" panose="020B0606030504020204" pitchFamily="34" charset="0"/>
                <a:cs typeface="Open Sans" panose="020B0606030504020204" pitchFamily="34" charset="0"/>
              </a:rPr>
              <a:t>ư</a:t>
            </a:r>
            <a:r>
              <a:rPr lang="en-US" sz="2600">
                <a:latin typeface="Open Sans" panose="020B0606030504020204" pitchFamily="34" charset="0"/>
                <a:ea typeface="Open Sans" panose="020B0606030504020204" pitchFamily="34" charset="0"/>
                <a:cs typeface="Open Sans" panose="020B0606030504020204" pitchFamily="34" charset="0"/>
              </a:rPr>
              <a:t>ời dùng và quản lý viên. </a:t>
            </a:r>
          </a:p>
        </p:txBody>
      </p:sp>
      <p:grpSp>
        <p:nvGrpSpPr>
          <p:cNvPr id="46" name="Group 45">
            <a:extLst>
              <a:ext uri="{FF2B5EF4-FFF2-40B4-BE49-F238E27FC236}">
                <a16:creationId xmlns:a16="http://schemas.microsoft.com/office/drawing/2014/main" id="{64C71689-B1E6-4EC1-81E2-74745C494E98}"/>
              </a:ext>
            </a:extLst>
          </p:cNvPr>
          <p:cNvGrpSpPr/>
          <p:nvPr/>
        </p:nvGrpSpPr>
        <p:grpSpPr>
          <a:xfrm>
            <a:off x="8153400" y="1215888"/>
            <a:ext cx="3669645" cy="4916109"/>
            <a:chOff x="8240283" y="614809"/>
            <a:chExt cx="3669645" cy="4916109"/>
          </a:xfrm>
        </p:grpSpPr>
        <p:pic>
          <p:nvPicPr>
            <p:cNvPr id="11" name="Picture 10">
              <a:extLst>
                <a:ext uri="{FF2B5EF4-FFF2-40B4-BE49-F238E27FC236}">
                  <a16:creationId xmlns:a16="http://schemas.microsoft.com/office/drawing/2014/main" id="{EE88C5D7-650C-46F1-BE87-869758EA604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892838" y="614809"/>
              <a:ext cx="1013566" cy="1013566"/>
            </a:xfrm>
            <a:prstGeom prst="rect">
              <a:avLst/>
            </a:prstGeom>
          </p:spPr>
        </p:pic>
        <p:pic>
          <p:nvPicPr>
            <p:cNvPr id="13" name="Picture 12">
              <a:extLst>
                <a:ext uri="{FF2B5EF4-FFF2-40B4-BE49-F238E27FC236}">
                  <a16:creationId xmlns:a16="http://schemas.microsoft.com/office/drawing/2014/main" id="{70150185-2303-491F-A594-412065675CF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18161" y="1385742"/>
              <a:ext cx="791767" cy="791767"/>
            </a:xfrm>
            <a:prstGeom prst="rect">
              <a:avLst/>
            </a:prstGeom>
          </p:spPr>
        </p:pic>
        <p:pic>
          <p:nvPicPr>
            <p:cNvPr id="15" name="Picture 14">
              <a:extLst>
                <a:ext uri="{FF2B5EF4-FFF2-40B4-BE49-F238E27FC236}">
                  <a16:creationId xmlns:a16="http://schemas.microsoft.com/office/drawing/2014/main" id="{90AA8E05-36E4-465A-A423-336C1BA90BB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240283" y="1369089"/>
              <a:ext cx="808420" cy="808420"/>
            </a:xfrm>
            <a:prstGeom prst="rect">
              <a:avLst/>
            </a:prstGeom>
          </p:spPr>
        </p:pic>
        <p:pic>
          <p:nvPicPr>
            <p:cNvPr id="17" name="Picture 16">
              <a:extLst>
                <a:ext uri="{FF2B5EF4-FFF2-40B4-BE49-F238E27FC236}">
                  <a16:creationId xmlns:a16="http://schemas.microsoft.com/office/drawing/2014/main" id="{3BF0B686-ADB5-4DA8-B52F-8A342F7837A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053684" y="752756"/>
              <a:ext cx="737671" cy="737671"/>
            </a:xfrm>
            <a:prstGeom prst="rect">
              <a:avLst/>
            </a:prstGeom>
          </p:spPr>
        </p:pic>
        <p:pic>
          <p:nvPicPr>
            <p:cNvPr id="19" name="Picture 18">
              <a:extLst>
                <a:ext uri="{FF2B5EF4-FFF2-40B4-BE49-F238E27FC236}">
                  <a16:creationId xmlns:a16="http://schemas.microsoft.com/office/drawing/2014/main" id="{C596B2B9-3723-4BF6-9BDB-18639B920D7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051152" y="2640745"/>
              <a:ext cx="920724" cy="920724"/>
            </a:xfrm>
            <a:prstGeom prst="rect">
              <a:avLst/>
            </a:prstGeom>
          </p:spPr>
        </p:pic>
        <p:pic>
          <p:nvPicPr>
            <p:cNvPr id="21" name="Picture 20">
              <a:extLst>
                <a:ext uri="{FF2B5EF4-FFF2-40B4-BE49-F238E27FC236}">
                  <a16:creationId xmlns:a16="http://schemas.microsoft.com/office/drawing/2014/main" id="{FFD2F776-D022-47B8-B59C-6FED97704A5A}"/>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130428" y="2640745"/>
              <a:ext cx="920724" cy="920724"/>
            </a:xfrm>
            <a:prstGeom prst="rect">
              <a:avLst/>
            </a:prstGeom>
          </p:spPr>
        </p:pic>
        <p:pic>
          <p:nvPicPr>
            <p:cNvPr id="3" name="Picture 2">
              <a:extLst>
                <a:ext uri="{FF2B5EF4-FFF2-40B4-BE49-F238E27FC236}">
                  <a16:creationId xmlns:a16="http://schemas.microsoft.com/office/drawing/2014/main" id="{890C1ADF-E3E7-4B65-824B-E6BA539BFD11}"/>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9545679" y="4355204"/>
              <a:ext cx="1175714" cy="1175714"/>
            </a:xfrm>
            <a:prstGeom prst="rect">
              <a:avLst/>
            </a:prstGeom>
          </p:spPr>
        </p:pic>
        <p:cxnSp>
          <p:nvCxnSpPr>
            <p:cNvPr id="25" name="Straight Arrow Connector 24">
              <a:extLst>
                <a:ext uri="{FF2B5EF4-FFF2-40B4-BE49-F238E27FC236}">
                  <a16:creationId xmlns:a16="http://schemas.microsoft.com/office/drawing/2014/main" id="{2AB95FCB-6DFE-46DC-90C4-DF7A5657C0C5}"/>
                </a:ext>
              </a:extLst>
            </p:cNvPr>
            <p:cNvCxnSpPr>
              <a:cxnSpLocks/>
            </p:cNvCxnSpPr>
            <p:nvPr/>
          </p:nvCxnSpPr>
          <p:spPr>
            <a:xfrm>
              <a:off x="9079413" y="2001987"/>
              <a:ext cx="826991" cy="5258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AD9D6242-E6C7-4659-ACBC-67B29F5597D6}"/>
                </a:ext>
              </a:extLst>
            </p:cNvPr>
            <p:cNvCxnSpPr>
              <a:cxnSpLocks/>
            </p:cNvCxnSpPr>
            <p:nvPr/>
          </p:nvCxnSpPr>
          <p:spPr>
            <a:xfrm>
              <a:off x="9650467" y="1741317"/>
              <a:ext cx="400685" cy="7864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41D6609F-6711-462E-B316-F53CFE1C64A1}"/>
                </a:ext>
              </a:extLst>
            </p:cNvPr>
            <p:cNvCxnSpPr>
              <a:cxnSpLocks/>
            </p:cNvCxnSpPr>
            <p:nvPr/>
          </p:nvCxnSpPr>
          <p:spPr>
            <a:xfrm flipH="1">
              <a:off x="10188083" y="1684170"/>
              <a:ext cx="320085" cy="8436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C834E44D-6DD0-462F-BAF8-B1055DBBA03C}"/>
                </a:ext>
              </a:extLst>
            </p:cNvPr>
            <p:cNvCxnSpPr>
              <a:cxnSpLocks/>
            </p:cNvCxnSpPr>
            <p:nvPr/>
          </p:nvCxnSpPr>
          <p:spPr>
            <a:xfrm flipH="1">
              <a:off x="10367609" y="2001987"/>
              <a:ext cx="604267" cy="5258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1" name="Arrow: Down 40">
              <a:extLst>
                <a:ext uri="{FF2B5EF4-FFF2-40B4-BE49-F238E27FC236}">
                  <a16:creationId xmlns:a16="http://schemas.microsoft.com/office/drawing/2014/main" id="{79EA3672-BCE4-473B-B135-FD7CF9AB19E7}"/>
                </a:ext>
              </a:extLst>
            </p:cNvPr>
            <p:cNvSpPr/>
            <p:nvPr/>
          </p:nvSpPr>
          <p:spPr>
            <a:xfrm>
              <a:off x="10021074" y="3657964"/>
              <a:ext cx="205181" cy="556591"/>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0860997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E367FB34-46F2-4A3F-9E21-5089F04AEE65}"/>
              </a:ext>
            </a:extLst>
          </p:cNvPr>
          <p:cNvSpPr>
            <a:spLocks noGrp="1"/>
          </p:cNvSpPr>
          <p:nvPr>
            <p:ph type="ftr" sz="quarter" idx="11"/>
          </p:nvPr>
        </p:nvSpPr>
        <p:spPr/>
        <p:txBody>
          <a:bodyPr/>
          <a:lstStyle/>
          <a:p>
            <a:r>
              <a:rPr lang="en-US"/>
              <a:t>5</a:t>
            </a:r>
          </a:p>
        </p:txBody>
      </p:sp>
      <p:grpSp>
        <p:nvGrpSpPr>
          <p:cNvPr id="5" name="Group 4">
            <a:extLst>
              <a:ext uri="{FF2B5EF4-FFF2-40B4-BE49-F238E27FC236}">
                <a16:creationId xmlns:a16="http://schemas.microsoft.com/office/drawing/2014/main" id="{97972C0B-B721-4A10-BF52-28D396DF52AC}"/>
              </a:ext>
            </a:extLst>
          </p:cNvPr>
          <p:cNvGrpSpPr/>
          <p:nvPr/>
        </p:nvGrpSpPr>
        <p:grpSpPr>
          <a:xfrm>
            <a:off x="308503" y="271925"/>
            <a:ext cx="5118625" cy="630942"/>
            <a:chOff x="-726936" y="330973"/>
            <a:chExt cx="5089890" cy="630942"/>
          </a:xfrm>
        </p:grpSpPr>
        <p:sp>
          <p:nvSpPr>
            <p:cNvPr id="6" name="TextBox 5">
              <a:extLst>
                <a:ext uri="{FF2B5EF4-FFF2-40B4-BE49-F238E27FC236}">
                  <a16:creationId xmlns:a16="http://schemas.microsoft.com/office/drawing/2014/main" id="{6AAD3784-5D55-4748-9EF5-47867B7EAC60}"/>
                </a:ext>
              </a:extLst>
            </p:cNvPr>
            <p:cNvSpPr txBox="1"/>
            <p:nvPr/>
          </p:nvSpPr>
          <p:spPr>
            <a:xfrm>
              <a:off x="-726936" y="330973"/>
              <a:ext cx="5085192" cy="630942"/>
            </a:xfrm>
            <a:prstGeom prst="rect">
              <a:avLst/>
            </a:prstGeom>
            <a:noFill/>
          </p:spPr>
          <p:txBody>
            <a:bodyPr wrap="none" rtlCol="0">
              <a:spAutoFit/>
            </a:bodyPr>
            <a:lstStyle/>
            <a:p>
              <a:pPr algn="ctr"/>
              <a:r>
                <a:rPr lang="en-US" sz="3500">
                  <a:latin typeface="Open Sans" panose="020B0606030504020204" pitchFamily="34" charset="0"/>
                  <a:ea typeface="Open Sans" panose="020B0606030504020204" pitchFamily="34" charset="0"/>
                  <a:cs typeface="Open Sans" panose="020B0606030504020204" pitchFamily="34" charset="0"/>
                </a:rPr>
                <a:t>Ph</a:t>
              </a:r>
              <a:r>
                <a:rPr lang="vi-VN" sz="3500">
                  <a:latin typeface="Open Sans" panose="020B0606030504020204" pitchFamily="34" charset="0"/>
                  <a:ea typeface="Open Sans" panose="020B0606030504020204" pitchFamily="34" charset="0"/>
                  <a:cs typeface="Open Sans" panose="020B0606030504020204" pitchFamily="34" charset="0"/>
                </a:rPr>
                <a:t>ư</a:t>
              </a:r>
              <a:r>
                <a:rPr lang="en-US" sz="3500">
                  <a:latin typeface="Open Sans" panose="020B0606030504020204" pitchFamily="34" charset="0"/>
                  <a:ea typeface="Open Sans" panose="020B0606030504020204" pitchFamily="34" charset="0"/>
                  <a:cs typeface="Open Sans" panose="020B0606030504020204" pitchFamily="34" charset="0"/>
                </a:rPr>
                <a:t>ơng pháp thực hiện</a:t>
              </a:r>
            </a:p>
          </p:txBody>
        </p:sp>
        <p:cxnSp>
          <p:nvCxnSpPr>
            <p:cNvPr id="7" name="Straight Connector 6">
              <a:extLst>
                <a:ext uri="{FF2B5EF4-FFF2-40B4-BE49-F238E27FC236}">
                  <a16:creationId xmlns:a16="http://schemas.microsoft.com/office/drawing/2014/main" id="{506E66FD-194C-45B9-B84C-A6D6927EC077}"/>
                </a:ext>
              </a:extLst>
            </p:cNvPr>
            <p:cNvCxnSpPr>
              <a:cxnSpLocks/>
            </p:cNvCxnSpPr>
            <p:nvPr/>
          </p:nvCxnSpPr>
          <p:spPr>
            <a:xfrm>
              <a:off x="-715464" y="961915"/>
              <a:ext cx="5078418" cy="0"/>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35" name="Group 34">
            <a:extLst>
              <a:ext uri="{FF2B5EF4-FFF2-40B4-BE49-F238E27FC236}">
                <a16:creationId xmlns:a16="http://schemas.microsoft.com/office/drawing/2014/main" id="{DA0A124B-9560-41DA-B8A5-A7EC425CDC22}"/>
              </a:ext>
            </a:extLst>
          </p:cNvPr>
          <p:cNvGrpSpPr/>
          <p:nvPr/>
        </p:nvGrpSpPr>
        <p:grpSpPr>
          <a:xfrm>
            <a:off x="790761" y="1312905"/>
            <a:ext cx="2074692" cy="2032807"/>
            <a:chOff x="320040" y="1982592"/>
            <a:chExt cx="1567465" cy="1588605"/>
          </a:xfrm>
        </p:grpSpPr>
        <p:pic>
          <p:nvPicPr>
            <p:cNvPr id="9" name="Picture 8">
              <a:extLst>
                <a:ext uri="{FF2B5EF4-FFF2-40B4-BE49-F238E27FC236}">
                  <a16:creationId xmlns:a16="http://schemas.microsoft.com/office/drawing/2014/main" id="{DCD0D834-8757-4070-944B-323B832125F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4090" y="1985974"/>
              <a:ext cx="783415" cy="724272"/>
            </a:xfrm>
            <a:prstGeom prst="rect">
              <a:avLst/>
            </a:prstGeom>
          </p:spPr>
        </p:pic>
        <p:pic>
          <p:nvPicPr>
            <p:cNvPr id="10" name="Picture 9">
              <a:extLst>
                <a:ext uri="{FF2B5EF4-FFF2-40B4-BE49-F238E27FC236}">
                  <a16:creationId xmlns:a16="http://schemas.microsoft.com/office/drawing/2014/main" id="{D24A4029-3AC5-46DD-A0A3-A3A92CB5DB5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0675" y="2846925"/>
              <a:ext cx="783415" cy="724272"/>
            </a:xfrm>
            <a:prstGeom prst="rect">
              <a:avLst/>
            </a:prstGeom>
          </p:spPr>
        </p:pic>
        <p:pic>
          <p:nvPicPr>
            <p:cNvPr id="11" name="Picture 10">
              <a:extLst>
                <a:ext uri="{FF2B5EF4-FFF2-40B4-BE49-F238E27FC236}">
                  <a16:creationId xmlns:a16="http://schemas.microsoft.com/office/drawing/2014/main" id="{B3DDBAD0-8ADA-497E-B1FE-42F8DE81321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20040" y="1982592"/>
              <a:ext cx="787074" cy="727655"/>
            </a:xfrm>
            <a:prstGeom prst="rect">
              <a:avLst/>
            </a:prstGeom>
          </p:spPr>
        </p:pic>
        <p:pic>
          <p:nvPicPr>
            <p:cNvPr id="12" name="Picture 11">
              <a:extLst>
                <a:ext uri="{FF2B5EF4-FFF2-40B4-BE49-F238E27FC236}">
                  <a16:creationId xmlns:a16="http://schemas.microsoft.com/office/drawing/2014/main" id="{E4BC31E5-5D01-4A89-A49B-B4BFDC81662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04090" y="2846924"/>
              <a:ext cx="783415" cy="724273"/>
            </a:xfrm>
            <a:prstGeom prst="rect">
              <a:avLst/>
            </a:prstGeom>
          </p:spPr>
        </p:pic>
      </p:grpSp>
      <p:pic>
        <p:nvPicPr>
          <p:cNvPr id="18" name="Picture 17">
            <a:extLst>
              <a:ext uri="{FF2B5EF4-FFF2-40B4-BE49-F238E27FC236}">
                <a16:creationId xmlns:a16="http://schemas.microsoft.com/office/drawing/2014/main" id="{B040A89D-84E3-4ADC-852A-FE846E29A59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655500" y="3206245"/>
            <a:ext cx="2957895" cy="1066784"/>
          </a:xfrm>
          <a:prstGeom prst="rect">
            <a:avLst/>
          </a:prstGeom>
          <a:ln>
            <a:solidFill>
              <a:schemeClr val="accent1"/>
            </a:solidFill>
          </a:ln>
        </p:spPr>
      </p:pic>
      <p:grpSp>
        <p:nvGrpSpPr>
          <p:cNvPr id="34" name="Group 33">
            <a:extLst>
              <a:ext uri="{FF2B5EF4-FFF2-40B4-BE49-F238E27FC236}">
                <a16:creationId xmlns:a16="http://schemas.microsoft.com/office/drawing/2014/main" id="{E3D8E646-7DC6-4CC1-9C82-92C94C8BA5E8}"/>
              </a:ext>
            </a:extLst>
          </p:cNvPr>
          <p:cNvGrpSpPr/>
          <p:nvPr/>
        </p:nvGrpSpPr>
        <p:grpSpPr>
          <a:xfrm>
            <a:off x="8343468" y="1534982"/>
            <a:ext cx="3381465" cy="1671263"/>
            <a:chOff x="2788445" y="4521591"/>
            <a:chExt cx="2163491" cy="1018943"/>
          </a:xfrm>
        </p:grpSpPr>
        <p:pic>
          <p:nvPicPr>
            <p:cNvPr id="21" name="Picture 20">
              <a:extLst>
                <a:ext uri="{FF2B5EF4-FFF2-40B4-BE49-F238E27FC236}">
                  <a16:creationId xmlns:a16="http://schemas.microsoft.com/office/drawing/2014/main" id="{972F780B-2427-4339-BD9F-4DBB1B54C17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849789" y="4521591"/>
              <a:ext cx="1102147" cy="1018943"/>
            </a:xfrm>
            <a:prstGeom prst="rect">
              <a:avLst/>
            </a:prstGeom>
          </p:spPr>
        </p:pic>
        <p:pic>
          <p:nvPicPr>
            <p:cNvPr id="22" name="Picture 21">
              <a:extLst>
                <a:ext uri="{FF2B5EF4-FFF2-40B4-BE49-F238E27FC236}">
                  <a16:creationId xmlns:a16="http://schemas.microsoft.com/office/drawing/2014/main" id="{29D55441-DA70-4A20-9FE7-DE29622C46CF}"/>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788445" y="4521592"/>
              <a:ext cx="1154506" cy="1016101"/>
            </a:xfrm>
            <a:prstGeom prst="rect">
              <a:avLst/>
            </a:prstGeom>
          </p:spPr>
        </p:pic>
      </p:grpSp>
      <p:pic>
        <p:nvPicPr>
          <p:cNvPr id="31" name="Picture 30">
            <a:extLst>
              <a:ext uri="{FF2B5EF4-FFF2-40B4-BE49-F238E27FC236}">
                <a16:creationId xmlns:a16="http://schemas.microsoft.com/office/drawing/2014/main" id="{004E3402-10BC-4045-A598-9A7CCAB346E1}"/>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867119" y="4082307"/>
            <a:ext cx="3171481" cy="1682726"/>
          </a:xfrm>
          <a:prstGeom prst="rect">
            <a:avLst/>
          </a:prstGeom>
        </p:spPr>
      </p:pic>
      <p:pic>
        <p:nvPicPr>
          <p:cNvPr id="37" name="Picture 36">
            <a:extLst>
              <a:ext uri="{FF2B5EF4-FFF2-40B4-BE49-F238E27FC236}">
                <a16:creationId xmlns:a16="http://schemas.microsoft.com/office/drawing/2014/main" id="{55D818F5-D222-4E55-8CAA-2CF2E5DDB1D8}"/>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8051235" y="4275124"/>
            <a:ext cx="2388919" cy="1791690"/>
          </a:xfrm>
          <a:prstGeom prst="rect">
            <a:avLst/>
          </a:prstGeom>
        </p:spPr>
      </p:pic>
      <p:sp>
        <p:nvSpPr>
          <p:cNvPr id="38" name="TextBox 37">
            <a:extLst>
              <a:ext uri="{FF2B5EF4-FFF2-40B4-BE49-F238E27FC236}">
                <a16:creationId xmlns:a16="http://schemas.microsoft.com/office/drawing/2014/main" id="{ECF563EA-79FF-4DEF-B494-3280AB66A8D1}"/>
              </a:ext>
            </a:extLst>
          </p:cNvPr>
          <p:cNvSpPr txBox="1"/>
          <p:nvPr/>
        </p:nvSpPr>
        <p:spPr>
          <a:xfrm>
            <a:off x="2681703" y="2237795"/>
            <a:ext cx="1611339" cy="369332"/>
          </a:xfrm>
          <a:prstGeom prst="rect">
            <a:avLst/>
          </a:prstGeom>
          <a:noFill/>
        </p:spPr>
        <p:txBody>
          <a:bodyPr wrap="none" rtlCol="0">
            <a:spAutoFit/>
          </a:bodyPr>
          <a:lstStyle/>
          <a:p>
            <a:r>
              <a:rPr lang="en-US">
                <a:latin typeface="Open Sans" panose="020B0606030504020204" pitchFamily="34" charset="0"/>
                <a:ea typeface="Open Sans" panose="020B0606030504020204" pitchFamily="34" charset="0"/>
                <a:cs typeface="Open Sans" panose="020B0606030504020204" pitchFamily="34" charset="0"/>
              </a:rPr>
              <a:t>Các cảm biến</a:t>
            </a:r>
          </a:p>
        </p:txBody>
      </p:sp>
      <p:sp>
        <p:nvSpPr>
          <p:cNvPr id="39" name="TextBox 38">
            <a:extLst>
              <a:ext uri="{FF2B5EF4-FFF2-40B4-BE49-F238E27FC236}">
                <a16:creationId xmlns:a16="http://schemas.microsoft.com/office/drawing/2014/main" id="{6664306C-9414-4759-8829-2A06FF3C3C56}"/>
              </a:ext>
            </a:extLst>
          </p:cNvPr>
          <p:cNvSpPr txBox="1"/>
          <p:nvPr/>
        </p:nvSpPr>
        <p:spPr>
          <a:xfrm>
            <a:off x="1219893" y="5839853"/>
            <a:ext cx="2465931" cy="369332"/>
          </a:xfrm>
          <a:prstGeom prst="rect">
            <a:avLst/>
          </a:prstGeom>
          <a:noFill/>
        </p:spPr>
        <p:txBody>
          <a:bodyPr wrap="none" rtlCol="0">
            <a:spAutoFit/>
          </a:bodyPr>
          <a:lstStyle/>
          <a:p>
            <a:r>
              <a:rPr lang="en-US">
                <a:latin typeface="Open Sans" panose="020B0606030504020204" pitchFamily="34" charset="0"/>
                <a:ea typeface="Open Sans" panose="020B0606030504020204" pitchFamily="34" charset="0"/>
                <a:cs typeface="Open Sans" panose="020B0606030504020204" pitchFamily="34" charset="0"/>
              </a:rPr>
              <a:t>Board mạch ESP8266</a:t>
            </a:r>
          </a:p>
        </p:txBody>
      </p:sp>
      <p:sp>
        <p:nvSpPr>
          <p:cNvPr id="40" name="TextBox 39">
            <a:extLst>
              <a:ext uri="{FF2B5EF4-FFF2-40B4-BE49-F238E27FC236}">
                <a16:creationId xmlns:a16="http://schemas.microsoft.com/office/drawing/2014/main" id="{23B15A18-F5EB-4DA9-8F3B-F30D4035FA71}"/>
              </a:ext>
            </a:extLst>
          </p:cNvPr>
          <p:cNvSpPr txBox="1"/>
          <p:nvPr/>
        </p:nvSpPr>
        <p:spPr>
          <a:xfrm>
            <a:off x="5373554" y="2832254"/>
            <a:ext cx="1426994" cy="369332"/>
          </a:xfrm>
          <a:prstGeom prst="rect">
            <a:avLst/>
          </a:prstGeom>
          <a:noFill/>
        </p:spPr>
        <p:txBody>
          <a:bodyPr wrap="none" rtlCol="0">
            <a:spAutoFit/>
          </a:bodyPr>
          <a:lstStyle/>
          <a:p>
            <a:r>
              <a:rPr lang="en-US">
                <a:latin typeface="Open Sans" panose="020B0606030504020204" pitchFamily="34" charset="0"/>
                <a:ea typeface="Open Sans" panose="020B0606030504020204" pitchFamily="34" charset="0"/>
                <a:cs typeface="Open Sans" panose="020B0606030504020204" pitchFamily="34" charset="0"/>
              </a:rPr>
              <a:t>ThingSpeak</a:t>
            </a:r>
          </a:p>
        </p:txBody>
      </p:sp>
      <p:sp>
        <p:nvSpPr>
          <p:cNvPr id="41" name="TextBox 40">
            <a:extLst>
              <a:ext uri="{FF2B5EF4-FFF2-40B4-BE49-F238E27FC236}">
                <a16:creationId xmlns:a16="http://schemas.microsoft.com/office/drawing/2014/main" id="{D9C1327C-C272-43B3-8F8A-94302EDBEFF8}"/>
              </a:ext>
            </a:extLst>
          </p:cNvPr>
          <p:cNvSpPr txBox="1"/>
          <p:nvPr/>
        </p:nvSpPr>
        <p:spPr>
          <a:xfrm>
            <a:off x="9856728" y="4999867"/>
            <a:ext cx="1911292" cy="369332"/>
          </a:xfrm>
          <a:prstGeom prst="rect">
            <a:avLst/>
          </a:prstGeom>
          <a:noFill/>
        </p:spPr>
        <p:txBody>
          <a:bodyPr wrap="none" rtlCol="0">
            <a:spAutoFit/>
          </a:bodyPr>
          <a:lstStyle/>
          <a:p>
            <a:r>
              <a:rPr lang="en-US">
                <a:latin typeface="Open Sans" panose="020B0606030504020204" pitchFamily="34" charset="0"/>
                <a:ea typeface="Open Sans" panose="020B0606030504020204" pitchFamily="34" charset="0"/>
                <a:cs typeface="Open Sans" panose="020B0606030504020204" pitchFamily="34" charset="0"/>
              </a:rPr>
              <a:t>Google Firebase</a:t>
            </a:r>
          </a:p>
        </p:txBody>
      </p:sp>
      <p:sp>
        <p:nvSpPr>
          <p:cNvPr id="42" name="TextBox 41">
            <a:extLst>
              <a:ext uri="{FF2B5EF4-FFF2-40B4-BE49-F238E27FC236}">
                <a16:creationId xmlns:a16="http://schemas.microsoft.com/office/drawing/2014/main" id="{E96C5737-441D-4FB3-8C97-F02F356200D4}"/>
              </a:ext>
            </a:extLst>
          </p:cNvPr>
          <p:cNvSpPr txBox="1"/>
          <p:nvPr/>
        </p:nvSpPr>
        <p:spPr>
          <a:xfrm>
            <a:off x="8763029" y="1119832"/>
            <a:ext cx="965329" cy="369332"/>
          </a:xfrm>
          <a:prstGeom prst="rect">
            <a:avLst/>
          </a:prstGeom>
          <a:noFill/>
        </p:spPr>
        <p:txBody>
          <a:bodyPr wrap="none" rtlCol="0">
            <a:spAutoFit/>
          </a:bodyPr>
          <a:lstStyle/>
          <a:p>
            <a:r>
              <a:rPr lang="en-US">
                <a:latin typeface="Open Sans" panose="020B0606030504020204" pitchFamily="34" charset="0"/>
                <a:ea typeface="Open Sans" panose="020B0606030504020204" pitchFamily="34" charset="0"/>
                <a:cs typeface="Open Sans" panose="020B0606030504020204" pitchFamily="34" charset="0"/>
              </a:rPr>
              <a:t>ReactJS</a:t>
            </a:r>
          </a:p>
        </p:txBody>
      </p:sp>
      <p:sp>
        <p:nvSpPr>
          <p:cNvPr id="43" name="TextBox 42">
            <a:extLst>
              <a:ext uri="{FF2B5EF4-FFF2-40B4-BE49-F238E27FC236}">
                <a16:creationId xmlns:a16="http://schemas.microsoft.com/office/drawing/2014/main" id="{BF245315-96E0-4268-AD82-8545F6DB44F4}"/>
              </a:ext>
            </a:extLst>
          </p:cNvPr>
          <p:cNvSpPr txBox="1"/>
          <p:nvPr/>
        </p:nvSpPr>
        <p:spPr>
          <a:xfrm>
            <a:off x="10147923" y="3299902"/>
            <a:ext cx="1524776" cy="369332"/>
          </a:xfrm>
          <a:prstGeom prst="rect">
            <a:avLst/>
          </a:prstGeom>
          <a:noFill/>
        </p:spPr>
        <p:txBody>
          <a:bodyPr wrap="none" rtlCol="0">
            <a:spAutoFit/>
          </a:bodyPr>
          <a:lstStyle/>
          <a:p>
            <a:r>
              <a:rPr lang="en-US">
                <a:latin typeface="Open Sans" panose="020B0606030504020204" pitchFamily="34" charset="0"/>
                <a:ea typeface="Open Sans" panose="020B0606030504020204" pitchFamily="34" charset="0"/>
                <a:cs typeface="Open Sans" panose="020B0606030504020204" pitchFamily="34" charset="0"/>
              </a:rPr>
              <a:t>React Native</a:t>
            </a:r>
          </a:p>
        </p:txBody>
      </p:sp>
    </p:spTree>
    <p:extLst>
      <p:ext uri="{BB962C8B-B14F-4D97-AF65-F5344CB8AC3E}">
        <p14:creationId xmlns:p14="http://schemas.microsoft.com/office/powerpoint/2010/main" val="27557527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8AC4F213-3D6F-482A-862F-D3E819B768DE}"/>
              </a:ext>
            </a:extLst>
          </p:cNvPr>
          <p:cNvSpPr>
            <a:spLocks noGrp="1"/>
          </p:cNvSpPr>
          <p:nvPr>
            <p:ph type="ftr" sz="quarter" idx="11"/>
          </p:nvPr>
        </p:nvSpPr>
        <p:spPr/>
        <p:txBody>
          <a:bodyPr/>
          <a:lstStyle/>
          <a:p>
            <a:r>
              <a:rPr lang="en-US"/>
              <a:t>6</a:t>
            </a:r>
          </a:p>
        </p:txBody>
      </p:sp>
      <p:grpSp>
        <p:nvGrpSpPr>
          <p:cNvPr id="5" name="Group 4">
            <a:extLst>
              <a:ext uri="{FF2B5EF4-FFF2-40B4-BE49-F238E27FC236}">
                <a16:creationId xmlns:a16="http://schemas.microsoft.com/office/drawing/2014/main" id="{AF462FA4-ECFD-4BF7-A170-61BBBCBC2BEA}"/>
              </a:ext>
            </a:extLst>
          </p:cNvPr>
          <p:cNvGrpSpPr/>
          <p:nvPr/>
        </p:nvGrpSpPr>
        <p:grpSpPr>
          <a:xfrm>
            <a:off x="320040" y="271925"/>
            <a:ext cx="3895618" cy="630942"/>
            <a:chOff x="-715464" y="330973"/>
            <a:chExt cx="3873749" cy="630942"/>
          </a:xfrm>
        </p:grpSpPr>
        <p:sp>
          <p:nvSpPr>
            <p:cNvPr id="6" name="TextBox 5">
              <a:extLst>
                <a:ext uri="{FF2B5EF4-FFF2-40B4-BE49-F238E27FC236}">
                  <a16:creationId xmlns:a16="http://schemas.microsoft.com/office/drawing/2014/main" id="{E63BFA1B-BDDE-4619-8A10-B773004302F5}"/>
                </a:ext>
              </a:extLst>
            </p:cNvPr>
            <p:cNvSpPr txBox="1"/>
            <p:nvPr/>
          </p:nvSpPr>
          <p:spPr>
            <a:xfrm>
              <a:off x="-715464" y="330973"/>
              <a:ext cx="3873749" cy="630942"/>
            </a:xfrm>
            <a:prstGeom prst="rect">
              <a:avLst/>
            </a:prstGeom>
            <a:noFill/>
          </p:spPr>
          <p:txBody>
            <a:bodyPr wrap="none" rtlCol="0">
              <a:spAutoFit/>
            </a:bodyPr>
            <a:lstStyle/>
            <a:p>
              <a:pPr algn="ctr"/>
              <a:r>
                <a:rPr lang="en-US" sz="3500">
                  <a:latin typeface="Open Sans" panose="020B0606030504020204" pitchFamily="34" charset="0"/>
                  <a:ea typeface="Open Sans" panose="020B0606030504020204" pitchFamily="34" charset="0"/>
                  <a:cs typeface="Open Sans" panose="020B0606030504020204" pitchFamily="34" charset="0"/>
                </a:rPr>
                <a:t>Internet of Things</a:t>
              </a:r>
            </a:p>
          </p:txBody>
        </p:sp>
        <p:cxnSp>
          <p:nvCxnSpPr>
            <p:cNvPr id="7" name="Straight Connector 6">
              <a:extLst>
                <a:ext uri="{FF2B5EF4-FFF2-40B4-BE49-F238E27FC236}">
                  <a16:creationId xmlns:a16="http://schemas.microsoft.com/office/drawing/2014/main" id="{A5A99CB7-2308-447B-9F27-4F57A45944E0}"/>
                </a:ext>
              </a:extLst>
            </p:cNvPr>
            <p:cNvCxnSpPr>
              <a:cxnSpLocks/>
            </p:cNvCxnSpPr>
            <p:nvPr/>
          </p:nvCxnSpPr>
          <p:spPr>
            <a:xfrm>
              <a:off x="-715464" y="961915"/>
              <a:ext cx="3873749" cy="0"/>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9" name="Group 6">
            <a:extLst>
              <a:ext uri="{FF2B5EF4-FFF2-40B4-BE49-F238E27FC236}">
                <a16:creationId xmlns:a16="http://schemas.microsoft.com/office/drawing/2014/main" id="{2197A019-F510-474B-882D-C7B00E608578}"/>
              </a:ext>
            </a:extLst>
          </p:cNvPr>
          <p:cNvGrpSpPr>
            <a:grpSpLocks/>
          </p:cNvGrpSpPr>
          <p:nvPr/>
        </p:nvGrpSpPr>
        <p:grpSpPr bwMode="auto">
          <a:xfrm>
            <a:off x="1161782" y="1132688"/>
            <a:ext cx="10142321" cy="2119960"/>
            <a:chOff x="2252856" y="1803167"/>
            <a:chExt cx="8066293" cy="2083972"/>
          </a:xfrm>
        </p:grpSpPr>
        <p:grpSp>
          <p:nvGrpSpPr>
            <p:cNvPr id="10" name="Group 7">
              <a:extLst>
                <a:ext uri="{FF2B5EF4-FFF2-40B4-BE49-F238E27FC236}">
                  <a16:creationId xmlns:a16="http://schemas.microsoft.com/office/drawing/2014/main" id="{573283E7-5771-4958-A64E-F875B21EFC7B}"/>
                </a:ext>
              </a:extLst>
            </p:cNvPr>
            <p:cNvGrpSpPr>
              <a:grpSpLocks/>
            </p:cNvGrpSpPr>
            <p:nvPr/>
          </p:nvGrpSpPr>
          <p:grpSpPr bwMode="auto">
            <a:xfrm>
              <a:off x="2252856" y="1803167"/>
              <a:ext cx="8066293" cy="2083972"/>
              <a:chOff x="2252856" y="1803167"/>
              <a:chExt cx="8066293" cy="2083972"/>
            </a:xfrm>
          </p:grpSpPr>
          <p:grpSp>
            <p:nvGrpSpPr>
              <p:cNvPr id="13" name="Group 10">
                <a:extLst>
                  <a:ext uri="{FF2B5EF4-FFF2-40B4-BE49-F238E27FC236}">
                    <a16:creationId xmlns:a16="http://schemas.microsoft.com/office/drawing/2014/main" id="{EFB853C4-B792-412C-BED5-5CD022059CA3}"/>
                  </a:ext>
                </a:extLst>
              </p:cNvPr>
              <p:cNvGrpSpPr>
                <a:grpSpLocks/>
              </p:cNvGrpSpPr>
              <p:nvPr/>
            </p:nvGrpSpPr>
            <p:grpSpPr bwMode="auto">
              <a:xfrm>
                <a:off x="2252856" y="2019798"/>
                <a:ext cx="2164123" cy="1867341"/>
                <a:chOff x="2375487" y="1502988"/>
                <a:chExt cx="2164123" cy="1867341"/>
              </a:xfrm>
            </p:grpSpPr>
            <p:sp>
              <p:nvSpPr>
                <p:cNvPr id="22" name="Rectangle 21">
                  <a:extLst>
                    <a:ext uri="{FF2B5EF4-FFF2-40B4-BE49-F238E27FC236}">
                      <a16:creationId xmlns:a16="http://schemas.microsoft.com/office/drawing/2014/main" id="{DB9F6BDF-A0F9-48D1-923F-8C7E0BE42ADC}"/>
                    </a:ext>
                  </a:extLst>
                </p:cNvPr>
                <p:cNvSpPr/>
                <p:nvPr/>
              </p:nvSpPr>
              <p:spPr>
                <a:xfrm>
                  <a:off x="2514461" y="2212840"/>
                  <a:ext cx="1833039" cy="1157489"/>
                </a:xfrm>
                <a:prstGeom prst="rect">
                  <a:avLst/>
                </a:prstGeom>
              </p:spPr>
              <p:style>
                <a:lnRef idx="2">
                  <a:schemeClr val="accent1"/>
                </a:lnRef>
                <a:fillRef idx="1">
                  <a:schemeClr val="lt1"/>
                </a:fillRef>
                <a:effectRef idx="0">
                  <a:schemeClr val="accent1"/>
                </a:effectRef>
                <a:fontRef idx="minor">
                  <a:schemeClr val="dk1"/>
                </a:fontRef>
              </p:style>
              <p:txBody>
                <a:bodyPr anchor="ctr"/>
                <a:lstStyle/>
                <a:p>
                  <a:pPr algn="ctr">
                    <a:defRPr/>
                  </a:pPr>
                  <a:r>
                    <a:rPr lang="en-US" sz="2500">
                      <a:latin typeface="Open Sans" panose="020B0606030504020204" pitchFamily="34" charset="0"/>
                      <a:ea typeface="Open Sans" panose="020B0606030504020204" pitchFamily="34" charset="0"/>
                      <a:cs typeface="Open Sans" panose="020B0606030504020204" pitchFamily="34" charset="0"/>
                    </a:rPr>
                    <a:t>IoT device </a:t>
                  </a:r>
                </a:p>
                <a:p>
                  <a:pPr algn="ctr">
                    <a:defRPr/>
                  </a:pPr>
                  <a:r>
                    <a:rPr lang="en-US" sz="2500">
                      <a:latin typeface="Open Sans" panose="020B0606030504020204" pitchFamily="34" charset="0"/>
                      <a:ea typeface="Open Sans" panose="020B0606030504020204" pitchFamily="34" charset="0"/>
                      <a:cs typeface="Open Sans" panose="020B0606030504020204" pitchFamily="34" charset="0"/>
                    </a:rPr>
                    <a:t>(e.g., sensor)</a:t>
                  </a:r>
                </a:p>
              </p:txBody>
            </p:sp>
            <p:sp>
              <p:nvSpPr>
                <p:cNvPr id="23" name="TextBox 20">
                  <a:extLst>
                    <a:ext uri="{FF2B5EF4-FFF2-40B4-BE49-F238E27FC236}">
                      <a16:creationId xmlns:a16="http://schemas.microsoft.com/office/drawing/2014/main" id="{C32A639F-9460-48C8-947D-1E24AAFFF96B}"/>
                    </a:ext>
                  </a:extLst>
                </p:cNvPr>
                <p:cNvSpPr txBox="1">
                  <a:spLocks noChangeArrowheads="1"/>
                </p:cNvSpPr>
                <p:nvPr/>
              </p:nvSpPr>
              <p:spPr bwMode="auto">
                <a:xfrm>
                  <a:off x="2375487" y="1502988"/>
                  <a:ext cx="2164123" cy="4689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2500">
                      <a:latin typeface="Open Sans" panose="020B0606030504020204" pitchFamily="34" charset="0"/>
                      <a:ea typeface="Open Sans" panose="020B0606030504020204" pitchFamily="34" charset="0"/>
                      <a:cs typeface="Open Sans" panose="020B0606030504020204" pitchFamily="34" charset="0"/>
                    </a:rPr>
                    <a:t>Thu thập dữ liệu</a:t>
                  </a:r>
                </a:p>
              </p:txBody>
            </p:sp>
          </p:grpSp>
          <p:grpSp>
            <p:nvGrpSpPr>
              <p:cNvPr id="14" name="Group 11">
                <a:extLst>
                  <a:ext uri="{FF2B5EF4-FFF2-40B4-BE49-F238E27FC236}">
                    <a16:creationId xmlns:a16="http://schemas.microsoft.com/office/drawing/2014/main" id="{B1FB8F5C-8D00-435F-8987-AB2948233E15}"/>
                  </a:ext>
                </a:extLst>
              </p:cNvPr>
              <p:cNvGrpSpPr>
                <a:grpSpLocks/>
              </p:cNvGrpSpPr>
              <p:nvPr/>
            </p:nvGrpSpPr>
            <p:grpSpPr bwMode="auto">
              <a:xfrm>
                <a:off x="4934374" y="1803167"/>
                <a:ext cx="2325228" cy="2083971"/>
                <a:chOff x="4397164" y="1286357"/>
                <a:chExt cx="2325228" cy="2083971"/>
              </a:xfrm>
            </p:grpSpPr>
            <p:sp>
              <p:nvSpPr>
                <p:cNvPr id="20" name="Rectangle 19">
                  <a:extLst>
                    <a:ext uri="{FF2B5EF4-FFF2-40B4-BE49-F238E27FC236}">
                      <a16:creationId xmlns:a16="http://schemas.microsoft.com/office/drawing/2014/main" id="{A7EFE482-953B-42CC-83C9-3F1699BA6769}"/>
                    </a:ext>
                  </a:extLst>
                </p:cNvPr>
                <p:cNvSpPr/>
                <p:nvPr/>
              </p:nvSpPr>
              <p:spPr>
                <a:xfrm>
                  <a:off x="4554040" y="2212840"/>
                  <a:ext cx="1831032" cy="1157488"/>
                </a:xfrm>
                <a:prstGeom prst="rect">
                  <a:avLst/>
                </a:prstGeom>
              </p:spPr>
              <p:style>
                <a:lnRef idx="2">
                  <a:schemeClr val="accent1"/>
                </a:lnRef>
                <a:fillRef idx="1">
                  <a:schemeClr val="lt1"/>
                </a:fillRef>
                <a:effectRef idx="0">
                  <a:schemeClr val="accent1"/>
                </a:effectRef>
                <a:fontRef idx="minor">
                  <a:schemeClr val="dk1"/>
                </a:fontRef>
              </p:style>
              <p:txBody>
                <a:bodyPr anchor="ctr"/>
                <a:lstStyle/>
                <a:p>
                  <a:pPr algn="ctr">
                    <a:defRPr/>
                  </a:pPr>
                  <a:r>
                    <a:rPr lang="en-US" sz="2500">
                      <a:latin typeface="Open Sans" panose="020B0606030504020204" pitchFamily="34" charset="0"/>
                      <a:ea typeface="Open Sans" panose="020B0606030504020204" pitchFamily="34" charset="0"/>
                      <a:cs typeface="Open Sans" panose="020B0606030504020204" pitchFamily="34" charset="0"/>
                    </a:rPr>
                    <a:t>IoT hub or</a:t>
                  </a:r>
                </a:p>
                <a:p>
                  <a:pPr algn="ctr">
                    <a:defRPr/>
                  </a:pPr>
                  <a:r>
                    <a:rPr lang="en-US" sz="2500">
                      <a:latin typeface="Open Sans" panose="020B0606030504020204" pitchFamily="34" charset="0"/>
                      <a:ea typeface="Open Sans" panose="020B0606030504020204" pitchFamily="34" charset="0"/>
                      <a:cs typeface="Open Sans" panose="020B0606030504020204" pitchFamily="34" charset="0"/>
                    </a:rPr>
                    <a:t>IoT gateway</a:t>
                  </a:r>
                </a:p>
              </p:txBody>
            </p:sp>
            <p:sp>
              <p:nvSpPr>
                <p:cNvPr id="21" name="TextBox 18">
                  <a:extLst>
                    <a:ext uri="{FF2B5EF4-FFF2-40B4-BE49-F238E27FC236}">
                      <a16:creationId xmlns:a16="http://schemas.microsoft.com/office/drawing/2014/main" id="{9561FFA4-E7A2-4EBD-93E4-6FF1AACAADFB}"/>
                    </a:ext>
                  </a:extLst>
                </p:cNvPr>
                <p:cNvSpPr txBox="1">
                  <a:spLocks noChangeArrowheads="1"/>
                </p:cNvSpPr>
                <p:nvPr/>
              </p:nvSpPr>
              <p:spPr bwMode="auto">
                <a:xfrm>
                  <a:off x="4397164" y="1286357"/>
                  <a:ext cx="2325228" cy="861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2500">
                      <a:latin typeface="Open Sans" panose="020B0606030504020204" pitchFamily="34" charset="0"/>
                      <a:ea typeface="Open Sans" panose="020B0606030504020204" pitchFamily="34" charset="0"/>
                      <a:cs typeface="Open Sans" panose="020B0606030504020204" pitchFamily="34" charset="0"/>
                    </a:rPr>
                    <a:t>Tham chiếu và</a:t>
                  </a:r>
                </a:p>
                <a:p>
                  <a:pPr algn="ctr"/>
                  <a:r>
                    <a:rPr lang="en-US" altLang="en-US" sz="2500">
                      <a:latin typeface="Open Sans" panose="020B0606030504020204" pitchFamily="34" charset="0"/>
                      <a:ea typeface="Open Sans" panose="020B0606030504020204" pitchFamily="34" charset="0"/>
                      <a:cs typeface="Open Sans" panose="020B0606030504020204" pitchFamily="34" charset="0"/>
                    </a:rPr>
                    <a:t>truyền dữ liệu</a:t>
                  </a:r>
                </a:p>
              </p:txBody>
            </p:sp>
          </p:grpSp>
          <p:grpSp>
            <p:nvGrpSpPr>
              <p:cNvPr id="15" name="Group 12">
                <a:extLst>
                  <a:ext uri="{FF2B5EF4-FFF2-40B4-BE49-F238E27FC236}">
                    <a16:creationId xmlns:a16="http://schemas.microsoft.com/office/drawing/2014/main" id="{4CC4824A-C596-4834-8395-825E32B1BF43}"/>
                  </a:ext>
                </a:extLst>
              </p:cNvPr>
              <p:cNvGrpSpPr>
                <a:grpSpLocks/>
              </p:cNvGrpSpPr>
              <p:nvPr/>
            </p:nvGrpSpPr>
            <p:grpSpPr bwMode="auto">
              <a:xfrm>
                <a:off x="7788662" y="2008323"/>
                <a:ext cx="2530487" cy="1878816"/>
                <a:chOff x="6737102" y="1491513"/>
                <a:chExt cx="2530487" cy="1878816"/>
              </a:xfrm>
            </p:grpSpPr>
            <p:sp>
              <p:nvSpPr>
                <p:cNvPr id="18" name="Rectangle 17">
                  <a:extLst>
                    <a:ext uri="{FF2B5EF4-FFF2-40B4-BE49-F238E27FC236}">
                      <a16:creationId xmlns:a16="http://schemas.microsoft.com/office/drawing/2014/main" id="{183CB876-9FD9-41EB-8764-524D85CEC5CF}"/>
                    </a:ext>
                  </a:extLst>
                </p:cNvPr>
                <p:cNvSpPr/>
                <p:nvPr/>
              </p:nvSpPr>
              <p:spPr>
                <a:xfrm>
                  <a:off x="6737102" y="2212840"/>
                  <a:ext cx="2288292" cy="1157489"/>
                </a:xfrm>
                <a:prstGeom prst="rect">
                  <a:avLst/>
                </a:prstGeom>
              </p:spPr>
              <p:style>
                <a:lnRef idx="2">
                  <a:schemeClr val="accent1"/>
                </a:lnRef>
                <a:fillRef idx="1">
                  <a:schemeClr val="lt1"/>
                </a:fillRef>
                <a:effectRef idx="0">
                  <a:schemeClr val="accent1"/>
                </a:effectRef>
                <a:fontRef idx="minor">
                  <a:schemeClr val="dk1"/>
                </a:fontRef>
              </p:style>
              <p:txBody>
                <a:bodyPr anchor="ctr"/>
                <a:lstStyle/>
                <a:p>
                  <a:pPr algn="ctr">
                    <a:defRPr/>
                  </a:pPr>
                  <a:r>
                    <a:rPr lang="en-US" sz="2500">
                      <a:latin typeface="Open Sans" panose="020B0606030504020204" pitchFamily="34" charset="0"/>
                      <a:ea typeface="Open Sans" panose="020B0606030504020204" pitchFamily="34" charset="0"/>
                      <a:cs typeface="Open Sans" panose="020B0606030504020204" pitchFamily="34" charset="0"/>
                    </a:rPr>
                    <a:t>User interface</a:t>
                  </a:r>
                </a:p>
                <a:p>
                  <a:pPr algn="ctr">
                    <a:defRPr/>
                  </a:pPr>
                  <a:r>
                    <a:rPr lang="en-US" sz="2500">
                      <a:latin typeface="Open Sans" panose="020B0606030504020204" pitchFamily="34" charset="0"/>
                      <a:ea typeface="Open Sans" panose="020B0606030504020204" pitchFamily="34" charset="0"/>
                      <a:cs typeface="Open Sans" panose="020B0606030504020204" pitchFamily="34" charset="0"/>
                    </a:rPr>
                    <a:t>(e.g., smartphone, Website)</a:t>
                  </a:r>
                </a:p>
              </p:txBody>
            </p:sp>
            <p:sp>
              <p:nvSpPr>
                <p:cNvPr id="19" name="TextBox 16">
                  <a:extLst>
                    <a:ext uri="{FF2B5EF4-FFF2-40B4-BE49-F238E27FC236}">
                      <a16:creationId xmlns:a16="http://schemas.microsoft.com/office/drawing/2014/main" id="{11862A6A-1E2C-4665-BF89-1DE40B3B2448}"/>
                    </a:ext>
                  </a:extLst>
                </p:cNvPr>
                <p:cNvSpPr txBox="1">
                  <a:spLocks noChangeArrowheads="1"/>
                </p:cNvSpPr>
                <p:nvPr/>
              </p:nvSpPr>
              <p:spPr bwMode="auto">
                <a:xfrm>
                  <a:off x="6811557" y="1491513"/>
                  <a:ext cx="2456032" cy="4689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2500">
                      <a:latin typeface="Open Sans" panose="020B0606030504020204" pitchFamily="34" charset="0"/>
                      <a:ea typeface="Open Sans" panose="020B0606030504020204" pitchFamily="34" charset="0"/>
                      <a:cs typeface="Open Sans" panose="020B0606030504020204" pitchFamily="34" charset="0"/>
                    </a:rPr>
                    <a:t>Phân tích dữ liệu</a:t>
                  </a:r>
                </a:p>
              </p:txBody>
            </p:sp>
          </p:grpSp>
          <p:cxnSp>
            <p:nvCxnSpPr>
              <p:cNvPr id="16" name="Straight Arrow Connector 15">
                <a:extLst>
                  <a:ext uri="{FF2B5EF4-FFF2-40B4-BE49-F238E27FC236}">
                    <a16:creationId xmlns:a16="http://schemas.microsoft.com/office/drawing/2014/main" id="{1EEB2219-4CFD-4090-9EC2-C35A52AB16B0}"/>
                  </a:ext>
                </a:extLst>
              </p:cNvPr>
              <p:cNvCxnSpPr>
                <a:cxnSpLocks/>
                <a:stCxn id="22" idx="3"/>
                <a:endCxn id="20" idx="1"/>
              </p:cNvCxnSpPr>
              <p:nvPr/>
            </p:nvCxnSpPr>
            <p:spPr>
              <a:xfrm>
                <a:off x="4224869" y="3308394"/>
                <a:ext cx="866380"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FD2A9B7C-1D1E-4C42-9E1A-BFBB18930EEF}"/>
                  </a:ext>
                </a:extLst>
              </p:cNvPr>
              <p:cNvCxnSpPr>
                <a:cxnSpLocks/>
                <a:stCxn id="20" idx="3"/>
                <a:endCxn id="18" idx="1"/>
              </p:cNvCxnSpPr>
              <p:nvPr/>
            </p:nvCxnSpPr>
            <p:spPr>
              <a:xfrm>
                <a:off x="6922281" y="3308394"/>
                <a:ext cx="866381"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grpSp>
        <p:cxnSp>
          <p:nvCxnSpPr>
            <p:cNvPr id="11" name="Straight Arrow Connector 10">
              <a:extLst>
                <a:ext uri="{FF2B5EF4-FFF2-40B4-BE49-F238E27FC236}">
                  <a16:creationId xmlns:a16="http://schemas.microsoft.com/office/drawing/2014/main" id="{FE1347B9-0364-4376-A3D6-5B65BC89805A}"/>
                </a:ext>
              </a:extLst>
            </p:cNvPr>
            <p:cNvCxnSpPr>
              <a:cxnSpLocks/>
              <a:endCxn id="23" idx="3"/>
            </p:cNvCxnSpPr>
            <p:nvPr/>
          </p:nvCxnSpPr>
          <p:spPr>
            <a:xfrm flipH="1">
              <a:off x="4416979" y="2242801"/>
              <a:ext cx="790469" cy="114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48061D14-A56F-4C65-BE14-012CE39DA9BC}"/>
                </a:ext>
              </a:extLst>
            </p:cNvPr>
            <p:cNvCxnSpPr>
              <a:cxnSpLocks/>
              <a:endCxn id="19" idx="1"/>
            </p:cNvCxnSpPr>
            <p:nvPr/>
          </p:nvCxnSpPr>
          <p:spPr>
            <a:xfrm>
              <a:off x="7104574" y="2242801"/>
              <a:ext cx="75854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24" name="Group 21">
            <a:extLst>
              <a:ext uri="{FF2B5EF4-FFF2-40B4-BE49-F238E27FC236}">
                <a16:creationId xmlns:a16="http://schemas.microsoft.com/office/drawing/2014/main" id="{53DD3C4C-7612-4DA5-BF50-5A5C7CC0C249}"/>
              </a:ext>
            </a:extLst>
          </p:cNvPr>
          <p:cNvGrpSpPr>
            <a:grpSpLocks/>
          </p:cNvGrpSpPr>
          <p:nvPr/>
        </p:nvGrpSpPr>
        <p:grpSpPr bwMode="auto">
          <a:xfrm>
            <a:off x="2334259" y="3332107"/>
            <a:ext cx="7095158" cy="3274442"/>
            <a:chOff x="977723" y="759761"/>
            <a:chExt cx="9823136" cy="5974778"/>
          </a:xfrm>
        </p:grpSpPr>
        <p:pic>
          <p:nvPicPr>
            <p:cNvPr id="25" name="Picture 22">
              <a:extLst>
                <a:ext uri="{FF2B5EF4-FFF2-40B4-BE49-F238E27FC236}">
                  <a16:creationId xmlns:a16="http://schemas.microsoft.com/office/drawing/2014/main" id="{291A7420-5413-4E78-AEDE-DBFA0764949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57650" y="759761"/>
              <a:ext cx="4076700" cy="161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 name="Cloud 25">
              <a:extLst>
                <a:ext uri="{FF2B5EF4-FFF2-40B4-BE49-F238E27FC236}">
                  <a16:creationId xmlns:a16="http://schemas.microsoft.com/office/drawing/2014/main" id="{0DC83A89-B130-41F9-86DD-99179D376F32}"/>
                </a:ext>
              </a:extLst>
            </p:cNvPr>
            <p:cNvSpPr/>
            <p:nvPr/>
          </p:nvSpPr>
          <p:spPr>
            <a:xfrm>
              <a:off x="4452514" y="1911381"/>
              <a:ext cx="3027463" cy="1517619"/>
            </a:xfrm>
            <a:prstGeom prst="cloud">
              <a:avLst/>
            </a:prstGeom>
            <a:gradFill flip="none" rotWithShape="1">
              <a:gsLst>
                <a:gs pos="0">
                  <a:schemeClr val="accent1">
                    <a:lumMod val="110000"/>
                    <a:satMod val="105000"/>
                    <a:tint val="67000"/>
                  </a:schemeClr>
                </a:gs>
                <a:gs pos="50000">
                  <a:schemeClr val="accent1">
                    <a:lumMod val="105000"/>
                    <a:satMod val="103000"/>
                    <a:tint val="73000"/>
                  </a:schemeClr>
                </a:gs>
                <a:gs pos="100000">
                  <a:schemeClr val="accent1">
                    <a:lumMod val="105000"/>
                    <a:satMod val="109000"/>
                    <a:tint val="81000"/>
                  </a:schemeClr>
                </a:gs>
              </a:gsLst>
              <a:path path="circle">
                <a:fillToRect l="50000" t="50000" r="50000" b="50000"/>
              </a:path>
              <a:tileRect/>
            </a:gradFill>
          </p:spPr>
          <p:style>
            <a:lnRef idx="1">
              <a:schemeClr val="accent1"/>
            </a:lnRef>
            <a:fillRef idx="2">
              <a:schemeClr val="accent1"/>
            </a:fillRef>
            <a:effectRef idx="1">
              <a:schemeClr val="accent1"/>
            </a:effectRef>
            <a:fontRef idx="minor">
              <a:schemeClr val="dk1"/>
            </a:fontRef>
          </p:style>
          <p:txBody>
            <a:bodyPr anchor="ctr"/>
            <a:lstStyle/>
            <a:p>
              <a:pPr algn="ctr">
                <a:defRPr/>
              </a:pPr>
              <a:r>
                <a:rPr lang="en-US">
                  <a:solidFill>
                    <a:schemeClr val="bg1"/>
                  </a:solidFill>
                  <a:effectLst>
                    <a:outerShdw blurRad="38100" dist="38100" dir="2700000" algn="tl">
                      <a:srgbClr val="000000">
                        <a:alpha val="43137"/>
                      </a:srgbClr>
                    </a:outerShdw>
                  </a:effectLst>
                </a:rPr>
                <a:t>CLOUD</a:t>
              </a:r>
            </a:p>
          </p:txBody>
        </p:sp>
        <p:grpSp>
          <p:nvGrpSpPr>
            <p:cNvPr id="27" name="Group 24">
              <a:extLst>
                <a:ext uri="{FF2B5EF4-FFF2-40B4-BE49-F238E27FC236}">
                  <a16:creationId xmlns:a16="http://schemas.microsoft.com/office/drawing/2014/main" id="{ACFEE2E5-B055-4DCC-B30F-996FFCEE003E}"/>
                </a:ext>
              </a:extLst>
            </p:cNvPr>
            <p:cNvGrpSpPr>
              <a:grpSpLocks/>
            </p:cNvGrpSpPr>
            <p:nvPr/>
          </p:nvGrpSpPr>
          <p:grpSpPr bwMode="auto">
            <a:xfrm>
              <a:off x="977723" y="2259743"/>
              <a:ext cx="3350186" cy="4038691"/>
              <a:chOff x="0" y="2259449"/>
              <a:chExt cx="3350186" cy="4038691"/>
            </a:xfrm>
          </p:grpSpPr>
          <p:grpSp>
            <p:nvGrpSpPr>
              <p:cNvPr id="38" name="Group 35">
                <a:extLst>
                  <a:ext uri="{FF2B5EF4-FFF2-40B4-BE49-F238E27FC236}">
                    <a16:creationId xmlns:a16="http://schemas.microsoft.com/office/drawing/2014/main" id="{214E5EE3-9A47-4DF1-852C-934BD79054C8}"/>
                  </a:ext>
                </a:extLst>
              </p:cNvPr>
              <p:cNvGrpSpPr>
                <a:grpSpLocks/>
              </p:cNvGrpSpPr>
              <p:nvPr/>
            </p:nvGrpSpPr>
            <p:grpSpPr bwMode="auto">
              <a:xfrm>
                <a:off x="0" y="3630216"/>
                <a:ext cx="3350186" cy="2667924"/>
                <a:chOff x="0" y="3586527"/>
                <a:chExt cx="3350186" cy="2667924"/>
              </a:xfrm>
            </p:grpSpPr>
            <p:sp>
              <p:nvSpPr>
                <p:cNvPr id="41" name="Cloud 40">
                  <a:extLst>
                    <a:ext uri="{FF2B5EF4-FFF2-40B4-BE49-F238E27FC236}">
                      <a16:creationId xmlns:a16="http://schemas.microsoft.com/office/drawing/2014/main" id="{C5392381-5AD6-4C3C-9F2F-82A0046F1E6B}"/>
                    </a:ext>
                  </a:extLst>
                </p:cNvPr>
                <p:cNvSpPr/>
                <p:nvPr/>
              </p:nvSpPr>
              <p:spPr>
                <a:xfrm>
                  <a:off x="0" y="3587958"/>
                  <a:ext cx="3349394" cy="2665612"/>
                </a:xfrm>
                <a:prstGeom prst="cloud">
                  <a:avLst/>
                </a:prstGeom>
              </p:spPr>
              <p:style>
                <a:lnRef idx="2">
                  <a:schemeClr val="dk1"/>
                </a:lnRef>
                <a:fillRef idx="1">
                  <a:schemeClr val="lt1"/>
                </a:fillRef>
                <a:effectRef idx="0">
                  <a:schemeClr val="dk1"/>
                </a:effectRef>
                <a:fontRef idx="minor">
                  <a:schemeClr val="dk1"/>
                </a:fontRef>
              </p:style>
              <p:txBody>
                <a:bodyPr anchor="ctr"/>
                <a:lstStyle/>
                <a:p>
                  <a:pPr algn="ctr">
                    <a:defRPr/>
                  </a:pPr>
                  <a:endParaRPr lang="en-US"/>
                </a:p>
              </p:txBody>
            </p:sp>
            <p:pic>
              <p:nvPicPr>
                <p:cNvPr id="42" name="Picture 39">
                  <a:extLst>
                    <a:ext uri="{FF2B5EF4-FFF2-40B4-BE49-F238E27FC236}">
                      <a16:creationId xmlns:a16="http://schemas.microsoft.com/office/drawing/2014/main" id="{45D6208F-E810-48EE-8227-7FBF97224FE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1382053">
                  <a:off x="1092491" y="4749111"/>
                  <a:ext cx="1159720" cy="13315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 name="Picture 40">
                  <a:extLst>
                    <a:ext uri="{FF2B5EF4-FFF2-40B4-BE49-F238E27FC236}">
                      <a16:creationId xmlns:a16="http://schemas.microsoft.com/office/drawing/2014/main" id="{A4C70BF1-C6C5-47F1-944F-B14FC0CDC4C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2631" y="3788640"/>
                  <a:ext cx="1159720" cy="13315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 name="Picture 41">
                  <a:extLst>
                    <a:ext uri="{FF2B5EF4-FFF2-40B4-BE49-F238E27FC236}">
                      <a16:creationId xmlns:a16="http://schemas.microsoft.com/office/drawing/2014/main" id="{8646296F-ED44-4F34-B86E-61C3F696D41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2791962">
                  <a:off x="1982513" y="3788638"/>
                  <a:ext cx="1159720" cy="13315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39" name="Picture 36">
                <a:extLst>
                  <a:ext uri="{FF2B5EF4-FFF2-40B4-BE49-F238E27FC236}">
                    <a16:creationId xmlns:a16="http://schemas.microsoft.com/office/drawing/2014/main" id="{5E5E0014-9B90-4AB1-9E19-645378FEE94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52558" y="2259449"/>
                <a:ext cx="821482" cy="821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40" name="Straight Arrow Connector 39">
                <a:extLst>
                  <a:ext uri="{FF2B5EF4-FFF2-40B4-BE49-F238E27FC236}">
                    <a16:creationId xmlns:a16="http://schemas.microsoft.com/office/drawing/2014/main" id="{4DB91CEA-33CA-4DA0-820C-946283087CE5}"/>
                  </a:ext>
                </a:extLst>
              </p:cNvPr>
              <p:cNvCxnSpPr>
                <a:stCxn id="39" idx="2"/>
                <a:endCxn id="41" idx="3"/>
              </p:cNvCxnSpPr>
              <p:nvPr/>
            </p:nvCxnSpPr>
            <p:spPr>
              <a:xfrm>
                <a:off x="1663006" y="3083431"/>
                <a:ext cx="11691" cy="699176"/>
              </a:xfrm>
              <a:prstGeom prst="straightConnector1">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cxnSp>
          <p:nvCxnSpPr>
            <p:cNvPr id="28" name="Straight Connector 27">
              <a:extLst>
                <a:ext uri="{FF2B5EF4-FFF2-40B4-BE49-F238E27FC236}">
                  <a16:creationId xmlns:a16="http://schemas.microsoft.com/office/drawing/2014/main" id="{C7DB8017-6E4F-43D0-AE0C-3F044D6EF1F4}"/>
                </a:ext>
              </a:extLst>
            </p:cNvPr>
            <p:cNvCxnSpPr>
              <a:stCxn id="39" idx="3"/>
            </p:cNvCxnSpPr>
            <p:nvPr/>
          </p:nvCxnSpPr>
          <p:spPr>
            <a:xfrm flipV="1">
              <a:off x="3052828" y="2670576"/>
              <a:ext cx="1408733"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9" name="Straight Connector 28">
              <a:extLst>
                <a:ext uri="{FF2B5EF4-FFF2-40B4-BE49-F238E27FC236}">
                  <a16:creationId xmlns:a16="http://schemas.microsoft.com/office/drawing/2014/main" id="{48E794F1-651C-47E3-8E73-E445E388A848}"/>
                </a:ext>
              </a:extLst>
            </p:cNvPr>
            <p:cNvCxnSpPr>
              <a:cxnSpLocks/>
              <a:endCxn id="32" idx="1"/>
            </p:cNvCxnSpPr>
            <p:nvPr/>
          </p:nvCxnSpPr>
          <p:spPr>
            <a:xfrm flipV="1">
              <a:off x="7477770" y="2658660"/>
              <a:ext cx="1113541" cy="11917"/>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nvGrpSpPr>
            <p:cNvPr id="30" name="Group 27">
              <a:extLst>
                <a:ext uri="{FF2B5EF4-FFF2-40B4-BE49-F238E27FC236}">
                  <a16:creationId xmlns:a16="http://schemas.microsoft.com/office/drawing/2014/main" id="{53941450-C6EC-426C-A274-E3FA7B24DF9C}"/>
                </a:ext>
              </a:extLst>
            </p:cNvPr>
            <p:cNvGrpSpPr>
              <a:grpSpLocks/>
            </p:cNvGrpSpPr>
            <p:nvPr/>
          </p:nvGrpSpPr>
          <p:grpSpPr bwMode="auto">
            <a:xfrm>
              <a:off x="7201461" y="2238436"/>
              <a:ext cx="3599398" cy="4496103"/>
              <a:chOff x="8089358" y="2238436"/>
              <a:chExt cx="3599398" cy="4496103"/>
            </a:xfrm>
          </p:grpSpPr>
          <p:grpSp>
            <p:nvGrpSpPr>
              <p:cNvPr id="31" name="Group 28">
                <a:extLst>
                  <a:ext uri="{FF2B5EF4-FFF2-40B4-BE49-F238E27FC236}">
                    <a16:creationId xmlns:a16="http://schemas.microsoft.com/office/drawing/2014/main" id="{D8E2386D-9C55-4BD3-8EE1-D40E00B12EBE}"/>
                  </a:ext>
                </a:extLst>
              </p:cNvPr>
              <p:cNvGrpSpPr>
                <a:grpSpLocks/>
              </p:cNvGrpSpPr>
              <p:nvPr/>
            </p:nvGrpSpPr>
            <p:grpSpPr bwMode="auto">
              <a:xfrm>
                <a:off x="8089358" y="3630216"/>
                <a:ext cx="3599398" cy="3104323"/>
                <a:chOff x="8457699" y="3429000"/>
                <a:chExt cx="3599398" cy="3104323"/>
              </a:xfrm>
            </p:grpSpPr>
            <p:sp>
              <p:nvSpPr>
                <p:cNvPr id="34" name="Cloud 33">
                  <a:extLst>
                    <a:ext uri="{FF2B5EF4-FFF2-40B4-BE49-F238E27FC236}">
                      <a16:creationId xmlns:a16="http://schemas.microsoft.com/office/drawing/2014/main" id="{96255F54-5AD7-4E4A-887E-C2AA443B8A3A}"/>
                    </a:ext>
                  </a:extLst>
                </p:cNvPr>
                <p:cNvSpPr/>
                <p:nvPr/>
              </p:nvSpPr>
              <p:spPr>
                <a:xfrm>
                  <a:off x="8456351" y="3426755"/>
                  <a:ext cx="3600746" cy="3106568"/>
                </a:xfrm>
                <a:prstGeom prst="cloud">
                  <a:avLst/>
                </a:prstGeom>
              </p:spPr>
              <p:style>
                <a:lnRef idx="2">
                  <a:schemeClr val="dk1"/>
                </a:lnRef>
                <a:fillRef idx="1">
                  <a:schemeClr val="lt1"/>
                </a:fillRef>
                <a:effectRef idx="0">
                  <a:schemeClr val="dk1"/>
                </a:effectRef>
                <a:fontRef idx="minor">
                  <a:schemeClr val="dk1"/>
                </a:fontRef>
              </p:style>
              <p:txBody>
                <a:bodyPr anchor="ctr"/>
                <a:lstStyle/>
                <a:p>
                  <a:pPr algn="ctr">
                    <a:defRPr/>
                  </a:pPr>
                  <a:endParaRPr lang="en-US"/>
                </a:p>
              </p:txBody>
            </p:sp>
            <p:pic>
              <p:nvPicPr>
                <p:cNvPr id="35" name="Picture 32">
                  <a:extLst>
                    <a:ext uri="{FF2B5EF4-FFF2-40B4-BE49-F238E27FC236}">
                      <a16:creationId xmlns:a16="http://schemas.microsoft.com/office/drawing/2014/main" id="{4035B62A-4899-4F2C-8126-100FBDE8AA2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020439" y="5159369"/>
                  <a:ext cx="1063255" cy="1063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 name="Picture 33">
                  <a:extLst>
                    <a:ext uri="{FF2B5EF4-FFF2-40B4-BE49-F238E27FC236}">
                      <a16:creationId xmlns:a16="http://schemas.microsoft.com/office/drawing/2014/main" id="{4F7E3FAF-F6D5-48A7-BE1C-756B69A4186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208300" y="4501875"/>
                  <a:ext cx="1063255" cy="11416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 name="Picture 34">
                  <a:extLst>
                    <a:ext uri="{FF2B5EF4-FFF2-40B4-BE49-F238E27FC236}">
                      <a16:creationId xmlns:a16="http://schemas.microsoft.com/office/drawing/2014/main" id="{D7AC55B4-9772-4E8A-88B1-CD0478B8E59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292306" y="3922776"/>
                  <a:ext cx="1063255" cy="1063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32" name="Picture 29">
                <a:extLst>
                  <a:ext uri="{FF2B5EF4-FFF2-40B4-BE49-F238E27FC236}">
                    <a16:creationId xmlns:a16="http://schemas.microsoft.com/office/drawing/2014/main" id="{68346974-ED86-4117-950B-B08E19F34C7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478316" y="2238436"/>
                <a:ext cx="821482" cy="8424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33" name="Straight Arrow Connector 32">
                <a:extLst>
                  <a:ext uri="{FF2B5EF4-FFF2-40B4-BE49-F238E27FC236}">
                    <a16:creationId xmlns:a16="http://schemas.microsoft.com/office/drawing/2014/main" id="{2E730928-3372-4D44-ABDB-475DE2328B33}"/>
                  </a:ext>
                </a:extLst>
              </p:cNvPr>
              <p:cNvCxnSpPr>
                <a:cxnSpLocks/>
                <a:stCxn id="32" idx="2"/>
                <a:endCxn id="34" idx="3"/>
              </p:cNvCxnSpPr>
              <p:nvPr/>
            </p:nvCxnSpPr>
            <p:spPr>
              <a:xfrm>
                <a:off x="9888383" y="3079755"/>
                <a:ext cx="0" cy="726983"/>
              </a:xfrm>
              <a:prstGeom prst="straightConnector1">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grpSp>
    </p:spTree>
    <p:extLst>
      <p:ext uri="{BB962C8B-B14F-4D97-AF65-F5344CB8AC3E}">
        <p14:creationId xmlns:p14="http://schemas.microsoft.com/office/powerpoint/2010/main" val="35325807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798B1CE8-4B71-4DC4-AFC3-A7F9767E017E}"/>
              </a:ext>
            </a:extLst>
          </p:cNvPr>
          <p:cNvSpPr>
            <a:spLocks noGrp="1"/>
          </p:cNvSpPr>
          <p:nvPr>
            <p:ph type="ftr" sz="quarter" idx="11"/>
          </p:nvPr>
        </p:nvSpPr>
        <p:spPr/>
        <p:txBody>
          <a:bodyPr/>
          <a:lstStyle/>
          <a:p>
            <a:r>
              <a:rPr lang="en-US"/>
              <a:t>7</a:t>
            </a:r>
          </a:p>
        </p:txBody>
      </p:sp>
      <p:grpSp>
        <p:nvGrpSpPr>
          <p:cNvPr id="5" name="Group 4">
            <a:extLst>
              <a:ext uri="{FF2B5EF4-FFF2-40B4-BE49-F238E27FC236}">
                <a16:creationId xmlns:a16="http://schemas.microsoft.com/office/drawing/2014/main" id="{3DD7C837-E005-469B-AB95-2680D4A4A302}"/>
              </a:ext>
            </a:extLst>
          </p:cNvPr>
          <p:cNvGrpSpPr/>
          <p:nvPr/>
        </p:nvGrpSpPr>
        <p:grpSpPr>
          <a:xfrm>
            <a:off x="356110" y="271925"/>
            <a:ext cx="2148965" cy="630942"/>
            <a:chOff x="-679596" y="330973"/>
            <a:chExt cx="2136901" cy="630942"/>
          </a:xfrm>
        </p:grpSpPr>
        <p:sp>
          <p:nvSpPr>
            <p:cNvPr id="6" name="TextBox 5">
              <a:extLst>
                <a:ext uri="{FF2B5EF4-FFF2-40B4-BE49-F238E27FC236}">
                  <a16:creationId xmlns:a16="http://schemas.microsoft.com/office/drawing/2014/main" id="{5D16D65A-EAA4-4F36-88E1-5CF367357B59}"/>
                </a:ext>
              </a:extLst>
            </p:cNvPr>
            <p:cNvSpPr txBox="1"/>
            <p:nvPr/>
          </p:nvSpPr>
          <p:spPr>
            <a:xfrm>
              <a:off x="-679596" y="330973"/>
              <a:ext cx="2136901" cy="630942"/>
            </a:xfrm>
            <a:prstGeom prst="rect">
              <a:avLst/>
            </a:prstGeom>
            <a:noFill/>
          </p:spPr>
          <p:txBody>
            <a:bodyPr wrap="square" rtlCol="0">
              <a:spAutoFit/>
            </a:bodyPr>
            <a:lstStyle/>
            <a:p>
              <a:pPr algn="ctr"/>
              <a:r>
                <a:rPr lang="en-US" sz="3500">
                  <a:latin typeface="Open Sans" panose="020B0606030504020204" pitchFamily="34" charset="0"/>
                  <a:ea typeface="Open Sans" panose="020B0606030504020204" pitchFamily="34" charset="0"/>
                  <a:cs typeface="Open Sans" panose="020B0606030504020204" pitchFamily="34" charset="0"/>
                </a:rPr>
                <a:t>Cảm biến</a:t>
              </a:r>
            </a:p>
          </p:txBody>
        </p:sp>
        <p:cxnSp>
          <p:nvCxnSpPr>
            <p:cNvPr id="7" name="Straight Connector 6">
              <a:extLst>
                <a:ext uri="{FF2B5EF4-FFF2-40B4-BE49-F238E27FC236}">
                  <a16:creationId xmlns:a16="http://schemas.microsoft.com/office/drawing/2014/main" id="{A7E66AAF-129B-4B79-AB13-2A749B9E42AA}"/>
                </a:ext>
              </a:extLst>
            </p:cNvPr>
            <p:cNvCxnSpPr>
              <a:cxnSpLocks/>
            </p:cNvCxnSpPr>
            <p:nvPr/>
          </p:nvCxnSpPr>
          <p:spPr>
            <a:xfrm>
              <a:off x="-620749" y="961915"/>
              <a:ext cx="2078054" cy="0"/>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3" name="Group 12">
            <a:extLst>
              <a:ext uri="{FF2B5EF4-FFF2-40B4-BE49-F238E27FC236}">
                <a16:creationId xmlns:a16="http://schemas.microsoft.com/office/drawing/2014/main" id="{246BC758-9BCD-4242-A453-DC9A96204514}"/>
              </a:ext>
            </a:extLst>
          </p:cNvPr>
          <p:cNvGrpSpPr/>
          <p:nvPr/>
        </p:nvGrpSpPr>
        <p:grpSpPr>
          <a:xfrm>
            <a:off x="2739254" y="1551894"/>
            <a:ext cx="7275604" cy="3310392"/>
            <a:chOff x="0" y="0"/>
            <a:chExt cx="5055704" cy="3031237"/>
          </a:xfrm>
        </p:grpSpPr>
        <p:sp>
          <p:nvSpPr>
            <p:cNvPr id="14" name="Rectangle 13">
              <a:extLst>
                <a:ext uri="{FF2B5EF4-FFF2-40B4-BE49-F238E27FC236}">
                  <a16:creationId xmlns:a16="http://schemas.microsoft.com/office/drawing/2014/main" id="{6E547B20-5F75-48A5-A369-02AB88D4C69E}"/>
                </a:ext>
              </a:extLst>
            </p:cNvPr>
            <p:cNvSpPr/>
            <p:nvPr/>
          </p:nvSpPr>
          <p:spPr>
            <a:xfrm>
              <a:off x="0" y="0"/>
              <a:ext cx="1921565" cy="901148"/>
            </a:xfrm>
            <a:prstGeom prst="rect">
              <a:avLst/>
            </a:prstGeom>
            <a:ln w="3175"/>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spcAft>
                  <a:spcPts val="0"/>
                </a:spcAft>
              </a:pPr>
              <a:r>
                <a:rPr lang="vi-VN" sz="2500" kern="1200">
                  <a:solidFill>
                    <a:srgbClr val="000000"/>
                  </a:solidFill>
                  <a:effectLst/>
                  <a:latin typeface="Open Sans" panose="020B0606030504020204" pitchFamily="34" charset="0"/>
                  <a:ea typeface="Open Sans" panose="020B0606030504020204" pitchFamily="34" charset="0"/>
                  <a:cs typeface="Open Sans" panose="020B0606030504020204" pitchFamily="34" charset="0"/>
                </a:rPr>
                <a:t>Môi trường</a:t>
              </a:r>
              <a:endParaRPr lang="en-US" sz="2500">
                <a:effectLst/>
                <a:latin typeface="Open Sans" panose="020B0606030504020204" pitchFamily="34" charset="0"/>
                <a:ea typeface="Open Sans" panose="020B0606030504020204" pitchFamily="34" charset="0"/>
                <a:cs typeface="Open Sans" panose="020B0606030504020204" pitchFamily="34" charset="0"/>
              </a:endParaRPr>
            </a:p>
          </p:txBody>
        </p:sp>
        <p:sp>
          <p:nvSpPr>
            <p:cNvPr id="15" name="Rectangle 14">
              <a:extLst>
                <a:ext uri="{FF2B5EF4-FFF2-40B4-BE49-F238E27FC236}">
                  <a16:creationId xmlns:a16="http://schemas.microsoft.com/office/drawing/2014/main" id="{06DFC0BE-2E1C-4895-8C75-962BDE405EA0}"/>
                </a:ext>
              </a:extLst>
            </p:cNvPr>
            <p:cNvSpPr/>
            <p:nvPr/>
          </p:nvSpPr>
          <p:spPr>
            <a:xfrm>
              <a:off x="3134139" y="0"/>
              <a:ext cx="1921565" cy="901148"/>
            </a:xfrm>
            <a:prstGeom prst="rect">
              <a:avLst/>
            </a:prstGeom>
            <a:ln w="3175"/>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spcAft>
                  <a:spcPts val="0"/>
                </a:spcAft>
              </a:pPr>
              <a:r>
                <a:rPr lang="vi-VN" sz="2500" kern="1200">
                  <a:solidFill>
                    <a:srgbClr val="000000"/>
                  </a:solidFill>
                  <a:effectLst/>
                  <a:latin typeface="Open Sans" panose="020B0606030504020204" pitchFamily="34" charset="0"/>
                  <a:ea typeface="Open Sans" panose="020B0606030504020204" pitchFamily="34" charset="0"/>
                  <a:cs typeface="Open Sans" panose="020B0606030504020204" pitchFamily="34" charset="0"/>
                </a:rPr>
                <a:t>Mạch thu thập</a:t>
              </a:r>
              <a:endParaRPr lang="en-US" sz="2500">
                <a:effectLst/>
                <a:latin typeface="Open Sans" panose="020B0606030504020204" pitchFamily="34" charset="0"/>
                <a:ea typeface="Open Sans" panose="020B0606030504020204" pitchFamily="34" charset="0"/>
                <a:cs typeface="Open Sans" panose="020B0606030504020204" pitchFamily="34" charset="0"/>
              </a:endParaRPr>
            </a:p>
            <a:p>
              <a:pPr algn="ctr">
                <a:spcAft>
                  <a:spcPts val="0"/>
                </a:spcAft>
              </a:pPr>
              <a:r>
                <a:rPr lang="vi-VN" sz="2500" kern="1200">
                  <a:solidFill>
                    <a:srgbClr val="000000"/>
                  </a:solidFill>
                  <a:effectLst/>
                  <a:latin typeface="Open Sans" panose="020B0606030504020204" pitchFamily="34" charset="0"/>
                  <a:ea typeface="Open Sans" panose="020B0606030504020204" pitchFamily="34" charset="0"/>
                  <a:cs typeface="Open Sans" panose="020B0606030504020204" pitchFamily="34" charset="0"/>
                </a:rPr>
                <a:t> dữ liệu</a:t>
              </a:r>
              <a:endParaRPr lang="en-US" sz="2500">
                <a:effectLst/>
                <a:latin typeface="Open Sans" panose="020B0606030504020204" pitchFamily="34" charset="0"/>
                <a:ea typeface="Open Sans" panose="020B0606030504020204" pitchFamily="34" charset="0"/>
                <a:cs typeface="Open Sans" panose="020B0606030504020204" pitchFamily="34" charset="0"/>
              </a:endParaRPr>
            </a:p>
          </p:txBody>
        </p:sp>
        <p:sp>
          <p:nvSpPr>
            <p:cNvPr id="16" name="Rectangle 15">
              <a:extLst>
                <a:ext uri="{FF2B5EF4-FFF2-40B4-BE49-F238E27FC236}">
                  <a16:creationId xmlns:a16="http://schemas.microsoft.com/office/drawing/2014/main" id="{E2349B76-42AE-42DE-BC4B-669F81C087C1}"/>
                </a:ext>
              </a:extLst>
            </p:cNvPr>
            <p:cNvSpPr/>
            <p:nvPr/>
          </p:nvSpPr>
          <p:spPr>
            <a:xfrm>
              <a:off x="0" y="1838739"/>
              <a:ext cx="1921565" cy="1192498"/>
            </a:xfrm>
            <a:prstGeom prst="rect">
              <a:avLst/>
            </a:prstGeom>
            <a:ln w="3175"/>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spcAft>
                  <a:spcPts val="0"/>
                </a:spcAft>
              </a:pPr>
              <a:r>
                <a:rPr lang="vi-VN" sz="2500" kern="1200">
                  <a:solidFill>
                    <a:srgbClr val="000000"/>
                  </a:solidFill>
                  <a:effectLst/>
                  <a:latin typeface="Open Sans" panose="020B0606030504020204" pitchFamily="34" charset="0"/>
                  <a:ea typeface="Open Sans" panose="020B0606030504020204" pitchFamily="34" charset="0"/>
                  <a:cs typeface="Open Sans" panose="020B0606030504020204" pitchFamily="34" charset="0"/>
                </a:rPr>
                <a:t>Bộ thiết bị </a:t>
              </a:r>
              <a:endParaRPr lang="en-US" sz="2500">
                <a:effectLst/>
                <a:latin typeface="Open Sans" panose="020B0606030504020204" pitchFamily="34" charset="0"/>
                <a:ea typeface="Open Sans" panose="020B0606030504020204" pitchFamily="34" charset="0"/>
                <a:cs typeface="Open Sans" panose="020B0606030504020204" pitchFamily="34" charset="0"/>
              </a:endParaRPr>
            </a:p>
            <a:p>
              <a:pPr algn="ctr">
                <a:spcAft>
                  <a:spcPts val="0"/>
                </a:spcAft>
              </a:pPr>
              <a:r>
                <a:rPr lang="vi-VN" sz="2500" kern="1200">
                  <a:solidFill>
                    <a:srgbClr val="000000"/>
                  </a:solidFill>
                  <a:effectLst/>
                  <a:latin typeface="Open Sans" panose="020B0606030504020204" pitchFamily="34" charset="0"/>
                  <a:ea typeface="Open Sans" panose="020B0606030504020204" pitchFamily="34" charset="0"/>
                  <a:cs typeface="Open Sans" panose="020B0606030504020204" pitchFamily="34" charset="0"/>
                </a:rPr>
                <a:t>ngoại vi</a:t>
              </a:r>
              <a:endParaRPr lang="en-US" sz="2500">
                <a:effectLst/>
                <a:latin typeface="Open Sans" panose="020B0606030504020204" pitchFamily="34" charset="0"/>
                <a:ea typeface="Open Sans" panose="020B0606030504020204" pitchFamily="34" charset="0"/>
                <a:cs typeface="Open Sans" panose="020B0606030504020204" pitchFamily="34" charset="0"/>
              </a:endParaRPr>
            </a:p>
          </p:txBody>
        </p:sp>
        <p:sp>
          <p:nvSpPr>
            <p:cNvPr id="17" name="Rectangle 16">
              <a:extLst>
                <a:ext uri="{FF2B5EF4-FFF2-40B4-BE49-F238E27FC236}">
                  <a16:creationId xmlns:a16="http://schemas.microsoft.com/office/drawing/2014/main" id="{91ECCC0D-2375-4C8F-9B57-95C21ED0E0DB}"/>
                </a:ext>
              </a:extLst>
            </p:cNvPr>
            <p:cNvSpPr/>
            <p:nvPr/>
          </p:nvSpPr>
          <p:spPr>
            <a:xfrm>
              <a:off x="3134139" y="1838739"/>
              <a:ext cx="1921565" cy="1192498"/>
            </a:xfrm>
            <a:prstGeom prst="rect">
              <a:avLst/>
            </a:prstGeom>
            <a:ln w="3175"/>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spcAft>
                  <a:spcPts val="0"/>
                </a:spcAft>
              </a:pPr>
              <a:r>
                <a:rPr lang="vi-VN" sz="2500" kern="1200">
                  <a:solidFill>
                    <a:srgbClr val="000000"/>
                  </a:solidFill>
                  <a:effectLst/>
                  <a:latin typeface="Open Sans" panose="020B0606030504020204" pitchFamily="34" charset="0"/>
                  <a:ea typeface="Open Sans" panose="020B0606030504020204" pitchFamily="34" charset="0"/>
                  <a:cs typeface="Open Sans" panose="020B0606030504020204" pitchFamily="34" charset="0"/>
                </a:rPr>
                <a:t>Mạch xử lý và điều khiển tín hiệu</a:t>
              </a:r>
              <a:endParaRPr lang="en-US" sz="2500">
                <a:effectLst/>
                <a:latin typeface="Open Sans" panose="020B0606030504020204" pitchFamily="34" charset="0"/>
                <a:ea typeface="Open Sans" panose="020B0606030504020204" pitchFamily="34" charset="0"/>
                <a:cs typeface="Open Sans" panose="020B0606030504020204" pitchFamily="34" charset="0"/>
              </a:endParaRPr>
            </a:p>
          </p:txBody>
        </p:sp>
        <p:sp>
          <p:nvSpPr>
            <p:cNvPr id="18" name="Arrow: Right 17">
              <a:extLst>
                <a:ext uri="{FF2B5EF4-FFF2-40B4-BE49-F238E27FC236}">
                  <a16:creationId xmlns:a16="http://schemas.microsoft.com/office/drawing/2014/main" id="{9299FA92-FC7D-4DAA-AFF4-4C0262F2122B}"/>
                </a:ext>
              </a:extLst>
            </p:cNvPr>
            <p:cNvSpPr/>
            <p:nvPr/>
          </p:nvSpPr>
          <p:spPr>
            <a:xfrm>
              <a:off x="2067339" y="271669"/>
              <a:ext cx="735497" cy="357809"/>
            </a:xfrm>
            <a:prstGeom prst="rightArrow">
              <a:avLst/>
            </a:prstGeom>
            <a:ln w="3175"/>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sz="2500">
                <a:latin typeface="Open Sans" panose="020B0606030504020204" pitchFamily="34" charset="0"/>
                <a:ea typeface="Open Sans" panose="020B0606030504020204" pitchFamily="34" charset="0"/>
                <a:cs typeface="Open Sans" panose="020B0606030504020204" pitchFamily="34" charset="0"/>
              </a:endParaRPr>
            </a:p>
          </p:txBody>
        </p:sp>
        <p:sp>
          <p:nvSpPr>
            <p:cNvPr id="19" name="Arrow: Down 18">
              <a:extLst>
                <a:ext uri="{FF2B5EF4-FFF2-40B4-BE49-F238E27FC236}">
                  <a16:creationId xmlns:a16="http://schemas.microsoft.com/office/drawing/2014/main" id="{9319F686-CD31-4A05-A2EA-D76CF74CA18D}"/>
                </a:ext>
              </a:extLst>
            </p:cNvPr>
            <p:cNvSpPr/>
            <p:nvPr/>
          </p:nvSpPr>
          <p:spPr>
            <a:xfrm>
              <a:off x="3816626" y="1099930"/>
              <a:ext cx="318052" cy="556592"/>
            </a:xfrm>
            <a:prstGeom prst="downArrow">
              <a:avLst/>
            </a:prstGeom>
            <a:ln w="3175"/>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sz="2500">
                <a:latin typeface="Open Sans" panose="020B0606030504020204" pitchFamily="34" charset="0"/>
                <a:ea typeface="Open Sans" panose="020B0606030504020204" pitchFamily="34" charset="0"/>
                <a:cs typeface="Open Sans" panose="020B0606030504020204" pitchFamily="34" charset="0"/>
              </a:endParaRPr>
            </a:p>
          </p:txBody>
        </p:sp>
        <p:sp>
          <p:nvSpPr>
            <p:cNvPr id="20" name="Arrow: Right 19">
              <a:extLst>
                <a:ext uri="{FF2B5EF4-FFF2-40B4-BE49-F238E27FC236}">
                  <a16:creationId xmlns:a16="http://schemas.microsoft.com/office/drawing/2014/main" id="{E548E25F-BD30-410F-9810-125B7BB22BC1}"/>
                </a:ext>
              </a:extLst>
            </p:cNvPr>
            <p:cNvSpPr/>
            <p:nvPr/>
          </p:nvSpPr>
          <p:spPr>
            <a:xfrm rot="10800000">
              <a:off x="2073964" y="2110408"/>
              <a:ext cx="735497" cy="357809"/>
            </a:xfrm>
            <a:prstGeom prst="rightArrow">
              <a:avLst/>
            </a:prstGeom>
            <a:ln w="3175"/>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sz="2500">
                <a:latin typeface="Open Sans" panose="020B0606030504020204" pitchFamily="34" charset="0"/>
                <a:ea typeface="Open Sans" panose="020B0606030504020204" pitchFamily="34" charset="0"/>
                <a:cs typeface="Open Sans" panose="020B0606030504020204" pitchFamily="34" charset="0"/>
              </a:endParaRPr>
            </a:p>
          </p:txBody>
        </p:sp>
      </p:grpSp>
      <p:pic>
        <p:nvPicPr>
          <p:cNvPr id="22" name="Picture 21">
            <a:extLst>
              <a:ext uri="{FF2B5EF4-FFF2-40B4-BE49-F238E27FC236}">
                <a16:creationId xmlns:a16="http://schemas.microsoft.com/office/drawing/2014/main" id="{3B193E8C-373D-4751-AEA8-1C59989642F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19987682">
            <a:off x="314870" y="1414555"/>
            <a:ext cx="1830543" cy="1830543"/>
          </a:xfrm>
          <a:prstGeom prst="rect">
            <a:avLst/>
          </a:prstGeom>
        </p:spPr>
      </p:pic>
      <p:pic>
        <p:nvPicPr>
          <p:cNvPr id="24" name="Picture 23">
            <a:extLst>
              <a:ext uri="{FF2B5EF4-FFF2-40B4-BE49-F238E27FC236}">
                <a16:creationId xmlns:a16="http://schemas.microsoft.com/office/drawing/2014/main" id="{F2980C52-8753-4FA7-8975-379FC5D27E3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1307847">
            <a:off x="431361" y="4308119"/>
            <a:ext cx="1708216" cy="1708216"/>
          </a:xfrm>
          <a:prstGeom prst="rect">
            <a:avLst/>
          </a:prstGeom>
        </p:spPr>
      </p:pic>
      <p:pic>
        <p:nvPicPr>
          <p:cNvPr id="26" name="Picture 25">
            <a:extLst>
              <a:ext uri="{FF2B5EF4-FFF2-40B4-BE49-F238E27FC236}">
                <a16:creationId xmlns:a16="http://schemas.microsoft.com/office/drawing/2014/main" id="{59F1D091-8A39-48F5-8037-DD046FEDB19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20397662">
            <a:off x="8623246" y="5167976"/>
            <a:ext cx="1598551" cy="1598551"/>
          </a:xfrm>
          <a:prstGeom prst="rect">
            <a:avLst/>
          </a:prstGeom>
        </p:spPr>
      </p:pic>
      <p:pic>
        <p:nvPicPr>
          <p:cNvPr id="28" name="Picture 27">
            <a:extLst>
              <a:ext uri="{FF2B5EF4-FFF2-40B4-BE49-F238E27FC236}">
                <a16:creationId xmlns:a16="http://schemas.microsoft.com/office/drawing/2014/main" id="{8870D9D1-6EE9-4BE2-B2A2-9551FC85D48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rot="1251947">
            <a:off x="10228566" y="1188630"/>
            <a:ext cx="1966726" cy="1966726"/>
          </a:xfrm>
          <a:prstGeom prst="rect">
            <a:avLst/>
          </a:prstGeom>
        </p:spPr>
      </p:pic>
      <p:pic>
        <p:nvPicPr>
          <p:cNvPr id="30" name="Picture 29">
            <a:extLst>
              <a:ext uri="{FF2B5EF4-FFF2-40B4-BE49-F238E27FC236}">
                <a16:creationId xmlns:a16="http://schemas.microsoft.com/office/drawing/2014/main" id="{C4EDF87F-F5B0-4470-98FA-95BB0F550CC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816075" y="4669804"/>
            <a:ext cx="1264157" cy="1264157"/>
          </a:xfrm>
          <a:prstGeom prst="rect">
            <a:avLst/>
          </a:prstGeom>
        </p:spPr>
      </p:pic>
      <p:pic>
        <p:nvPicPr>
          <p:cNvPr id="32" name="Picture 31">
            <a:extLst>
              <a:ext uri="{FF2B5EF4-FFF2-40B4-BE49-F238E27FC236}">
                <a16:creationId xmlns:a16="http://schemas.microsoft.com/office/drawing/2014/main" id="{7C1DB28A-D440-46F9-BA80-CCD679530B80}"/>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rot="938267">
            <a:off x="3265830" y="5153519"/>
            <a:ext cx="1002358" cy="1002358"/>
          </a:xfrm>
          <a:prstGeom prst="rect">
            <a:avLst/>
          </a:prstGeom>
        </p:spPr>
      </p:pic>
      <p:pic>
        <p:nvPicPr>
          <p:cNvPr id="34" name="Picture 33">
            <a:extLst>
              <a:ext uri="{FF2B5EF4-FFF2-40B4-BE49-F238E27FC236}">
                <a16:creationId xmlns:a16="http://schemas.microsoft.com/office/drawing/2014/main" id="{BBCC68F7-CA1F-43B4-909D-495573881617}"/>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0363258" y="4280679"/>
            <a:ext cx="1697342" cy="1697342"/>
          </a:xfrm>
          <a:prstGeom prst="rect">
            <a:avLst/>
          </a:prstGeom>
        </p:spPr>
      </p:pic>
    </p:spTree>
    <p:extLst>
      <p:ext uri="{BB962C8B-B14F-4D97-AF65-F5344CB8AC3E}">
        <p14:creationId xmlns:p14="http://schemas.microsoft.com/office/powerpoint/2010/main" val="19636289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018D9BD9-D07C-4621-A81D-68C7D94CBF98}"/>
              </a:ext>
            </a:extLst>
          </p:cNvPr>
          <p:cNvSpPr>
            <a:spLocks noGrp="1"/>
          </p:cNvSpPr>
          <p:nvPr>
            <p:ph type="ftr" sz="quarter" idx="11"/>
          </p:nvPr>
        </p:nvSpPr>
        <p:spPr/>
        <p:txBody>
          <a:bodyPr/>
          <a:lstStyle/>
          <a:p>
            <a:r>
              <a:rPr lang="en-US"/>
              <a:t>8</a:t>
            </a:r>
          </a:p>
        </p:txBody>
      </p:sp>
      <p:grpSp>
        <p:nvGrpSpPr>
          <p:cNvPr id="5" name="Group 4">
            <a:extLst>
              <a:ext uri="{FF2B5EF4-FFF2-40B4-BE49-F238E27FC236}">
                <a16:creationId xmlns:a16="http://schemas.microsoft.com/office/drawing/2014/main" id="{2DA10C14-B360-441B-A263-A2997CBB403B}"/>
              </a:ext>
            </a:extLst>
          </p:cNvPr>
          <p:cNvGrpSpPr/>
          <p:nvPr/>
        </p:nvGrpSpPr>
        <p:grpSpPr>
          <a:xfrm>
            <a:off x="320040" y="271925"/>
            <a:ext cx="3895618" cy="630942"/>
            <a:chOff x="-715464" y="330973"/>
            <a:chExt cx="3873749" cy="630942"/>
          </a:xfrm>
        </p:grpSpPr>
        <p:sp>
          <p:nvSpPr>
            <p:cNvPr id="6" name="TextBox 5">
              <a:extLst>
                <a:ext uri="{FF2B5EF4-FFF2-40B4-BE49-F238E27FC236}">
                  <a16:creationId xmlns:a16="http://schemas.microsoft.com/office/drawing/2014/main" id="{373079EC-CF6D-42DE-A062-2DAD518D59E8}"/>
                </a:ext>
              </a:extLst>
            </p:cNvPr>
            <p:cNvSpPr txBox="1"/>
            <p:nvPr/>
          </p:nvSpPr>
          <p:spPr>
            <a:xfrm>
              <a:off x="-679596" y="330973"/>
              <a:ext cx="3802020" cy="630942"/>
            </a:xfrm>
            <a:prstGeom prst="rect">
              <a:avLst/>
            </a:prstGeom>
            <a:noFill/>
          </p:spPr>
          <p:txBody>
            <a:bodyPr wrap="none" rtlCol="0">
              <a:spAutoFit/>
            </a:bodyPr>
            <a:lstStyle/>
            <a:p>
              <a:pPr algn="ctr"/>
              <a:r>
                <a:rPr lang="en-US" sz="3500">
                  <a:latin typeface="Open Sans" panose="020B0606030504020204" pitchFamily="34" charset="0"/>
                  <a:ea typeface="Open Sans" panose="020B0606030504020204" pitchFamily="34" charset="0"/>
                  <a:cs typeface="Open Sans" panose="020B0606030504020204" pitchFamily="34" charset="0"/>
                </a:rPr>
                <a:t>Cảm biến DHT 11</a:t>
              </a:r>
            </a:p>
          </p:txBody>
        </p:sp>
        <p:cxnSp>
          <p:nvCxnSpPr>
            <p:cNvPr id="7" name="Straight Connector 6">
              <a:extLst>
                <a:ext uri="{FF2B5EF4-FFF2-40B4-BE49-F238E27FC236}">
                  <a16:creationId xmlns:a16="http://schemas.microsoft.com/office/drawing/2014/main" id="{72163109-B980-4091-BF86-9AA16F4B9F70}"/>
                </a:ext>
              </a:extLst>
            </p:cNvPr>
            <p:cNvCxnSpPr>
              <a:cxnSpLocks/>
            </p:cNvCxnSpPr>
            <p:nvPr/>
          </p:nvCxnSpPr>
          <p:spPr>
            <a:xfrm>
              <a:off x="-715464" y="961915"/>
              <a:ext cx="3873749" cy="0"/>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8" name="Group 7">
            <a:extLst>
              <a:ext uri="{FF2B5EF4-FFF2-40B4-BE49-F238E27FC236}">
                <a16:creationId xmlns:a16="http://schemas.microsoft.com/office/drawing/2014/main" id="{0E1E112F-1AE2-481F-BE19-D6CE51D35202}"/>
              </a:ext>
            </a:extLst>
          </p:cNvPr>
          <p:cNvGrpSpPr/>
          <p:nvPr/>
        </p:nvGrpSpPr>
        <p:grpSpPr>
          <a:xfrm>
            <a:off x="369342" y="1025912"/>
            <a:ext cx="11315400" cy="2849536"/>
            <a:chOff x="-348110" y="1447943"/>
            <a:chExt cx="11315400" cy="2849536"/>
          </a:xfrm>
        </p:grpSpPr>
        <p:pic>
          <p:nvPicPr>
            <p:cNvPr id="9" name="Picture 8" descr="Hình ảnh có liên quan">
              <a:extLst>
                <a:ext uri="{FF2B5EF4-FFF2-40B4-BE49-F238E27FC236}">
                  <a16:creationId xmlns:a16="http://schemas.microsoft.com/office/drawing/2014/main" id="{52CD132E-B3BC-4C39-9DC7-7F899A39C524}"/>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3879450" y="1447943"/>
              <a:ext cx="2914650" cy="2486025"/>
            </a:xfrm>
            <a:prstGeom prst="rect">
              <a:avLst/>
            </a:prstGeom>
            <a:noFill/>
            <a:ln>
              <a:noFill/>
            </a:ln>
          </p:spPr>
        </p:pic>
        <mc:AlternateContent xmlns:mc="http://schemas.openxmlformats.org/markup-compatibility/2006">
          <mc:Choice xmlns:a14="http://schemas.microsoft.com/office/drawing/2010/main" Requires="a14">
            <p:sp>
              <p:nvSpPr>
                <p:cNvPr id="10" name="Speech Bubble: Oval 9">
                  <a:extLst>
                    <a:ext uri="{FF2B5EF4-FFF2-40B4-BE49-F238E27FC236}">
                      <a16:creationId xmlns:a16="http://schemas.microsoft.com/office/drawing/2014/main" id="{729A2CE4-6DA1-463F-81C5-27735B9D57DA}"/>
                    </a:ext>
                  </a:extLst>
                </p:cNvPr>
                <p:cNvSpPr/>
                <p:nvPr/>
              </p:nvSpPr>
              <p:spPr>
                <a:xfrm>
                  <a:off x="-348110" y="2307826"/>
                  <a:ext cx="3669257" cy="1989653"/>
                </a:xfrm>
                <a:prstGeom prst="wedgeEllipseCallout">
                  <a:avLst>
                    <a:gd name="adj1" fmla="val 64928"/>
                    <a:gd name="adj2" fmla="val -35316"/>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2500">
                      <a:latin typeface="Open Sans" panose="020B0606030504020204" pitchFamily="34" charset="0"/>
                      <a:ea typeface="Open Sans" panose="020B0606030504020204" pitchFamily="34" charset="0"/>
                      <a:cs typeface="Open Sans" panose="020B0606030504020204" pitchFamily="34" charset="0"/>
                    </a:rPr>
                    <a:t>Nhiệt độ: </a:t>
                  </a:r>
                  <a:r>
                    <a:rPr lang="es-ES" sz="2500">
                      <a:latin typeface="Open Sans" panose="020B0606030504020204" pitchFamily="34" charset="0"/>
                      <a:ea typeface="Open Sans" panose="020B0606030504020204" pitchFamily="34" charset="0"/>
                      <a:cs typeface="Open Sans" panose="020B0606030504020204" pitchFamily="34" charset="0"/>
                    </a:rPr>
                    <a:t>0-50</a:t>
                  </a:r>
                  <a14:m>
                    <m:oMath xmlns:m="http://schemas.openxmlformats.org/officeDocument/2006/math">
                      <m:r>
                        <a:rPr lang="es-ES" sz="2500" i="1" smtClean="0">
                          <a:latin typeface="Cambria Math" panose="02040503050406030204" pitchFamily="18" charset="0"/>
                          <a:ea typeface="Cambria Math" panose="02040503050406030204" pitchFamily="18" charset="0"/>
                        </a:rPr>
                        <m:t>°</m:t>
                      </m:r>
                    </m:oMath>
                  </a14:m>
                  <a:r>
                    <a:rPr lang="es-ES" sz="2500">
                      <a:latin typeface="Open Sans" panose="020B0606030504020204" pitchFamily="34" charset="0"/>
                      <a:ea typeface="Open Sans" panose="020B0606030504020204" pitchFamily="34" charset="0"/>
                      <a:cs typeface="Open Sans" panose="020B0606030504020204" pitchFamily="34" charset="0"/>
                    </a:rPr>
                    <a:t>C ±2</a:t>
                  </a:r>
                  <a14:m>
                    <m:oMath xmlns:m="http://schemas.openxmlformats.org/officeDocument/2006/math">
                      <m:r>
                        <a:rPr lang="es-ES" sz="2500" i="1" smtClean="0">
                          <a:latin typeface="Cambria Math" panose="02040503050406030204" pitchFamily="18" charset="0"/>
                          <a:ea typeface="Cambria Math" panose="02040503050406030204" pitchFamily="18" charset="0"/>
                        </a:rPr>
                        <m:t>°</m:t>
                      </m:r>
                    </m:oMath>
                  </a14:m>
                  <a:r>
                    <a:rPr lang="es-ES" sz="2500">
                      <a:latin typeface="Open Sans" panose="020B0606030504020204" pitchFamily="34" charset="0"/>
                      <a:ea typeface="Open Sans" panose="020B0606030504020204" pitchFamily="34" charset="0"/>
                      <a:cs typeface="Open Sans" panose="020B0606030504020204" pitchFamily="34" charset="0"/>
                    </a:rPr>
                    <a:t>C</a:t>
                  </a:r>
                  <a:endParaRPr lang="en-US" sz="2500">
                    <a:latin typeface="Open Sans" panose="020B0606030504020204" pitchFamily="34" charset="0"/>
                    <a:ea typeface="Open Sans" panose="020B0606030504020204" pitchFamily="34" charset="0"/>
                    <a:cs typeface="Open Sans" panose="020B0606030504020204" pitchFamily="34" charset="0"/>
                  </a:endParaRPr>
                </a:p>
                <a:p>
                  <a:pPr algn="ctr"/>
                  <a:r>
                    <a:rPr lang="en-US" sz="2500">
                      <a:latin typeface="Open Sans" panose="020B0606030504020204" pitchFamily="34" charset="0"/>
                      <a:ea typeface="Open Sans" panose="020B0606030504020204" pitchFamily="34" charset="0"/>
                      <a:cs typeface="Open Sans" panose="020B0606030504020204" pitchFamily="34" charset="0"/>
                    </a:rPr>
                    <a:t>Độ ẩm: </a:t>
                  </a:r>
                  <a:r>
                    <a:rPr lang="es-ES" sz="2500">
                      <a:latin typeface="Open Sans" panose="020B0606030504020204" pitchFamily="34" charset="0"/>
                      <a:ea typeface="Open Sans" panose="020B0606030504020204" pitchFamily="34" charset="0"/>
                      <a:cs typeface="Open Sans" panose="020B0606030504020204" pitchFamily="34" charset="0"/>
                    </a:rPr>
                    <a:t>20-90% RH ±4% RH </a:t>
                  </a:r>
                  <a:endParaRPr lang="en-US" sz="2500">
                    <a:latin typeface="Open Sans" panose="020B0606030504020204" pitchFamily="34" charset="0"/>
                    <a:ea typeface="Open Sans" panose="020B0606030504020204" pitchFamily="34" charset="0"/>
                    <a:cs typeface="Open Sans" panose="020B0606030504020204" pitchFamily="34" charset="0"/>
                  </a:endParaRPr>
                </a:p>
              </p:txBody>
            </p:sp>
          </mc:Choice>
          <mc:Fallback>
            <p:sp>
              <p:nvSpPr>
                <p:cNvPr id="10" name="Speech Bubble: Oval 9">
                  <a:extLst>
                    <a:ext uri="{FF2B5EF4-FFF2-40B4-BE49-F238E27FC236}">
                      <a16:creationId xmlns:a16="http://schemas.microsoft.com/office/drawing/2014/main" id="{729A2CE4-6DA1-463F-81C5-27735B9D57DA}"/>
                    </a:ext>
                  </a:extLst>
                </p:cNvPr>
                <p:cNvSpPr>
                  <a:spLocks noRot="1" noChangeAspect="1" noMove="1" noResize="1" noEditPoints="1" noAdjustHandles="1" noChangeArrowheads="1" noChangeShapeType="1" noTextEdit="1"/>
                </p:cNvSpPr>
                <p:nvPr/>
              </p:nvSpPr>
              <p:spPr>
                <a:xfrm>
                  <a:off x="-348110" y="2307826"/>
                  <a:ext cx="3669257" cy="1989653"/>
                </a:xfrm>
                <a:prstGeom prst="wedgeEllipseCallout">
                  <a:avLst>
                    <a:gd name="adj1" fmla="val 64928"/>
                    <a:gd name="adj2" fmla="val -35316"/>
                  </a:avLst>
                </a:prstGeom>
                <a:blipFill>
                  <a:blip r:embed="rId3"/>
                  <a:stretch>
                    <a:fillRect/>
                  </a:stretch>
                </a:blipFill>
              </p:spPr>
              <p:txBody>
                <a:bodyPr/>
                <a:lstStyle/>
                <a:p>
                  <a:r>
                    <a:rPr lang="en-US">
                      <a:noFill/>
                    </a:rPr>
                    <a:t> </a:t>
                  </a:r>
                </a:p>
              </p:txBody>
            </p:sp>
          </mc:Fallback>
        </mc:AlternateContent>
        <p:grpSp>
          <p:nvGrpSpPr>
            <p:cNvPr id="11" name="Group 10">
              <a:extLst>
                <a:ext uri="{FF2B5EF4-FFF2-40B4-BE49-F238E27FC236}">
                  <a16:creationId xmlns:a16="http://schemas.microsoft.com/office/drawing/2014/main" id="{E1FF3A0C-C25E-4342-A4D2-B83B3636D1D2}"/>
                </a:ext>
              </a:extLst>
            </p:cNvPr>
            <p:cNvGrpSpPr/>
            <p:nvPr/>
          </p:nvGrpSpPr>
          <p:grpSpPr>
            <a:xfrm>
              <a:off x="6794100" y="1683198"/>
              <a:ext cx="4173190" cy="2015516"/>
              <a:chOff x="3583901" y="5287383"/>
              <a:chExt cx="4173190" cy="2015516"/>
            </a:xfrm>
          </p:grpSpPr>
          <p:pic>
            <p:nvPicPr>
              <p:cNvPr id="18" name="Picture 17">
                <a:extLst>
                  <a:ext uri="{FF2B5EF4-FFF2-40B4-BE49-F238E27FC236}">
                    <a16:creationId xmlns:a16="http://schemas.microsoft.com/office/drawing/2014/main" id="{50AC5B78-FAB9-427D-8F96-0C303E7C448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41575" y="5287383"/>
                <a:ext cx="2015516" cy="2015516"/>
              </a:xfrm>
              <a:prstGeom prst="rect">
                <a:avLst/>
              </a:prstGeom>
            </p:spPr>
          </p:pic>
          <p:cxnSp>
            <p:nvCxnSpPr>
              <p:cNvPr id="19" name="Straight Arrow Connector 18">
                <a:extLst>
                  <a:ext uri="{FF2B5EF4-FFF2-40B4-BE49-F238E27FC236}">
                    <a16:creationId xmlns:a16="http://schemas.microsoft.com/office/drawing/2014/main" id="{26D3AFC7-5862-4EB9-9A49-A7D63835F2CC}"/>
                  </a:ext>
                </a:extLst>
              </p:cNvPr>
              <p:cNvCxnSpPr>
                <a:cxnSpLocks/>
                <a:stCxn id="9" idx="3"/>
                <a:endCxn id="18" idx="1"/>
              </p:cNvCxnSpPr>
              <p:nvPr/>
            </p:nvCxnSpPr>
            <p:spPr>
              <a:xfrm>
                <a:off x="3583901" y="6295141"/>
                <a:ext cx="2157674" cy="0"/>
              </a:xfrm>
              <a:prstGeom prst="straightConnector1">
                <a:avLst/>
              </a:prstGeom>
              <a:ln w="76200">
                <a:headEnd type="triangle"/>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5C635550-CB05-46CC-BE33-E59B3AB7D22F}"/>
                  </a:ext>
                </a:extLst>
              </p:cNvPr>
              <p:cNvSpPr txBox="1"/>
              <p:nvPr/>
            </p:nvSpPr>
            <p:spPr>
              <a:xfrm>
                <a:off x="4366185" y="5735545"/>
                <a:ext cx="665567" cy="477054"/>
              </a:xfrm>
              <a:prstGeom prst="rect">
                <a:avLst/>
              </a:prstGeom>
              <a:noFill/>
            </p:spPr>
            <p:txBody>
              <a:bodyPr wrap="none" rtlCol="0">
                <a:spAutoFit/>
              </a:bodyPr>
              <a:lstStyle/>
              <a:p>
                <a:r>
                  <a:rPr lang="en-US" sz="2500">
                    <a:latin typeface="Open Sans" panose="020B0606030504020204" pitchFamily="34" charset="0"/>
                    <a:ea typeface="Open Sans" panose="020B0606030504020204" pitchFamily="34" charset="0"/>
                    <a:cs typeface="Open Sans" panose="020B0606030504020204" pitchFamily="34" charset="0"/>
                  </a:rPr>
                  <a:t>2m</a:t>
                </a:r>
              </a:p>
            </p:txBody>
          </p:sp>
        </p:grpSp>
        <p:cxnSp>
          <p:nvCxnSpPr>
            <p:cNvPr id="12" name="Straight Arrow Connector 11">
              <a:extLst>
                <a:ext uri="{FF2B5EF4-FFF2-40B4-BE49-F238E27FC236}">
                  <a16:creationId xmlns:a16="http://schemas.microsoft.com/office/drawing/2014/main" id="{104864AE-48FA-4CB9-AE0E-DB9DDA8545A9}"/>
                </a:ext>
              </a:extLst>
            </p:cNvPr>
            <p:cNvCxnSpPr>
              <a:stCxn id="9" idx="1"/>
              <a:endCxn id="9" idx="2"/>
            </p:cNvCxnSpPr>
            <p:nvPr/>
          </p:nvCxnSpPr>
          <p:spPr>
            <a:xfrm>
              <a:off x="3879450" y="2690956"/>
              <a:ext cx="1457325" cy="1243012"/>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E6CEE757-0FDF-4B7A-97EB-236ADD92A10C}"/>
                </a:ext>
              </a:extLst>
            </p:cNvPr>
            <p:cNvCxnSpPr>
              <a:cxnSpLocks/>
            </p:cNvCxnSpPr>
            <p:nvPr/>
          </p:nvCxnSpPr>
          <p:spPr>
            <a:xfrm flipV="1">
              <a:off x="6096000" y="3424040"/>
              <a:ext cx="870499" cy="789513"/>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8D1842D4-F4B5-4D30-A06C-FEA3755B63A1}"/>
                </a:ext>
              </a:extLst>
            </p:cNvPr>
            <p:cNvCxnSpPr/>
            <p:nvPr/>
          </p:nvCxnSpPr>
          <p:spPr>
            <a:xfrm flipV="1">
              <a:off x="3707051" y="1886680"/>
              <a:ext cx="172399" cy="421146"/>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58E7C94E-EA89-4C5D-ACA8-956ABF904F81}"/>
                </a:ext>
              </a:extLst>
            </p:cNvPr>
            <p:cNvSpPr txBox="1"/>
            <p:nvPr/>
          </p:nvSpPr>
          <p:spPr>
            <a:xfrm rot="17731116">
              <a:off x="3130672" y="1868157"/>
              <a:ext cx="938077" cy="369332"/>
            </a:xfrm>
            <a:prstGeom prst="rect">
              <a:avLst/>
            </a:prstGeom>
            <a:noFill/>
          </p:spPr>
          <p:txBody>
            <a:bodyPr wrap="none" rtlCol="0">
              <a:spAutoFit/>
            </a:bodyPr>
            <a:lstStyle/>
            <a:p>
              <a:r>
                <a:rPr lang="en-US">
                  <a:latin typeface="Open Sans" panose="020B0606030504020204" pitchFamily="34" charset="0"/>
                  <a:ea typeface="Open Sans" panose="020B0606030504020204" pitchFamily="34" charset="0"/>
                  <a:cs typeface="Open Sans" panose="020B0606030504020204" pitchFamily="34" charset="0"/>
                </a:rPr>
                <a:t>5.5mm</a:t>
              </a:r>
            </a:p>
          </p:txBody>
        </p:sp>
        <p:sp>
          <p:nvSpPr>
            <p:cNvPr id="16" name="TextBox 15">
              <a:extLst>
                <a:ext uri="{FF2B5EF4-FFF2-40B4-BE49-F238E27FC236}">
                  <a16:creationId xmlns:a16="http://schemas.microsoft.com/office/drawing/2014/main" id="{F5867185-2628-4221-851F-31E7B9AC9AB5}"/>
                </a:ext>
              </a:extLst>
            </p:cNvPr>
            <p:cNvSpPr txBox="1"/>
            <p:nvPr/>
          </p:nvSpPr>
          <p:spPr>
            <a:xfrm rot="2591962">
              <a:off x="3774729" y="3208371"/>
              <a:ext cx="1069524" cy="369332"/>
            </a:xfrm>
            <a:prstGeom prst="rect">
              <a:avLst/>
            </a:prstGeom>
            <a:noFill/>
          </p:spPr>
          <p:txBody>
            <a:bodyPr wrap="none" rtlCol="0">
              <a:spAutoFit/>
            </a:bodyPr>
            <a:lstStyle/>
            <a:p>
              <a:r>
                <a:rPr lang="en-US">
                  <a:latin typeface="Open Sans" panose="020B0606030504020204" pitchFamily="34" charset="0"/>
                  <a:ea typeface="Open Sans" panose="020B0606030504020204" pitchFamily="34" charset="0"/>
                  <a:cs typeface="Open Sans" panose="020B0606030504020204" pitchFamily="34" charset="0"/>
                </a:rPr>
                <a:t>15.5mm</a:t>
              </a:r>
            </a:p>
          </p:txBody>
        </p:sp>
        <p:sp>
          <p:nvSpPr>
            <p:cNvPr id="17" name="TextBox 16">
              <a:extLst>
                <a:ext uri="{FF2B5EF4-FFF2-40B4-BE49-F238E27FC236}">
                  <a16:creationId xmlns:a16="http://schemas.microsoft.com/office/drawing/2014/main" id="{EF3557AF-0A0F-4752-8B1F-204D55884F6A}"/>
                </a:ext>
              </a:extLst>
            </p:cNvPr>
            <p:cNvSpPr txBox="1"/>
            <p:nvPr/>
          </p:nvSpPr>
          <p:spPr>
            <a:xfrm rot="18970648">
              <a:off x="6259338" y="3889095"/>
              <a:ext cx="1069524" cy="369332"/>
            </a:xfrm>
            <a:prstGeom prst="rect">
              <a:avLst/>
            </a:prstGeom>
            <a:noFill/>
          </p:spPr>
          <p:txBody>
            <a:bodyPr wrap="none" rtlCol="0">
              <a:spAutoFit/>
            </a:bodyPr>
            <a:lstStyle/>
            <a:p>
              <a:r>
                <a:rPr lang="en-US">
                  <a:latin typeface="Open Sans" panose="020B0606030504020204" pitchFamily="34" charset="0"/>
                  <a:ea typeface="Open Sans" panose="020B0606030504020204" pitchFamily="34" charset="0"/>
                  <a:cs typeface="Open Sans" panose="020B0606030504020204" pitchFamily="34" charset="0"/>
                </a:rPr>
                <a:t>2.54mm</a:t>
              </a:r>
            </a:p>
          </p:txBody>
        </p:sp>
      </p:grpSp>
      <p:grpSp>
        <p:nvGrpSpPr>
          <p:cNvPr id="23" name="Group 22">
            <a:extLst>
              <a:ext uri="{FF2B5EF4-FFF2-40B4-BE49-F238E27FC236}">
                <a16:creationId xmlns:a16="http://schemas.microsoft.com/office/drawing/2014/main" id="{428B4A2B-EB37-4B30-9479-53F6C33EEF49}"/>
              </a:ext>
            </a:extLst>
          </p:cNvPr>
          <p:cNvGrpSpPr/>
          <p:nvPr/>
        </p:nvGrpSpPr>
        <p:grpSpPr>
          <a:xfrm>
            <a:off x="323762" y="4287112"/>
            <a:ext cx="11101816" cy="1888221"/>
            <a:chOff x="3834993" y="4640062"/>
            <a:chExt cx="8115712" cy="1754800"/>
          </a:xfrm>
        </p:grpSpPr>
        <p:grpSp>
          <p:nvGrpSpPr>
            <p:cNvPr id="24" name="Group 23">
              <a:extLst>
                <a:ext uri="{FF2B5EF4-FFF2-40B4-BE49-F238E27FC236}">
                  <a16:creationId xmlns:a16="http://schemas.microsoft.com/office/drawing/2014/main" id="{FC3DB299-1A83-4AE3-80EB-BBB458B1D40F}"/>
                </a:ext>
              </a:extLst>
            </p:cNvPr>
            <p:cNvGrpSpPr/>
            <p:nvPr/>
          </p:nvGrpSpPr>
          <p:grpSpPr>
            <a:xfrm>
              <a:off x="3920070" y="5201259"/>
              <a:ext cx="8030635" cy="1193603"/>
              <a:chOff x="-366242" y="-1"/>
              <a:chExt cx="9502195" cy="1258645"/>
            </a:xfrm>
          </p:grpSpPr>
          <p:sp>
            <p:nvSpPr>
              <p:cNvPr id="26" name="Rectangle 25">
                <a:extLst>
                  <a:ext uri="{FF2B5EF4-FFF2-40B4-BE49-F238E27FC236}">
                    <a16:creationId xmlns:a16="http://schemas.microsoft.com/office/drawing/2014/main" id="{A6966B9D-79FD-474E-B2D5-32E696CEAB40}"/>
                  </a:ext>
                </a:extLst>
              </p:cNvPr>
              <p:cNvSpPr/>
              <p:nvPr/>
            </p:nvSpPr>
            <p:spPr>
              <a:xfrm>
                <a:off x="-366242" y="17"/>
                <a:ext cx="2270940" cy="1258627"/>
              </a:xfrm>
              <a:prstGeom prst="rect">
                <a:avLst/>
              </a:prstGeom>
              <a:ln w="3175"/>
            </p:spPr>
            <p:style>
              <a:lnRef idx="2">
                <a:schemeClr val="dk1"/>
              </a:lnRef>
              <a:fillRef idx="1">
                <a:schemeClr val="lt1"/>
              </a:fillRef>
              <a:effectRef idx="0">
                <a:schemeClr val="dk1"/>
              </a:effectRef>
              <a:fontRef idx="minor">
                <a:schemeClr val="dk1"/>
              </a:fontRef>
            </p:style>
            <p:txBody>
              <a:bodyPr rtlCol="0" anchor="ctr"/>
              <a:lstStyle/>
              <a:p>
                <a:pPr algn="ctr">
                  <a:spcAft>
                    <a:spcPts val="0"/>
                  </a:spcAft>
                </a:pPr>
                <a:r>
                  <a:rPr lang="vi-VN" sz="2500">
                    <a:solidFill>
                      <a:schemeClr val="tx1"/>
                    </a:solidFill>
                    <a:latin typeface="Open Sans" panose="020B0606030504020204" pitchFamily="34" charset="0"/>
                    <a:ea typeface="Open Sans" panose="020B0606030504020204" pitchFamily="34" charset="0"/>
                    <a:cs typeface="Open Sans" panose="020B0606030504020204" pitchFamily="34" charset="0"/>
                  </a:rPr>
                  <a:t>Môi trường có nhiệt độ, độ ẩm thay đổi</a:t>
                </a:r>
                <a:endParaRPr lang="en-US" sz="250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7" name="Rectangle 26">
                <a:extLst>
                  <a:ext uri="{FF2B5EF4-FFF2-40B4-BE49-F238E27FC236}">
                    <a16:creationId xmlns:a16="http://schemas.microsoft.com/office/drawing/2014/main" id="{08BF75F3-2044-4EED-B0F4-FD0AC23949A3}"/>
                  </a:ext>
                </a:extLst>
              </p:cNvPr>
              <p:cNvSpPr/>
              <p:nvPr/>
            </p:nvSpPr>
            <p:spPr>
              <a:xfrm>
                <a:off x="2512128" y="0"/>
                <a:ext cx="1722853" cy="1258627"/>
              </a:xfrm>
              <a:prstGeom prst="rect">
                <a:avLst/>
              </a:prstGeom>
              <a:ln w="3175"/>
            </p:spPr>
            <p:style>
              <a:lnRef idx="2">
                <a:schemeClr val="dk1"/>
              </a:lnRef>
              <a:fillRef idx="1">
                <a:schemeClr val="lt1"/>
              </a:fillRef>
              <a:effectRef idx="0">
                <a:schemeClr val="dk1"/>
              </a:effectRef>
              <a:fontRef idx="minor">
                <a:schemeClr val="dk1"/>
              </a:fontRef>
            </p:style>
            <p:txBody>
              <a:bodyPr rtlCol="0" anchor="ctr"/>
              <a:lstStyle/>
              <a:p>
                <a:pPr algn="ctr">
                  <a:spcAft>
                    <a:spcPts val="0"/>
                  </a:spcAft>
                </a:pPr>
                <a:r>
                  <a:rPr lang="vi-VN" sz="2500">
                    <a:solidFill>
                      <a:schemeClr val="tx1"/>
                    </a:solidFill>
                    <a:latin typeface="Open Sans" panose="020B0606030504020204" pitchFamily="34" charset="0"/>
                    <a:ea typeface="Open Sans" panose="020B0606030504020204" pitchFamily="34" charset="0"/>
                    <a:cs typeface="Open Sans" panose="020B0606030504020204" pitchFamily="34" charset="0"/>
                  </a:rPr>
                  <a:t>Cảm biến</a:t>
                </a:r>
                <a:endParaRPr lang="en-US" sz="250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8" name="Rectangle 27">
                <a:extLst>
                  <a:ext uri="{FF2B5EF4-FFF2-40B4-BE49-F238E27FC236}">
                    <a16:creationId xmlns:a16="http://schemas.microsoft.com/office/drawing/2014/main" id="{F2011670-7C46-4F33-B3D0-9B0743120C83}"/>
                  </a:ext>
                </a:extLst>
              </p:cNvPr>
              <p:cNvSpPr/>
              <p:nvPr/>
            </p:nvSpPr>
            <p:spPr>
              <a:xfrm>
                <a:off x="4942084" y="-1"/>
                <a:ext cx="1743383" cy="1258580"/>
              </a:xfrm>
              <a:prstGeom prst="rect">
                <a:avLst/>
              </a:prstGeom>
              <a:ln w="3175"/>
            </p:spPr>
            <p:style>
              <a:lnRef idx="2">
                <a:schemeClr val="dk1"/>
              </a:lnRef>
              <a:fillRef idx="1">
                <a:schemeClr val="lt1"/>
              </a:fillRef>
              <a:effectRef idx="0">
                <a:schemeClr val="dk1"/>
              </a:effectRef>
              <a:fontRef idx="minor">
                <a:schemeClr val="dk1"/>
              </a:fontRef>
            </p:style>
            <p:txBody>
              <a:bodyPr rtlCol="0" anchor="ctr"/>
              <a:lstStyle/>
              <a:p>
                <a:pPr algn="ctr">
                  <a:spcAft>
                    <a:spcPts val="0"/>
                  </a:spcAft>
                </a:pPr>
                <a:r>
                  <a:rPr lang="vi-VN" sz="2500">
                    <a:solidFill>
                      <a:schemeClr val="tx1"/>
                    </a:solidFill>
                    <a:latin typeface="Open Sans" panose="020B0606030504020204" pitchFamily="34" charset="0"/>
                    <a:ea typeface="Open Sans" panose="020B0606030504020204" pitchFamily="34" charset="0"/>
                    <a:cs typeface="Open Sans" panose="020B0606030504020204" pitchFamily="34" charset="0"/>
                  </a:rPr>
                  <a:t>Truyền dữ liệu lên server</a:t>
                </a:r>
                <a:endParaRPr lang="en-US" sz="250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9" name="Rectangle 28">
                <a:extLst>
                  <a:ext uri="{FF2B5EF4-FFF2-40B4-BE49-F238E27FC236}">
                    <a16:creationId xmlns:a16="http://schemas.microsoft.com/office/drawing/2014/main" id="{279D6120-940F-4D19-AC11-F8665DABB0F4}"/>
                  </a:ext>
                </a:extLst>
              </p:cNvPr>
              <p:cNvSpPr/>
              <p:nvPr/>
            </p:nvSpPr>
            <p:spPr>
              <a:xfrm>
                <a:off x="7392570" y="-1"/>
                <a:ext cx="1743383" cy="1258569"/>
              </a:xfrm>
              <a:prstGeom prst="rect">
                <a:avLst/>
              </a:prstGeom>
              <a:ln w="3175"/>
            </p:spPr>
            <p:style>
              <a:lnRef idx="2">
                <a:schemeClr val="dk1"/>
              </a:lnRef>
              <a:fillRef idx="1">
                <a:schemeClr val="lt1"/>
              </a:fillRef>
              <a:effectRef idx="0">
                <a:schemeClr val="dk1"/>
              </a:effectRef>
              <a:fontRef idx="minor">
                <a:schemeClr val="dk1"/>
              </a:fontRef>
            </p:style>
            <p:txBody>
              <a:bodyPr rtlCol="0" anchor="ctr"/>
              <a:lstStyle/>
              <a:p>
                <a:pPr algn="ctr">
                  <a:spcAft>
                    <a:spcPts val="0"/>
                  </a:spcAft>
                </a:pPr>
                <a:r>
                  <a:rPr lang="vi-VN" sz="2500">
                    <a:solidFill>
                      <a:schemeClr val="tx1"/>
                    </a:solidFill>
                    <a:latin typeface="Open Sans" panose="020B0606030504020204" pitchFamily="34" charset="0"/>
                    <a:ea typeface="Open Sans" panose="020B0606030504020204" pitchFamily="34" charset="0"/>
                    <a:cs typeface="Open Sans" panose="020B0606030504020204" pitchFamily="34" charset="0"/>
                  </a:rPr>
                  <a:t>Hiển thị dữ liệu cho người dùng</a:t>
                </a:r>
                <a:endParaRPr lang="en-US" sz="250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cxnSp>
            <p:nvCxnSpPr>
              <p:cNvPr id="30" name="Straight Arrow Connector 29">
                <a:extLst>
                  <a:ext uri="{FF2B5EF4-FFF2-40B4-BE49-F238E27FC236}">
                    <a16:creationId xmlns:a16="http://schemas.microsoft.com/office/drawing/2014/main" id="{364BF344-601C-48C2-A580-DAFB0C521879}"/>
                  </a:ext>
                </a:extLst>
              </p:cNvPr>
              <p:cNvCxnSpPr>
                <a:cxnSpLocks/>
                <a:stCxn id="26" idx="3"/>
                <a:endCxn id="27" idx="1"/>
              </p:cNvCxnSpPr>
              <p:nvPr/>
            </p:nvCxnSpPr>
            <p:spPr>
              <a:xfrm flipV="1">
                <a:off x="1904698" y="629314"/>
                <a:ext cx="607430" cy="17"/>
              </a:xfrm>
              <a:prstGeom prst="straightConnector1">
                <a:avLst/>
              </a:prstGeom>
              <a:ln w="3175">
                <a:tailEnd type="triangle"/>
              </a:ln>
            </p:spPr>
            <p:style>
              <a:lnRef idx="2">
                <a:schemeClr val="dk1"/>
              </a:lnRef>
              <a:fillRef idx="1">
                <a:schemeClr val="lt1"/>
              </a:fillRef>
              <a:effectRef idx="0">
                <a:schemeClr val="dk1"/>
              </a:effectRef>
              <a:fontRef idx="minor">
                <a:schemeClr val="dk1"/>
              </a:fontRef>
            </p:style>
          </p:cxnSp>
          <p:cxnSp>
            <p:nvCxnSpPr>
              <p:cNvPr id="31" name="Straight Arrow Connector 30">
                <a:extLst>
                  <a:ext uri="{FF2B5EF4-FFF2-40B4-BE49-F238E27FC236}">
                    <a16:creationId xmlns:a16="http://schemas.microsoft.com/office/drawing/2014/main" id="{2FD4030B-90EE-4259-897B-6507F03C2C70}"/>
                  </a:ext>
                </a:extLst>
              </p:cNvPr>
              <p:cNvCxnSpPr>
                <a:cxnSpLocks/>
                <a:stCxn id="27" idx="3"/>
                <a:endCxn id="28" idx="1"/>
              </p:cNvCxnSpPr>
              <p:nvPr/>
            </p:nvCxnSpPr>
            <p:spPr>
              <a:xfrm flipV="1">
                <a:off x="4234981" y="629290"/>
                <a:ext cx="707103" cy="24"/>
              </a:xfrm>
              <a:prstGeom prst="straightConnector1">
                <a:avLst/>
              </a:prstGeom>
              <a:ln w="3175">
                <a:tailEnd type="triangle"/>
              </a:ln>
            </p:spPr>
            <p:style>
              <a:lnRef idx="2">
                <a:schemeClr val="dk1"/>
              </a:lnRef>
              <a:fillRef idx="1">
                <a:schemeClr val="lt1"/>
              </a:fillRef>
              <a:effectRef idx="0">
                <a:schemeClr val="dk1"/>
              </a:effectRef>
              <a:fontRef idx="minor">
                <a:schemeClr val="dk1"/>
              </a:fontRef>
            </p:style>
          </p:cxnSp>
          <p:cxnSp>
            <p:nvCxnSpPr>
              <p:cNvPr id="32" name="Straight Arrow Connector 31">
                <a:extLst>
                  <a:ext uri="{FF2B5EF4-FFF2-40B4-BE49-F238E27FC236}">
                    <a16:creationId xmlns:a16="http://schemas.microsoft.com/office/drawing/2014/main" id="{C6E43117-7875-40B4-8A1D-1448F372395A}"/>
                  </a:ext>
                </a:extLst>
              </p:cNvPr>
              <p:cNvCxnSpPr>
                <a:cxnSpLocks/>
                <a:stCxn id="28" idx="3"/>
                <a:endCxn id="29" idx="1"/>
              </p:cNvCxnSpPr>
              <p:nvPr/>
            </p:nvCxnSpPr>
            <p:spPr>
              <a:xfrm flipV="1">
                <a:off x="6685467" y="629284"/>
                <a:ext cx="707102" cy="6"/>
              </a:xfrm>
              <a:prstGeom prst="straightConnector1">
                <a:avLst/>
              </a:prstGeom>
              <a:ln w="3175">
                <a:tailEnd type="triangle"/>
              </a:ln>
            </p:spPr>
            <p:style>
              <a:lnRef idx="2">
                <a:schemeClr val="dk1"/>
              </a:lnRef>
              <a:fillRef idx="1">
                <a:schemeClr val="lt1"/>
              </a:fillRef>
              <a:effectRef idx="0">
                <a:schemeClr val="dk1"/>
              </a:effectRef>
              <a:fontRef idx="minor">
                <a:schemeClr val="dk1"/>
              </a:fontRef>
            </p:style>
          </p:cxnSp>
        </p:grpSp>
        <p:sp>
          <p:nvSpPr>
            <p:cNvPr id="25" name="TextBox 24">
              <a:extLst>
                <a:ext uri="{FF2B5EF4-FFF2-40B4-BE49-F238E27FC236}">
                  <a16:creationId xmlns:a16="http://schemas.microsoft.com/office/drawing/2014/main" id="{65E1C8EB-F167-4A46-8040-D7B0F705411B}"/>
                </a:ext>
              </a:extLst>
            </p:cNvPr>
            <p:cNvSpPr txBox="1"/>
            <p:nvPr/>
          </p:nvSpPr>
          <p:spPr>
            <a:xfrm>
              <a:off x="3834993" y="4640062"/>
              <a:ext cx="2375547" cy="443346"/>
            </a:xfrm>
            <a:prstGeom prst="rect">
              <a:avLst/>
            </a:prstGeom>
            <a:noFill/>
          </p:spPr>
          <p:txBody>
            <a:bodyPr wrap="none" rtlCol="0">
              <a:spAutoFit/>
            </a:bodyPr>
            <a:lstStyle/>
            <a:p>
              <a:r>
                <a:rPr lang="en-US" sz="2500" b="1">
                  <a:solidFill>
                    <a:schemeClr val="bg1">
                      <a:lumMod val="50000"/>
                    </a:schemeClr>
                  </a:solidFill>
                  <a:latin typeface="Open Sans" panose="020B0606030504020204" pitchFamily="34" charset="0"/>
                  <a:ea typeface="Open Sans" panose="020B0606030504020204" pitchFamily="34" charset="0"/>
                  <a:cs typeface="Open Sans" panose="020B0606030504020204" pitchFamily="34" charset="0"/>
                </a:rPr>
                <a:t>DHT 11 trong đề tài</a:t>
              </a:r>
            </a:p>
          </p:txBody>
        </p:sp>
      </p:grpSp>
    </p:spTree>
    <p:extLst>
      <p:ext uri="{BB962C8B-B14F-4D97-AF65-F5344CB8AC3E}">
        <p14:creationId xmlns:p14="http://schemas.microsoft.com/office/powerpoint/2010/main" val="22156498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018D9BD9-D07C-4621-A81D-68C7D94CBF98}"/>
              </a:ext>
            </a:extLst>
          </p:cNvPr>
          <p:cNvSpPr>
            <a:spLocks noGrp="1"/>
          </p:cNvSpPr>
          <p:nvPr>
            <p:ph type="ftr" sz="quarter" idx="11"/>
          </p:nvPr>
        </p:nvSpPr>
        <p:spPr/>
        <p:txBody>
          <a:bodyPr/>
          <a:lstStyle/>
          <a:p>
            <a:r>
              <a:rPr lang="en-US"/>
              <a:t>9</a:t>
            </a:r>
          </a:p>
        </p:txBody>
      </p:sp>
      <p:grpSp>
        <p:nvGrpSpPr>
          <p:cNvPr id="5" name="Group 4">
            <a:extLst>
              <a:ext uri="{FF2B5EF4-FFF2-40B4-BE49-F238E27FC236}">
                <a16:creationId xmlns:a16="http://schemas.microsoft.com/office/drawing/2014/main" id="{2DA10C14-B360-441B-A263-A2997CBB403B}"/>
              </a:ext>
            </a:extLst>
          </p:cNvPr>
          <p:cNvGrpSpPr/>
          <p:nvPr/>
        </p:nvGrpSpPr>
        <p:grpSpPr>
          <a:xfrm>
            <a:off x="320040" y="271925"/>
            <a:ext cx="3895618" cy="630942"/>
            <a:chOff x="-715464" y="330973"/>
            <a:chExt cx="3873749" cy="630942"/>
          </a:xfrm>
        </p:grpSpPr>
        <p:sp>
          <p:nvSpPr>
            <p:cNvPr id="6" name="TextBox 5">
              <a:extLst>
                <a:ext uri="{FF2B5EF4-FFF2-40B4-BE49-F238E27FC236}">
                  <a16:creationId xmlns:a16="http://schemas.microsoft.com/office/drawing/2014/main" id="{373079EC-CF6D-42DE-A062-2DAD518D59E8}"/>
                </a:ext>
              </a:extLst>
            </p:cNvPr>
            <p:cNvSpPr txBox="1"/>
            <p:nvPr/>
          </p:nvSpPr>
          <p:spPr>
            <a:xfrm>
              <a:off x="-603880" y="330973"/>
              <a:ext cx="3650589" cy="630942"/>
            </a:xfrm>
            <a:prstGeom prst="rect">
              <a:avLst/>
            </a:prstGeom>
            <a:noFill/>
          </p:spPr>
          <p:txBody>
            <a:bodyPr wrap="none" rtlCol="0">
              <a:spAutoFit/>
            </a:bodyPr>
            <a:lstStyle/>
            <a:p>
              <a:pPr algn="ctr"/>
              <a:r>
                <a:rPr lang="en-US" sz="3500">
                  <a:latin typeface="Open Sans" panose="020B0606030504020204" pitchFamily="34" charset="0"/>
                  <a:ea typeface="Open Sans" panose="020B0606030504020204" pitchFamily="34" charset="0"/>
                  <a:cs typeface="Open Sans" panose="020B0606030504020204" pitchFamily="34" charset="0"/>
                </a:rPr>
                <a:t>Cảm biến MQ 02</a:t>
              </a:r>
            </a:p>
          </p:txBody>
        </p:sp>
        <p:cxnSp>
          <p:nvCxnSpPr>
            <p:cNvPr id="7" name="Straight Connector 6">
              <a:extLst>
                <a:ext uri="{FF2B5EF4-FFF2-40B4-BE49-F238E27FC236}">
                  <a16:creationId xmlns:a16="http://schemas.microsoft.com/office/drawing/2014/main" id="{72163109-B980-4091-BF86-9AA16F4B9F70}"/>
                </a:ext>
              </a:extLst>
            </p:cNvPr>
            <p:cNvCxnSpPr>
              <a:cxnSpLocks/>
            </p:cNvCxnSpPr>
            <p:nvPr/>
          </p:nvCxnSpPr>
          <p:spPr>
            <a:xfrm>
              <a:off x="-715464" y="961915"/>
              <a:ext cx="3873749" cy="0"/>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23" name="Group 22">
            <a:extLst>
              <a:ext uri="{FF2B5EF4-FFF2-40B4-BE49-F238E27FC236}">
                <a16:creationId xmlns:a16="http://schemas.microsoft.com/office/drawing/2014/main" id="{428B4A2B-EB37-4B30-9479-53F6C33EEF49}"/>
              </a:ext>
            </a:extLst>
          </p:cNvPr>
          <p:cNvGrpSpPr/>
          <p:nvPr/>
        </p:nvGrpSpPr>
        <p:grpSpPr>
          <a:xfrm>
            <a:off x="323762" y="4287112"/>
            <a:ext cx="11101816" cy="1888221"/>
            <a:chOff x="3834993" y="4640062"/>
            <a:chExt cx="8115712" cy="1754800"/>
          </a:xfrm>
        </p:grpSpPr>
        <p:grpSp>
          <p:nvGrpSpPr>
            <p:cNvPr id="24" name="Group 23">
              <a:extLst>
                <a:ext uri="{FF2B5EF4-FFF2-40B4-BE49-F238E27FC236}">
                  <a16:creationId xmlns:a16="http://schemas.microsoft.com/office/drawing/2014/main" id="{FC3DB299-1A83-4AE3-80EB-BBB458B1D40F}"/>
                </a:ext>
              </a:extLst>
            </p:cNvPr>
            <p:cNvGrpSpPr/>
            <p:nvPr/>
          </p:nvGrpSpPr>
          <p:grpSpPr>
            <a:xfrm>
              <a:off x="3920070" y="5201259"/>
              <a:ext cx="8030635" cy="1193603"/>
              <a:chOff x="-366242" y="-1"/>
              <a:chExt cx="9502195" cy="1258645"/>
            </a:xfrm>
          </p:grpSpPr>
          <p:sp>
            <p:nvSpPr>
              <p:cNvPr id="26" name="Rectangle 25">
                <a:extLst>
                  <a:ext uri="{FF2B5EF4-FFF2-40B4-BE49-F238E27FC236}">
                    <a16:creationId xmlns:a16="http://schemas.microsoft.com/office/drawing/2014/main" id="{A6966B9D-79FD-474E-B2D5-32E696CEAB40}"/>
                  </a:ext>
                </a:extLst>
              </p:cNvPr>
              <p:cNvSpPr/>
              <p:nvPr/>
            </p:nvSpPr>
            <p:spPr>
              <a:xfrm>
                <a:off x="-366242" y="17"/>
                <a:ext cx="2270940" cy="1258627"/>
              </a:xfrm>
              <a:prstGeom prst="rect">
                <a:avLst/>
              </a:prstGeom>
              <a:ln w="3175"/>
            </p:spPr>
            <p:style>
              <a:lnRef idx="2">
                <a:schemeClr val="dk1"/>
              </a:lnRef>
              <a:fillRef idx="1">
                <a:schemeClr val="lt1"/>
              </a:fillRef>
              <a:effectRef idx="0">
                <a:schemeClr val="dk1"/>
              </a:effectRef>
              <a:fontRef idx="minor">
                <a:schemeClr val="dk1"/>
              </a:fontRef>
            </p:style>
            <p:txBody>
              <a:bodyPr rtlCol="0" anchor="ctr"/>
              <a:lstStyle/>
              <a:p>
                <a:pPr algn="ctr">
                  <a:spcAft>
                    <a:spcPts val="0"/>
                  </a:spcAft>
                </a:pPr>
                <a:r>
                  <a:rPr lang="vi-VN" sz="2800">
                    <a:solidFill>
                      <a:schemeClr val="tx1"/>
                    </a:solidFill>
                    <a:latin typeface="Open Sans" panose="020B0606030504020204" pitchFamily="34" charset="0"/>
                    <a:ea typeface="Open Sans" panose="020B0606030504020204" pitchFamily="34" charset="0"/>
                    <a:cs typeface="Open Sans" panose="020B0606030504020204" pitchFamily="34" charset="0"/>
                  </a:rPr>
                  <a:t>Môi trường có </a:t>
                </a:r>
                <a:r>
                  <a:rPr lang="en-US" sz="2800">
                    <a:solidFill>
                      <a:schemeClr val="tx1"/>
                    </a:solidFill>
                    <a:latin typeface="Open Sans" panose="020B0606030504020204" pitchFamily="34" charset="0"/>
                    <a:ea typeface="Open Sans" panose="020B0606030504020204" pitchFamily="34" charset="0"/>
                    <a:cs typeface="Open Sans" panose="020B0606030504020204" pitchFamily="34" charset="0"/>
                  </a:rPr>
                  <a:t>khói, khí gas</a:t>
                </a:r>
              </a:p>
            </p:txBody>
          </p:sp>
          <p:sp>
            <p:nvSpPr>
              <p:cNvPr id="27" name="Rectangle 26">
                <a:extLst>
                  <a:ext uri="{FF2B5EF4-FFF2-40B4-BE49-F238E27FC236}">
                    <a16:creationId xmlns:a16="http://schemas.microsoft.com/office/drawing/2014/main" id="{08BF75F3-2044-4EED-B0F4-FD0AC23949A3}"/>
                  </a:ext>
                </a:extLst>
              </p:cNvPr>
              <p:cNvSpPr/>
              <p:nvPr/>
            </p:nvSpPr>
            <p:spPr>
              <a:xfrm>
                <a:off x="2512128" y="0"/>
                <a:ext cx="1722853" cy="1258627"/>
              </a:xfrm>
              <a:prstGeom prst="rect">
                <a:avLst/>
              </a:prstGeom>
              <a:ln w="3175"/>
            </p:spPr>
            <p:style>
              <a:lnRef idx="2">
                <a:schemeClr val="dk1"/>
              </a:lnRef>
              <a:fillRef idx="1">
                <a:schemeClr val="lt1"/>
              </a:fillRef>
              <a:effectRef idx="0">
                <a:schemeClr val="dk1"/>
              </a:effectRef>
              <a:fontRef idx="minor">
                <a:schemeClr val="dk1"/>
              </a:fontRef>
            </p:style>
            <p:txBody>
              <a:bodyPr rtlCol="0" anchor="ctr"/>
              <a:lstStyle/>
              <a:p>
                <a:pPr algn="ctr">
                  <a:spcAft>
                    <a:spcPts val="0"/>
                  </a:spcAft>
                </a:pPr>
                <a:r>
                  <a:rPr lang="vi-VN" sz="2500">
                    <a:solidFill>
                      <a:schemeClr val="tx1"/>
                    </a:solidFill>
                    <a:latin typeface="Open Sans" panose="020B0606030504020204" pitchFamily="34" charset="0"/>
                    <a:ea typeface="Open Sans" panose="020B0606030504020204" pitchFamily="34" charset="0"/>
                    <a:cs typeface="Open Sans" panose="020B0606030504020204" pitchFamily="34" charset="0"/>
                  </a:rPr>
                  <a:t>Cảm biến</a:t>
                </a:r>
                <a:endParaRPr lang="en-US" sz="250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8" name="Rectangle 27">
                <a:extLst>
                  <a:ext uri="{FF2B5EF4-FFF2-40B4-BE49-F238E27FC236}">
                    <a16:creationId xmlns:a16="http://schemas.microsoft.com/office/drawing/2014/main" id="{F2011670-7C46-4F33-B3D0-9B0743120C83}"/>
                  </a:ext>
                </a:extLst>
              </p:cNvPr>
              <p:cNvSpPr/>
              <p:nvPr/>
            </p:nvSpPr>
            <p:spPr>
              <a:xfrm>
                <a:off x="4942084" y="-1"/>
                <a:ext cx="1743383" cy="1258580"/>
              </a:xfrm>
              <a:prstGeom prst="rect">
                <a:avLst/>
              </a:prstGeom>
              <a:ln w="3175"/>
            </p:spPr>
            <p:style>
              <a:lnRef idx="2">
                <a:schemeClr val="dk1"/>
              </a:lnRef>
              <a:fillRef idx="1">
                <a:schemeClr val="lt1"/>
              </a:fillRef>
              <a:effectRef idx="0">
                <a:schemeClr val="dk1"/>
              </a:effectRef>
              <a:fontRef idx="minor">
                <a:schemeClr val="dk1"/>
              </a:fontRef>
            </p:style>
            <p:txBody>
              <a:bodyPr rtlCol="0" anchor="ctr"/>
              <a:lstStyle/>
              <a:p>
                <a:pPr algn="ctr">
                  <a:spcAft>
                    <a:spcPts val="0"/>
                  </a:spcAft>
                </a:pPr>
                <a:r>
                  <a:rPr lang="vi-VN" sz="2500">
                    <a:solidFill>
                      <a:schemeClr val="tx1"/>
                    </a:solidFill>
                    <a:latin typeface="Open Sans" panose="020B0606030504020204" pitchFamily="34" charset="0"/>
                    <a:ea typeface="Open Sans" panose="020B0606030504020204" pitchFamily="34" charset="0"/>
                    <a:cs typeface="Open Sans" panose="020B0606030504020204" pitchFamily="34" charset="0"/>
                  </a:rPr>
                  <a:t>Truyền dữ liệu lên server</a:t>
                </a:r>
                <a:endParaRPr lang="en-US" sz="250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9" name="Rectangle 28">
                <a:extLst>
                  <a:ext uri="{FF2B5EF4-FFF2-40B4-BE49-F238E27FC236}">
                    <a16:creationId xmlns:a16="http://schemas.microsoft.com/office/drawing/2014/main" id="{279D6120-940F-4D19-AC11-F8665DABB0F4}"/>
                  </a:ext>
                </a:extLst>
              </p:cNvPr>
              <p:cNvSpPr/>
              <p:nvPr/>
            </p:nvSpPr>
            <p:spPr>
              <a:xfrm>
                <a:off x="7392570" y="-1"/>
                <a:ext cx="1743383" cy="1258569"/>
              </a:xfrm>
              <a:prstGeom prst="rect">
                <a:avLst/>
              </a:prstGeom>
              <a:ln w="3175"/>
            </p:spPr>
            <p:style>
              <a:lnRef idx="2">
                <a:schemeClr val="dk1"/>
              </a:lnRef>
              <a:fillRef idx="1">
                <a:schemeClr val="lt1"/>
              </a:fillRef>
              <a:effectRef idx="0">
                <a:schemeClr val="dk1"/>
              </a:effectRef>
              <a:fontRef idx="minor">
                <a:schemeClr val="dk1"/>
              </a:fontRef>
            </p:style>
            <p:txBody>
              <a:bodyPr rtlCol="0" anchor="ctr"/>
              <a:lstStyle/>
              <a:p>
                <a:pPr algn="ctr">
                  <a:spcAft>
                    <a:spcPts val="0"/>
                  </a:spcAft>
                </a:pPr>
                <a:r>
                  <a:rPr lang="vi-VN" sz="2500">
                    <a:solidFill>
                      <a:schemeClr val="tx1"/>
                    </a:solidFill>
                    <a:latin typeface="Open Sans" panose="020B0606030504020204" pitchFamily="34" charset="0"/>
                    <a:ea typeface="Open Sans" panose="020B0606030504020204" pitchFamily="34" charset="0"/>
                    <a:cs typeface="Open Sans" panose="020B0606030504020204" pitchFamily="34" charset="0"/>
                  </a:rPr>
                  <a:t>Hiển thị dữ liệu cho người dùng</a:t>
                </a:r>
                <a:endParaRPr lang="en-US" sz="250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cxnSp>
            <p:nvCxnSpPr>
              <p:cNvPr id="30" name="Straight Arrow Connector 29">
                <a:extLst>
                  <a:ext uri="{FF2B5EF4-FFF2-40B4-BE49-F238E27FC236}">
                    <a16:creationId xmlns:a16="http://schemas.microsoft.com/office/drawing/2014/main" id="{364BF344-601C-48C2-A580-DAFB0C521879}"/>
                  </a:ext>
                </a:extLst>
              </p:cNvPr>
              <p:cNvCxnSpPr>
                <a:cxnSpLocks/>
                <a:stCxn id="26" idx="3"/>
                <a:endCxn id="27" idx="1"/>
              </p:cNvCxnSpPr>
              <p:nvPr/>
            </p:nvCxnSpPr>
            <p:spPr>
              <a:xfrm flipV="1">
                <a:off x="1904698" y="629314"/>
                <a:ext cx="607430" cy="17"/>
              </a:xfrm>
              <a:prstGeom prst="straightConnector1">
                <a:avLst/>
              </a:prstGeom>
              <a:ln w="3175">
                <a:tailEnd type="triangle"/>
              </a:ln>
            </p:spPr>
            <p:style>
              <a:lnRef idx="2">
                <a:schemeClr val="dk1"/>
              </a:lnRef>
              <a:fillRef idx="1">
                <a:schemeClr val="lt1"/>
              </a:fillRef>
              <a:effectRef idx="0">
                <a:schemeClr val="dk1"/>
              </a:effectRef>
              <a:fontRef idx="minor">
                <a:schemeClr val="dk1"/>
              </a:fontRef>
            </p:style>
          </p:cxnSp>
          <p:cxnSp>
            <p:nvCxnSpPr>
              <p:cNvPr id="31" name="Straight Arrow Connector 30">
                <a:extLst>
                  <a:ext uri="{FF2B5EF4-FFF2-40B4-BE49-F238E27FC236}">
                    <a16:creationId xmlns:a16="http://schemas.microsoft.com/office/drawing/2014/main" id="{2FD4030B-90EE-4259-897B-6507F03C2C70}"/>
                  </a:ext>
                </a:extLst>
              </p:cNvPr>
              <p:cNvCxnSpPr>
                <a:cxnSpLocks/>
                <a:stCxn id="27" idx="3"/>
                <a:endCxn id="28" idx="1"/>
              </p:cNvCxnSpPr>
              <p:nvPr/>
            </p:nvCxnSpPr>
            <p:spPr>
              <a:xfrm flipV="1">
                <a:off x="4234981" y="629290"/>
                <a:ext cx="707103" cy="24"/>
              </a:xfrm>
              <a:prstGeom prst="straightConnector1">
                <a:avLst/>
              </a:prstGeom>
              <a:ln w="3175">
                <a:tailEnd type="triangle"/>
              </a:ln>
            </p:spPr>
            <p:style>
              <a:lnRef idx="2">
                <a:schemeClr val="dk1"/>
              </a:lnRef>
              <a:fillRef idx="1">
                <a:schemeClr val="lt1"/>
              </a:fillRef>
              <a:effectRef idx="0">
                <a:schemeClr val="dk1"/>
              </a:effectRef>
              <a:fontRef idx="minor">
                <a:schemeClr val="dk1"/>
              </a:fontRef>
            </p:style>
          </p:cxnSp>
          <p:cxnSp>
            <p:nvCxnSpPr>
              <p:cNvPr id="32" name="Straight Arrow Connector 31">
                <a:extLst>
                  <a:ext uri="{FF2B5EF4-FFF2-40B4-BE49-F238E27FC236}">
                    <a16:creationId xmlns:a16="http://schemas.microsoft.com/office/drawing/2014/main" id="{C6E43117-7875-40B4-8A1D-1448F372395A}"/>
                  </a:ext>
                </a:extLst>
              </p:cNvPr>
              <p:cNvCxnSpPr>
                <a:cxnSpLocks/>
                <a:stCxn id="28" idx="3"/>
                <a:endCxn id="29" idx="1"/>
              </p:cNvCxnSpPr>
              <p:nvPr/>
            </p:nvCxnSpPr>
            <p:spPr>
              <a:xfrm flipV="1">
                <a:off x="6685467" y="629284"/>
                <a:ext cx="707102" cy="6"/>
              </a:xfrm>
              <a:prstGeom prst="straightConnector1">
                <a:avLst/>
              </a:prstGeom>
              <a:ln w="3175">
                <a:tailEnd type="triangle"/>
              </a:ln>
            </p:spPr>
            <p:style>
              <a:lnRef idx="2">
                <a:schemeClr val="dk1"/>
              </a:lnRef>
              <a:fillRef idx="1">
                <a:schemeClr val="lt1"/>
              </a:fillRef>
              <a:effectRef idx="0">
                <a:schemeClr val="dk1"/>
              </a:effectRef>
              <a:fontRef idx="minor">
                <a:schemeClr val="dk1"/>
              </a:fontRef>
            </p:style>
          </p:cxnSp>
        </p:grpSp>
        <p:sp>
          <p:nvSpPr>
            <p:cNvPr id="25" name="TextBox 24">
              <a:extLst>
                <a:ext uri="{FF2B5EF4-FFF2-40B4-BE49-F238E27FC236}">
                  <a16:creationId xmlns:a16="http://schemas.microsoft.com/office/drawing/2014/main" id="{65E1C8EB-F167-4A46-8040-D7B0F705411B}"/>
                </a:ext>
              </a:extLst>
            </p:cNvPr>
            <p:cNvSpPr txBox="1"/>
            <p:nvPr/>
          </p:nvSpPr>
          <p:spPr>
            <a:xfrm>
              <a:off x="3834993" y="4640062"/>
              <a:ext cx="2294690" cy="443346"/>
            </a:xfrm>
            <a:prstGeom prst="rect">
              <a:avLst/>
            </a:prstGeom>
            <a:noFill/>
          </p:spPr>
          <p:txBody>
            <a:bodyPr wrap="none" rtlCol="0">
              <a:spAutoFit/>
            </a:bodyPr>
            <a:lstStyle/>
            <a:p>
              <a:r>
                <a:rPr lang="en-US" sz="2500" b="1">
                  <a:solidFill>
                    <a:schemeClr val="bg1">
                      <a:lumMod val="50000"/>
                    </a:schemeClr>
                  </a:solidFill>
                  <a:latin typeface="Open Sans" panose="020B0606030504020204" pitchFamily="34" charset="0"/>
                  <a:ea typeface="Open Sans" panose="020B0606030504020204" pitchFamily="34" charset="0"/>
                  <a:cs typeface="Open Sans" panose="020B0606030504020204" pitchFamily="34" charset="0"/>
                </a:rPr>
                <a:t>MQ 02 trong đề tài</a:t>
              </a:r>
            </a:p>
          </p:txBody>
        </p:sp>
      </p:grpSp>
      <p:grpSp>
        <p:nvGrpSpPr>
          <p:cNvPr id="74" name="Group 73">
            <a:extLst>
              <a:ext uri="{FF2B5EF4-FFF2-40B4-BE49-F238E27FC236}">
                <a16:creationId xmlns:a16="http://schemas.microsoft.com/office/drawing/2014/main" id="{D2F2BEC6-5CC8-497A-8FF3-58E74EC7C0CD}"/>
              </a:ext>
            </a:extLst>
          </p:cNvPr>
          <p:cNvGrpSpPr/>
          <p:nvPr/>
        </p:nvGrpSpPr>
        <p:grpSpPr>
          <a:xfrm>
            <a:off x="102992" y="887430"/>
            <a:ext cx="11322586" cy="2865108"/>
            <a:chOff x="102992" y="887430"/>
            <a:chExt cx="11322586" cy="2865108"/>
          </a:xfrm>
        </p:grpSpPr>
        <p:sp>
          <p:nvSpPr>
            <p:cNvPr id="33" name="Speech Bubble: Oval 32">
              <a:extLst>
                <a:ext uri="{FF2B5EF4-FFF2-40B4-BE49-F238E27FC236}">
                  <a16:creationId xmlns:a16="http://schemas.microsoft.com/office/drawing/2014/main" id="{EF3F94EB-60DF-4365-9B0F-36692E084EB0}"/>
                </a:ext>
              </a:extLst>
            </p:cNvPr>
            <p:cNvSpPr/>
            <p:nvPr/>
          </p:nvSpPr>
          <p:spPr>
            <a:xfrm>
              <a:off x="102992" y="1855387"/>
              <a:ext cx="4288829" cy="1789557"/>
            </a:xfrm>
            <a:prstGeom prst="wedgeEllipseCallout">
              <a:avLst>
                <a:gd name="adj1" fmla="val 54747"/>
                <a:gd name="adj2" fmla="val -28061"/>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2500">
                  <a:latin typeface="Open Sans" panose="020B0606030504020204" pitchFamily="34" charset="0"/>
                  <a:ea typeface="Open Sans" panose="020B0606030504020204" pitchFamily="34" charset="0"/>
                  <a:cs typeface="Open Sans" panose="020B0606030504020204" pitchFamily="34" charset="0"/>
                </a:rPr>
                <a:t>Phạm vi đo: </a:t>
              </a:r>
            </a:p>
            <a:p>
              <a:pPr algn="ctr"/>
              <a:r>
                <a:rPr lang="en-US" sz="2500">
                  <a:latin typeface="Open Sans" panose="020B0606030504020204" pitchFamily="34" charset="0"/>
                  <a:ea typeface="Open Sans" panose="020B0606030504020204" pitchFamily="34" charset="0"/>
                  <a:cs typeface="Open Sans" panose="020B0606030504020204" pitchFamily="34" charset="0"/>
                </a:rPr>
                <a:t>0-1023ppm</a:t>
              </a:r>
            </a:p>
            <a:p>
              <a:pPr algn="ctr"/>
              <a:r>
                <a:rPr lang="en-US" sz="2500">
                  <a:latin typeface="Open Sans" panose="020B0606030504020204" pitchFamily="34" charset="0"/>
                  <a:ea typeface="Open Sans" panose="020B0606030504020204" pitchFamily="34" charset="0"/>
                  <a:cs typeface="Open Sans" panose="020B0606030504020204" pitchFamily="34" charset="0"/>
                </a:rPr>
                <a:t>Thời gian đáp ứng: </a:t>
              </a:r>
              <a:r>
                <a:rPr lang="es-ES" sz="2500">
                  <a:latin typeface="Open Sans" panose="020B0606030504020204" pitchFamily="34" charset="0"/>
                  <a:ea typeface="Open Sans" panose="020B0606030504020204" pitchFamily="34" charset="0"/>
                  <a:cs typeface="Open Sans" panose="020B0606030504020204" pitchFamily="34" charset="0"/>
                </a:rPr>
                <a:t>≤ 10 giây</a:t>
              </a:r>
              <a:endParaRPr lang="en-US" sz="2500">
                <a:latin typeface="Open Sans" panose="020B0606030504020204" pitchFamily="34" charset="0"/>
                <a:ea typeface="Open Sans" panose="020B0606030504020204" pitchFamily="34" charset="0"/>
                <a:cs typeface="Open Sans" panose="020B0606030504020204" pitchFamily="34" charset="0"/>
              </a:endParaRPr>
            </a:p>
          </p:txBody>
        </p:sp>
        <p:grpSp>
          <p:nvGrpSpPr>
            <p:cNvPr id="34" name="Group 33">
              <a:extLst>
                <a:ext uri="{FF2B5EF4-FFF2-40B4-BE49-F238E27FC236}">
                  <a16:creationId xmlns:a16="http://schemas.microsoft.com/office/drawing/2014/main" id="{21C0C14A-7396-4239-B86D-D06D4082BE4B}"/>
                </a:ext>
              </a:extLst>
            </p:cNvPr>
            <p:cNvGrpSpPr/>
            <p:nvPr/>
          </p:nvGrpSpPr>
          <p:grpSpPr>
            <a:xfrm>
              <a:off x="4662832" y="887430"/>
              <a:ext cx="6762746" cy="2865108"/>
              <a:chOff x="679450" y="1867569"/>
              <a:chExt cx="6762746" cy="2865108"/>
            </a:xfrm>
          </p:grpSpPr>
          <p:pic>
            <p:nvPicPr>
              <p:cNvPr id="35" name="Picture 34" descr="Hình ảnh có liên quan">
                <a:extLst>
                  <a:ext uri="{FF2B5EF4-FFF2-40B4-BE49-F238E27FC236}">
                    <a16:creationId xmlns:a16="http://schemas.microsoft.com/office/drawing/2014/main" id="{83813767-BBB5-4142-9AD3-50B5E34E44A5}"/>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679450" y="2209800"/>
                <a:ext cx="3314700" cy="2071370"/>
              </a:xfrm>
              <a:prstGeom prst="rect">
                <a:avLst/>
              </a:prstGeom>
              <a:noFill/>
              <a:ln>
                <a:noFill/>
              </a:ln>
            </p:spPr>
          </p:pic>
          <p:grpSp>
            <p:nvGrpSpPr>
              <p:cNvPr id="36" name="Group 35">
                <a:extLst>
                  <a:ext uri="{FF2B5EF4-FFF2-40B4-BE49-F238E27FC236}">
                    <a16:creationId xmlns:a16="http://schemas.microsoft.com/office/drawing/2014/main" id="{6ABC05B7-1BAB-4357-94F2-712A0E8F7C41}"/>
                  </a:ext>
                </a:extLst>
              </p:cNvPr>
              <p:cNvGrpSpPr/>
              <p:nvPr/>
            </p:nvGrpSpPr>
            <p:grpSpPr>
              <a:xfrm>
                <a:off x="3994150" y="2446784"/>
                <a:ext cx="3448046" cy="1569491"/>
                <a:chOff x="3505200" y="5329011"/>
                <a:chExt cx="3448046" cy="1569491"/>
              </a:xfrm>
            </p:grpSpPr>
            <p:pic>
              <p:nvPicPr>
                <p:cNvPr id="43" name="Picture 42">
                  <a:extLst>
                    <a:ext uri="{FF2B5EF4-FFF2-40B4-BE49-F238E27FC236}">
                      <a16:creationId xmlns:a16="http://schemas.microsoft.com/office/drawing/2014/main" id="{95782C6C-F0E0-4B44-903C-856E7FA0EB9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83755" y="5329011"/>
                  <a:ext cx="1569491" cy="1569491"/>
                </a:xfrm>
                <a:prstGeom prst="rect">
                  <a:avLst/>
                </a:prstGeom>
              </p:spPr>
            </p:pic>
            <p:cxnSp>
              <p:nvCxnSpPr>
                <p:cNvPr id="44" name="Straight Arrow Connector 43">
                  <a:extLst>
                    <a:ext uri="{FF2B5EF4-FFF2-40B4-BE49-F238E27FC236}">
                      <a16:creationId xmlns:a16="http://schemas.microsoft.com/office/drawing/2014/main" id="{A112BCAD-EE59-4E9F-8013-730BB5114F13}"/>
                    </a:ext>
                  </a:extLst>
                </p:cNvPr>
                <p:cNvCxnSpPr>
                  <a:cxnSpLocks/>
                  <a:stCxn id="35" idx="3"/>
                  <a:endCxn id="43" idx="1"/>
                </p:cNvCxnSpPr>
                <p:nvPr/>
              </p:nvCxnSpPr>
              <p:spPr>
                <a:xfrm flipV="1">
                  <a:off x="3505200" y="6113757"/>
                  <a:ext cx="1878555" cy="13955"/>
                </a:xfrm>
                <a:prstGeom prst="straightConnector1">
                  <a:avLst/>
                </a:prstGeom>
                <a:ln w="76200">
                  <a:headEnd type="triangle"/>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3A6A8257-FDC9-48F0-A4CD-D27164BAC4D1}"/>
                    </a:ext>
                  </a:extLst>
                </p:cNvPr>
                <p:cNvSpPr txBox="1"/>
                <p:nvPr/>
              </p:nvSpPr>
              <p:spPr>
                <a:xfrm>
                  <a:off x="3946740" y="5573042"/>
                  <a:ext cx="931665" cy="477054"/>
                </a:xfrm>
                <a:prstGeom prst="rect">
                  <a:avLst/>
                </a:prstGeom>
                <a:noFill/>
              </p:spPr>
              <p:txBody>
                <a:bodyPr wrap="none" rtlCol="0">
                  <a:spAutoFit/>
                </a:bodyPr>
                <a:lstStyle/>
                <a:p>
                  <a:r>
                    <a:rPr lang="en-US" sz="2500">
                      <a:latin typeface="Open Sans" panose="020B0606030504020204" pitchFamily="34" charset="0"/>
                      <a:ea typeface="Open Sans" panose="020B0606030504020204" pitchFamily="34" charset="0"/>
                      <a:cs typeface="Open Sans" panose="020B0606030504020204" pitchFamily="34" charset="0"/>
                    </a:rPr>
                    <a:t>&lt; 2m</a:t>
                  </a:r>
                </a:p>
              </p:txBody>
            </p:sp>
          </p:grpSp>
          <p:cxnSp>
            <p:nvCxnSpPr>
              <p:cNvPr id="37" name="Straight Arrow Connector 36">
                <a:extLst>
                  <a:ext uri="{FF2B5EF4-FFF2-40B4-BE49-F238E27FC236}">
                    <a16:creationId xmlns:a16="http://schemas.microsoft.com/office/drawing/2014/main" id="{53138E86-45FC-4F2D-B81D-0D3116D259BA}"/>
                  </a:ext>
                </a:extLst>
              </p:cNvPr>
              <p:cNvCxnSpPr>
                <a:cxnSpLocks/>
              </p:cNvCxnSpPr>
              <p:nvPr/>
            </p:nvCxnSpPr>
            <p:spPr>
              <a:xfrm>
                <a:off x="913789" y="3515408"/>
                <a:ext cx="1565631" cy="765762"/>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670F128B-DE5C-40BD-BD80-7763E6BD446B}"/>
                  </a:ext>
                </a:extLst>
              </p:cNvPr>
              <p:cNvSpPr txBox="1"/>
              <p:nvPr/>
            </p:nvSpPr>
            <p:spPr>
              <a:xfrm rot="1467351">
                <a:off x="961106" y="3904926"/>
                <a:ext cx="1146468" cy="477054"/>
              </a:xfrm>
              <a:prstGeom prst="rect">
                <a:avLst/>
              </a:prstGeom>
              <a:noFill/>
            </p:spPr>
            <p:txBody>
              <a:bodyPr wrap="none" rtlCol="0">
                <a:spAutoFit/>
              </a:bodyPr>
              <a:lstStyle/>
              <a:p>
                <a:r>
                  <a:rPr lang="en-US" sz="2500">
                    <a:latin typeface="Open Sans" panose="020B0606030504020204" pitchFamily="34" charset="0"/>
                    <a:ea typeface="Open Sans" panose="020B0606030504020204" pitchFamily="34" charset="0"/>
                    <a:cs typeface="Open Sans" panose="020B0606030504020204" pitchFamily="34" charset="0"/>
                  </a:rPr>
                  <a:t>35mm</a:t>
                </a:r>
              </a:p>
            </p:txBody>
          </p:sp>
          <p:sp>
            <p:nvSpPr>
              <p:cNvPr id="39" name="TextBox 38">
                <a:extLst>
                  <a:ext uri="{FF2B5EF4-FFF2-40B4-BE49-F238E27FC236}">
                    <a16:creationId xmlns:a16="http://schemas.microsoft.com/office/drawing/2014/main" id="{89EE8D25-DC76-4554-B93E-0AB034AA7BBD}"/>
                  </a:ext>
                </a:extLst>
              </p:cNvPr>
              <p:cNvSpPr txBox="1"/>
              <p:nvPr/>
            </p:nvSpPr>
            <p:spPr>
              <a:xfrm rot="17731116">
                <a:off x="464424" y="2253084"/>
                <a:ext cx="1248083" cy="477054"/>
              </a:xfrm>
              <a:prstGeom prst="rect">
                <a:avLst/>
              </a:prstGeom>
              <a:noFill/>
            </p:spPr>
            <p:txBody>
              <a:bodyPr wrap="square" rtlCol="0">
                <a:spAutoFit/>
              </a:bodyPr>
              <a:lstStyle/>
              <a:p>
                <a:r>
                  <a:rPr lang="en-US" sz="2500">
                    <a:latin typeface="Open Sans" panose="020B0606030504020204" pitchFamily="34" charset="0"/>
                    <a:ea typeface="Open Sans" panose="020B0606030504020204" pitchFamily="34" charset="0"/>
                    <a:cs typeface="Open Sans" panose="020B0606030504020204" pitchFamily="34" charset="0"/>
                  </a:rPr>
                  <a:t>23mm</a:t>
                </a:r>
              </a:p>
            </p:txBody>
          </p:sp>
          <p:cxnSp>
            <p:nvCxnSpPr>
              <p:cNvPr id="40" name="Straight Arrow Connector 39">
                <a:extLst>
                  <a:ext uri="{FF2B5EF4-FFF2-40B4-BE49-F238E27FC236}">
                    <a16:creationId xmlns:a16="http://schemas.microsoft.com/office/drawing/2014/main" id="{00A132F4-C7DB-44F9-85F4-69633B94B9EC}"/>
                  </a:ext>
                </a:extLst>
              </p:cNvPr>
              <p:cNvCxnSpPr>
                <a:cxnSpLocks/>
              </p:cNvCxnSpPr>
              <p:nvPr/>
            </p:nvCxnSpPr>
            <p:spPr>
              <a:xfrm flipV="1">
                <a:off x="1061053" y="2181285"/>
                <a:ext cx="507777" cy="982891"/>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582322C6-4DDB-43A6-AD5D-B9C997819515}"/>
                  </a:ext>
                </a:extLst>
              </p:cNvPr>
              <p:cNvCxnSpPr>
                <a:cxnSpLocks/>
              </p:cNvCxnSpPr>
              <p:nvPr/>
            </p:nvCxnSpPr>
            <p:spPr>
              <a:xfrm flipV="1">
                <a:off x="3123651" y="3562740"/>
                <a:ext cx="698100" cy="847741"/>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1332F0BF-7F03-40E9-9C7B-975BE10DF3C3}"/>
                  </a:ext>
                </a:extLst>
              </p:cNvPr>
              <p:cNvSpPr txBox="1"/>
              <p:nvPr/>
            </p:nvSpPr>
            <p:spPr>
              <a:xfrm rot="18401950">
                <a:off x="3087120" y="3920916"/>
                <a:ext cx="1146468" cy="477054"/>
              </a:xfrm>
              <a:prstGeom prst="rect">
                <a:avLst/>
              </a:prstGeom>
              <a:noFill/>
            </p:spPr>
            <p:txBody>
              <a:bodyPr wrap="none" rtlCol="0">
                <a:spAutoFit/>
              </a:bodyPr>
              <a:lstStyle/>
              <a:p>
                <a:r>
                  <a:rPr lang="en-US" sz="2500">
                    <a:latin typeface="Open Sans" panose="020B0606030504020204" pitchFamily="34" charset="0"/>
                    <a:ea typeface="Open Sans" panose="020B0606030504020204" pitchFamily="34" charset="0"/>
                    <a:cs typeface="Open Sans" panose="020B0606030504020204" pitchFamily="34" charset="0"/>
                  </a:rPr>
                  <a:t>20mm</a:t>
                </a:r>
              </a:p>
            </p:txBody>
          </p:sp>
        </p:grpSp>
      </p:grpSp>
    </p:spTree>
    <p:extLst>
      <p:ext uri="{BB962C8B-B14F-4D97-AF65-F5344CB8AC3E}">
        <p14:creationId xmlns:p14="http://schemas.microsoft.com/office/powerpoint/2010/main" val="21611629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74"/>
                                        </p:tgtEl>
                                        <p:attrNameLst>
                                          <p:attrName>style.visibility</p:attrName>
                                        </p:attrNameLst>
                                      </p:cBhvr>
                                      <p:to>
                                        <p:strVal val="visible"/>
                                      </p:to>
                                    </p:set>
                                    <p:animEffect transition="in" filter="barn(inVertical)">
                                      <p:cBhvr>
                                        <p:cTn id="7" dur="500"/>
                                        <p:tgtEl>
                                          <p:spTgt spid="74"/>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23"/>
                                        </p:tgtEl>
                                        <p:attrNameLst>
                                          <p:attrName>style.visibility</p:attrName>
                                        </p:attrNameLst>
                                      </p:cBhvr>
                                      <p:to>
                                        <p:strVal val="visible"/>
                                      </p:to>
                                    </p:set>
                                    <p:anim calcmode="lin" valueType="num">
                                      <p:cBhvr additive="base">
                                        <p:cTn id="12" dur="500" fill="hold"/>
                                        <p:tgtEl>
                                          <p:spTgt spid="23"/>
                                        </p:tgtEl>
                                        <p:attrNameLst>
                                          <p:attrName>ppt_x</p:attrName>
                                        </p:attrNameLst>
                                      </p:cBhvr>
                                      <p:tavLst>
                                        <p:tav tm="0">
                                          <p:val>
                                            <p:strVal val="#ppt_x"/>
                                          </p:val>
                                        </p:tav>
                                        <p:tav tm="100000">
                                          <p:val>
                                            <p:strVal val="#ppt_x"/>
                                          </p:val>
                                        </p:tav>
                                      </p:tavLst>
                                    </p:anim>
                                    <p:anim calcmode="lin" valueType="num">
                                      <p:cBhvr additive="base">
                                        <p:cTn id="13"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8B3CFD3A-A976-4E6C-8B1B-D6E637051996}"/>
              </a:ext>
            </a:extLst>
          </p:cNvPr>
          <p:cNvSpPr>
            <a:spLocks noGrp="1"/>
          </p:cNvSpPr>
          <p:nvPr>
            <p:ph type="ftr" sz="quarter" idx="11"/>
          </p:nvPr>
        </p:nvSpPr>
        <p:spPr/>
        <p:txBody>
          <a:bodyPr/>
          <a:lstStyle/>
          <a:p>
            <a:r>
              <a:rPr lang="en-US"/>
              <a:t>10</a:t>
            </a:r>
          </a:p>
        </p:txBody>
      </p:sp>
      <p:grpSp>
        <p:nvGrpSpPr>
          <p:cNvPr id="8" name="Group 7">
            <a:extLst>
              <a:ext uri="{FF2B5EF4-FFF2-40B4-BE49-F238E27FC236}">
                <a16:creationId xmlns:a16="http://schemas.microsoft.com/office/drawing/2014/main" id="{9AB1F2C6-11A0-4D23-8FD1-D080F1222531}"/>
              </a:ext>
            </a:extLst>
          </p:cNvPr>
          <p:cNvGrpSpPr/>
          <p:nvPr/>
        </p:nvGrpSpPr>
        <p:grpSpPr>
          <a:xfrm>
            <a:off x="320040" y="271925"/>
            <a:ext cx="3895618" cy="630942"/>
            <a:chOff x="-715464" y="330973"/>
            <a:chExt cx="3873749" cy="630942"/>
          </a:xfrm>
        </p:grpSpPr>
        <p:sp>
          <p:nvSpPr>
            <p:cNvPr id="9" name="TextBox 8">
              <a:extLst>
                <a:ext uri="{FF2B5EF4-FFF2-40B4-BE49-F238E27FC236}">
                  <a16:creationId xmlns:a16="http://schemas.microsoft.com/office/drawing/2014/main" id="{A9AAC9BA-D648-4B9D-B5A8-EFD99060C853}"/>
                </a:ext>
              </a:extLst>
            </p:cNvPr>
            <p:cNvSpPr txBox="1"/>
            <p:nvPr/>
          </p:nvSpPr>
          <p:spPr>
            <a:xfrm>
              <a:off x="-603880" y="330973"/>
              <a:ext cx="3650589" cy="630942"/>
            </a:xfrm>
            <a:prstGeom prst="rect">
              <a:avLst/>
            </a:prstGeom>
            <a:noFill/>
          </p:spPr>
          <p:txBody>
            <a:bodyPr wrap="none" rtlCol="0">
              <a:spAutoFit/>
            </a:bodyPr>
            <a:lstStyle/>
            <a:p>
              <a:pPr algn="ctr"/>
              <a:r>
                <a:rPr lang="en-US" sz="3500">
                  <a:latin typeface="Open Sans" panose="020B0606030504020204" pitchFamily="34" charset="0"/>
                  <a:ea typeface="Open Sans" panose="020B0606030504020204" pitchFamily="34" charset="0"/>
                  <a:cs typeface="Open Sans" panose="020B0606030504020204" pitchFamily="34" charset="0"/>
                </a:rPr>
                <a:t>Cảm biến MQ 02</a:t>
              </a:r>
            </a:p>
          </p:txBody>
        </p:sp>
        <p:cxnSp>
          <p:nvCxnSpPr>
            <p:cNvPr id="10" name="Straight Connector 9">
              <a:extLst>
                <a:ext uri="{FF2B5EF4-FFF2-40B4-BE49-F238E27FC236}">
                  <a16:creationId xmlns:a16="http://schemas.microsoft.com/office/drawing/2014/main" id="{6BD11304-BA6D-42B6-BC4D-5C0EAE884B2C}"/>
                </a:ext>
              </a:extLst>
            </p:cNvPr>
            <p:cNvCxnSpPr>
              <a:cxnSpLocks/>
            </p:cNvCxnSpPr>
            <p:nvPr/>
          </p:nvCxnSpPr>
          <p:spPr>
            <a:xfrm>
              <a:off x="-715464" y="961915"/>
              <a:ext cx="3873749" cy="0"/>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49" name="Group 48">
            <a:extLst>
              <a:ext uri="{FF2B5EF4-FFF2-40B4-BE49-F238E27FC236}">
                <a16:creationId xmlns:a16="http://schemas.microsoft.com/office/drawing/2014/main" id="{5835679C-226D-4981-A89E-45F0D112519E}"/>
              </a:ext>
            </a:extLst>
          </p:cNvPr>
          <p:cNvGrpSpPr/>
          <p:nvPr/>
        </p:nvGrpSpPr>
        <p:grpSpPr>
          <a:xfrm>
            <a:off x="320040" y="972664"/>
            <a:ext cx="6047230" cy="5499931"/>
            <a:chOff x="320040" y="972664"/>
            <a:chExt cx="6047230" cy="5499931"/>
          </a:xfrm>
        </p:grpSpPr>
        <p:grpSp>
          <p:nvGrpSpPr>
            <p:cNvPr id="21" name="Group 20">
              <a:extLst>
                <a:ext uri="{FF2B5EF4-FFF2-40B4-BE49-F238E27FC236}">
                  <a16:creationId xmlns:a16="http://schemas.microsoft.com/office/drawing/2014/main" id="{30F9FE33-198D-4C78-9EF5-7E85F3BCC638}"/>
                </a:ext>
              </a:extLst>
            </p:cNvPr>
            <p:cNvGrpSpPr/>
            <p:nvPr/>
          </p:nvGrpSpPr>
          <p:grpSpPr>
            <a:xfrm>
              <a:off x="320040" y="1533809"/>
              <a:ext cx="6047230" cy="4938786"/>
              <a:chOff x="-158703" y="-140246"/>
              <a:chExt cx="6916993" cy="5869960"/>
            </a:xfrm>
          </p:grpSpPr>
          <p:grpSp>
            <p:nvGrpSpPr>
              <p:cNvPr id="22" name="Group 21">
                <a:extLst>
                  <a:ext uri="{FF2B5EF4-FFF2-40B4-BE49-F238E27FC236}">
                    <a16:creationId xmlns:a16="http://schemas.microsoft.com/office/drawing/2014/main" id="{CC00A844-490B-41D7-BDB8-C5AC63CEF9AA}"/>
                  </a:ext>
                </a:extLst>
              </p:cNvPr>
              <p:cNvGrpSpPr/>
              <p:nvPr/>
            </p:nvGrpSpPr>
            <p:grpSpPr>
              <a:xfrm>
                <a:off x="-158703" y="-140246"/>
                <a:ext cx="6916993" cy="3963089"/>
                <a:chOff x="-158703" y="-140246"/>
                <a:chExt cx="6916993" cy="3963089"/>
              </a:xfrm>
            </p:grpSpPr>
            <p:sp>
              <p:nvSpPr>
                <p:cNvPr id="27" name="Rectangle 26">
                  <a:extLst>
                    <a:ext uri="{FF2B5EF4-FFF2-40B4-BE49-F238E27FC236}">
                      <a16:creationId xmlns:a16="http://schemas.microsoft.com/office/drawing/2014/main" id="{16510BDF-3A97-4A24-9C82-01278A8E4FC3}"/>
                    </a:ext>
                  </a:extLst>
                </p:cNvPr>
                <p:cNvSpPr/>
                <p:nvPr/>
              </p:nvSpPr>
              <p:spPr>
                <a:xfrm>
                  <a:off x="-158703" y="-138885"/>
                  <a:ext cx="2611940" cy="1120378"/>
                </a:xfrm>
                <a:prstGeom prst="rect">
                  <a:avLst/>
                </a:prstGeom>
                <a:ln w="3175"/>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spcAft>
                      <a:spcPts val="0"/>
                    </a:spcAft>
                  </a:pPr>
                  <a:r>
                    <a:rPr lang="vi-VN" kern="1200">
                      <a:solidFill>
                        <a:srgbClr val="000000"/>
                      </a:solidFill>
                      <a:effectLst/>
                      <a:latin typeface="Open Sans" panose="020B0606030504020204" pitchFamily="34" charset="0"/>
                      <a:ea typeface="Open Sans" panose="020B0606030504020204" pitchFamily="34" charset="0"/>
                      <a:cs typeface="Open Sans" panose="020B0606030504020204" pitchFamily="34" charset="0"/>
                    </a:rPr>
                    <a:t>Oxit bán dẫn (ZnO, SnO</a:t>
                  </a:r>
                  <a:r>
                    <a:rPr lang="en-US" kern="1200" baseline="-25000">
                      <a:solidFill>
                        <a:srgbClr val="000000"/>
                      </a:solidFill>
                      <a:effectLst/>
                      <a:latin typeface="Open Sans" panose="020B0606030504020204" pitchFamily="34" charset="0"/>
                      <a:ea typeface="Open Sans" panose="020B0606030504020204" pitchFamily="34" charset="0"/>
                      <a:cs typeface="Open Sans" panose="020B0606030504020204" pitchFamily="34" charset="0"/>
                    </a:rPr>
                    <a:t>2</a:t>
                  </a:r>
                  <a:r>
                    <a:rPr lang="vi-VN" kern="1200">
                      <a:solidFill>
                        <a:srgbClr val="000000"/>
                      </a:solidFill>
                      <a:effectLst/>
                      <a:latin typeface="Open Sans" panose="020B0606030504020204" pitchFamily="34" charset="0"/>
                      <a:ea typeface="Open Sans" panose="020B0606030504020204" pitchFamily="34" charset="0"/>
                      <a:cs typeface="Open Sans" panose="020B0606030504020204" pitchFamily="34" charset="0"/>
                    </a:rPr>
                    <a:t>, WO</a:t>
                  </a:r>
                  <a:r>
                    <a:rPr lang="en-US" kern="1200" baseline="-25000">
                      <a:solidFill>
                        <a:srgbClr val="000000"/>
                      </a:solidFill>
                      <a:effectLst/>
                      <a:latin typeface="Open Sans" panose="020B0606030504020204" pitchFamily="34" charset="0"/>
                      <a:ea typeface="Open Sans" panose="020B0606030504020204" pitchFamily="34" charset="0"/>
                      <a:cs typeface="Open Sans" panose="020B0606030504020204" pitchFamily="34" charset="0"/>
                    </a:rPr>
                    <a:t>3</a:t>
                  </a:r>
                  <a:r>
                    <a:rPr lang="vi-VN" kern="1200">
                      <a:solidFill>
                        <a:srgbClr val="000000"/>
                      </a:solidFill>
                      <a:effectLst/>
                      <a:latin typeface="Open Sans" panose="020B0606030504020204" pitchFamily="34" charset="0"/>
                      <a:ea typeface="Open Sans" panose="020B0606030504020204" pitchFamily="34" charset="0"/>
                      <a:cs typeface="Open Sans" panose="020B0606030504020204" pitchFamily="34" charset="0"/>
                    </a:rPr>
                    <a:t>,…)</a:t>
                  </a:r>
                  <a:endParaRPr lang="en-US">
                    <a:effectLst/>
                    <a:latin typeface="Open Sans" panose="020B0606030504020204" pitchFamily="34" charset="0"/>
                    <a:ea typeface="Open Sans" panose="020B0606030504020204" pitchFamily="34" charset="0"/>
                    <a:cs typeface="Open Sans" panose="020B0606030504020204" pitchFamily="34" charset="0"/>
                  </a:endParaRPr>
                </a:p>
              </p:txBody>
            </p:sp>
            <p:cxnSp>
              <p:nvCxnSpPr>
                <p:cNvPr id="28" name="Straight Arrow Connector 27">
                  <a:extLst>
                    <a:ext uri="{FF2B5EF4-FFF2-40B4-BE49-F238E27FC236}">
                      <a16:creationId xmlns:a16="http://schemas.microsoft.com/office/drawing/2014/main" id="{0E535E57-CBDB-4DFF-8E71-1770BBBDA77F}"/>
                    </a:ext>
                  </a:extLst>
                </p:cNvPr>
                <p:cNvCxnSpPr>
                  <a:cxnSpLocks/>
                  <a:stCxn id="27" idx="3"/>
                  <a:endCxn id="29" idx="1"/>
                </p:cNvCxnSpPr>
                <p:nvPr/>
              </p:nvCxnSpPr>
              <p:spPr>
                <a:xfrm>
                  <a:off x="2453237" y="421304"/>
                  <a:ext cx="1693113" cy="103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9" name="Rectangle 28">
                  <a:extLst>
                    <a:ext uri="{FF2B5EF4-FFF2-40B4-BE49-F238E27FC236}">
                      <a16:creationId xmlns:a16="http://schemas.microsoft.com/office/drawing/2014/main" id="{20484131-95C6-46DA-A6B4-C54923FA8CB1}"/>
                    </a:ext>
                  </a:extLst>
                </p:cNvPr>
                <p:cNvSpPr/>
                <p:nvPr/>
              </p:nvSpPr>
              <p:spPr>
                <a:xfrm>
                  <a:off x="4146350" y="-140246"/>
                  <a:ext cx="2611940" cy="1125163"/>
                </a:xfrm>
                <a:prstGeom prst="rect">
                  <a:avLst/>
                </a:prstGeom>
                <a:ln w="3175"/>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spcAft>
                      <a:spcPts val="0"/>
                    </a:spcAft>
                  </a:pPr>
                  <a:r>
                    <a:rPr lang="vi-VN" kern="1200">
                      <a:solidFill>
                        <a:srgbClr val="000000"/>
                      </a:solidFill>
                      <a:effectLst/>
                      <a:latin typeface="Open Sans" panose="020B0606030504020204" pitchFamily="34" charset="0"/>
                      <a:ea typeface="Open Sans" panose="020B0606030504020204" pitchFamily="34" charset="0"/>
                      <a:cs typeface="Open Sans" panose="020B0606030504020204" pitchFamily="34" charset="0"/>
                    </a:rPr>
                    <a:t>Hấp thụ và khuếch tán phân tử khí</a:t>
                  </a:r>
                  <a:endParaRPr lang="en-US">
                    <a:effectLst/>
                    <a:latin typeface="Open Sans" panose="020B0606030504020204" pitchFamily="34" charset="0"/>
                    <a:ea typeface="Open Sans" panose="020B0606030504020204" pitchFamily="34" charset="0"/>
                    <a:cs typeface="Open Sans" panose="020B0606030504020204" pitchFamily="34" charset="0"/>
                  </a:endParaRPr>
                </a:p>
              </p:txBody>
            </p:sp>
            <p:sp>
              <p:nvSpPr>
                <p:cNvPr id="30" name="TextBox 9">
                  <a:extLst>
                    <a:ext uri="{FF2B5EF4-FFF2-40B4-BE49-F238E27FC236}">
                      <a16:creationId xmlns:a16="http://schemas.microsoft.com/office/drawing/2014/main" id="{F67684E6-B137-413C-86CB-1E18C5EB2228}"/>
                    </a:ext>
                  </a:extLst>
                </p:cNvPr>
                <p:cNvSpPr txBox="1"/>
                <p:nvPr/>
              </p:nvSpPr>
              <p:spPr>
                <a:xfrm>
                  <a:off x="2279077" y="109540"/>
                  <a:ext cx="1977218" cy="1751648"/>
                </a:xfrm>
                <a:prstGeom prst="rect">
                  <a:avLst/>
                </a:prstGeom>
                <a:noFill/>
              </p:spPr>
              <p:txBody>
                <a:bodyPr wrap="square" rtlCol="0">
                  <a:noAutofit/>
                </a:bodyPr>
                <a:lstStyle/>
                <a:p>
                  <a:pPr algn="ctr">
                    <a:spcAft>
                      <a:spcPts val="0"/>
                    </a:spcAft>
                  </a:pPr>
                  <a:r>
                    <a:rPr lang="vi-VN" sz="1500" kern="1200">
                      <a:solidFill>
                        <a:srgbClr val="000000"/>
                      </a:solidFill>
                      <a:effectLst/>
                      <a:latin typeface="Open Sans" panose="020B0606030504020204" pitchFamily="34" charset="0"/>
                      <a:ea typeface="Open Sans" panose="020B0606030504020204" pitchFamily="34" charset="0"/>
                      <a:cs typeface="Open Sans" panose="020B0606030504020204" pitchFamily="34" charset="0"/>
                    </a:rPr>
                    <a:t>Gia nhiệt</a:t>
                  </a:r>
                  <a:endParaRPr lang="en-US" sz="1500">
                    <a:effectLst/>
                    <a:latin typeface="Open Sans" panose="020B0606030504020204" pitchFamily="34" charset="0"/>
                    <a:ea typeface="Open Sans" panose="020B0606030504020204" pitchFamily="34" charset="0"/>
                    <a:cs typeface="Open Sans" panose="020B0606030504020204" pitchFamily="34" charset="0"/>
                  </a:endParaRPr>
                </a:p>
                <a:p>
                  <a:pPr algn="ctr">
                    <a:spcAft>
                      <a:spcPts val="0"/>
                    </a:spcAft>
                  </a:pPr>
                  <a:r>
                    <a:rPr lang="vi-VN" sz="1500" kern="1200">
                      <a:solidFill>
                        <a:srgbClr val="000000"/>
                      </a:solidFill>
                      <a:effectLst/>
                      <a:latin typeface="Open Sans" panose="020B0606030504020204" pitchFamily="34" charset="0"/>
                      <a:ea typeface="Open Sans" panose="020B0606030504020204" pitchFamily="34" charset="0"/>
                      <a:cs typeface="Open Sans" panose="020B0606030504020204" pitchFamily="34" charset="0"/>
                    </a:rPr>
                    <a:t>200 – 300</a:t>
                  </a:r>
                  <a:r>
                    <a:rPr lang="en-US" sz="1500" kern="1200">
                      <a:solidFill>
                        <a:srgbClr val="000000"/>
                      </a:solidFill>
                      <a:effectLst/>
                      <a:latin typeface="Open Sans" panose="020B0606030504020204" pitchFamily="34" charset="0"/>
                      <a:ea typeface="Open Sans" panose="020B0606030504020204" pitchFamily="34" charset="0"/>
                      <a:cs typeface="Open Sans" panose="020B0606030504020204" pitchFamily="34" charset="0"/>
                    </a:rPr>
                    <a:t> độ </a:t>
                  </a:r>
                  <a:r>
                    <a:rPr lang="vi-VN" sz="1500" kern="1200">
                      <a:solidFill>
                        <a:srgbClr val="000000"/>
                      </a:solidFill>
                      <a:effectLst/>
                      <a:latin typeface="Open Sans" panose="020B0606030504020204" pitchFamily="34" charset="0"/>
                      <a:ea typeface="Open Sans" panose="020B0606030504020204" pitchFamily="34" charset="0"/>
                      <a:cs typeface="Open Sans" panose="020B0606030504020204" pitchFamily="34" charset="0"/>
                    </a:rPr>
                    <a:t>C </a:t>
                  </a:r>
                  <a:endParaRPr lang="en-US" sz="1500">
                    <a:effectLst/>
                    <a:latin typeface="Open Sans" panose="020B0606030504020204" pitchFamily="34" charset="0"/>
                    <a:ea typeface="Open Sans" panose="020B0606030504020204" pitchFamily="34" charset="0"/>
                    <a:cs typeface="Open Sans" panose="020B0606030504020204" pitchFamily="34" charset="0"/>
                  </a:endParaRPr>
                </a:p>
              </p:txBody>
            </p:sp>
            <p:sp>
              <p:nvSpPr>
                <p:cNvPr id="31" name="Rectangle 30">
                  <a:extLst>
                    <a:ext uri="{FF2B5EF4-FFF2-40B4-BE49-F238E27FC236}">
                      <a16:creationId xmlns:a16="http://schemas.microsoft.com/office/drawing/2014/main" id="{F74F6E56-B068-40A4-BE53-8950E19BC6E9}"/>
                    </a:ext>
                  </a:extLst>
                </p:cNvPr>
                <p:cNvSpPr/>
                <p:nvPr/>
              </p:nvSpPr>
              <p:spPr>
                <a:xfrm>
                  <a:off x="-50945" y="2414832"/>
                  <a:ext cx="2611937" cy="1408011"/>
                </a:xfrm>
                <a:prstGeom prst="rect">
                  <a:avLst/>
                </a:prstGeom>
                <a:ln w="3175"/>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spcAft>
                      <a:spcPts val="0"/>
                    </a:spcAft>
                  </a:pPr>
                  <a:r>
                    <a:rPr lang="vi-VN" kern="1200">
                      <a:solidFill>
                        <a:srgbClr val="000000"/>
                      </a:solidFill>
                      <a:effectLst/>
                      <a:latin typeface="Open Sans" panose="020B0606030504020204" pitchFamily="34" charset="0"/>
                      <a:ea typeface="Open Sans" panose="020B0606030504020204" pitchFamily="34" charset="0"/>
                      <a:cs typeface="Open Sans" panose="020B0606030504020204" pitchFamily="34" charset="0"/>
                    </a:rPr>
                    <a:t>Tính chất điện của cảm biến thay đổi</a:t>
                  </a:r>
                  <a:endParaRPr lang="en-US">
                    <a:effectLst/>
                    <a:latin typeface="Open Sans" panose="020B0606030504020204" pitchFamily="34" charset="0"/>
                    <a:ea typeface="Open Sans" panose="020B0606030504020204" pitchFamily="34" charset="0"/>
                    <a:cs typeface="Open Sans" panose="020B0606030504020204" pitchFamily="34" charset="0"/>
                  </a:endParaRPr>
                </a:p>
              </p:txBody>
            </p:sp>
            <p:sp>
              <p:nvSpPr>
                <p:cNvPr id="32" name="Rectangle 31">
                  <a:extLst>
                    <a:ext uri="{FF2B5EF4-FFF2-40B4-BE49-F238E27FC236}">
                      <a16:creationId xmlns:a16="http://schemas.microsoft.com/office/drawing/2014/main" id="{B36D912A-7DE8-4FB0-8ECA-CC8AC95934BF}"/>
                    </a:ext>
                  </a:extLst>
                </p:cNvPr>
                <p:cNvSpPr/>
                <p:nvPr/>
              </p:nvSpPr>
              <p:spPr>
                <a:xfrm>
                  <a:off x="4133415" y="2395793"/>
                  <a:ext cx="2611940" cy="1427050"/>
                </a:xfrm>
                <a:prstGeom prst="rect">
                  <a:avLst/>
                </a:prstGeom>
                <a:ln w="3175"/>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spcAft>
                      <a:spcPts val="0"/>
                    </a:spcAft>
                  </a:pPr>
                  <a:r>
                    <a:rPr lang="en-US" kern="1200">
                      <a:solidFill>
                        <a:srgbClr val="000000"/>
                      </a:solidFill>
                      <a:effectLst/>
                      <a:latin typeface="Open Sans" panose="020B0606030504020204" pitchFamily="34" charset="0"/>
                      <a:ea typeface="Open Sans" panose="020B0606030504020204" pitchFamily="34" charset="0"/>
                      <a:cs typeface="Open Sans" panose="020B0606030504020204" pitchFamily="34" charset="0"/>
                    </a:rPr>
                    <a:t>C</a:t>
                  </a:r>
                  <a:r>
                    <a:rPr lang="vi-VN" kern="1200">
                      <a:solidFill>
                        <a:srgbClr val="000000"/>
                      </a:solidFill>
                      <a:effectLst/>
                      <a:latin typeface="Open Sans" panose="020B0606030504020204" pitchFamily="34" charset="0"/>
                      <a:ea typeface="Open Sans" panose="020B0606030504020204" pitchFamily="34" charset="0"/>
                      <a:cs typeface="Open Sans" panose="020B0606030504020204" pitchFamily="34" charset="0"/>
                    </a:rPr>
                    <a:t>ác phân tử khí bị hấp thụ</a:t>
                  </a:r>
                  <a:endParaRPr lang="en-US">
                    <a:effectLst/>
                    <a:latin typeface="Open Sans" panose="020B0606030504020204" pitchFamily="34" charset="0"/>
                    <a:ea typeface="Open Sans" panose="020B0606030504020204" pitchFamily="34" charset="0"/>
                    <a:cs typeface="Open Sans" panose="020B0606030504020204" pitchFamily="34" charset="0"/>
                  </a:endParaRPr>
                </a:p>
              </p:txBody>
            </p:sp>
            <p:cxnSp>
              <p:nvCxnSpPr>
                <p:cNvPr id="33" name="Straight Arrow Connector 32">
                  <a:extLst>
                    <a:ext uri="{FF2B5EF4-FFF2-40B4-BE49-F238E27FC236}">
                      <a16:creationId xmlns:a16="http://schemas.microsoft.com/office/drawing/2014/main" id="{27765841-BD86-45E6-BAF6-BE2FB1B98181}"/>
                    </a:ext>
                  </a:extLst>
                </p:cNvPr>
                <p:cNvCxnSpPr>
                  <a:cxnSpLocks/>
                </p:cNvCxnSpPr>
                <p:nvPr/>
              </p:nvCxnSpPr>
              <p:spPr>
                <a:xfrm flipH="1">
                  <a:off x="5439384" y="967407"/>
                  <a:ext cx="12936" cy="137965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4" name="TextBox 17">
                  <a:extLst>
                    <a:ext uri="{FF2B5EF4-FFF2-40B4-BE49-F238E27FC236}">
                      <a16:creationId xmlns:a16="http://schemas.microsoft.com/office/drawing/2014/main" id="{54DCC081-59EA-44D2-A646-EE5FA1878146}"/>
                    </a:ext>
                  </a:extLst>
                </p:cNvPr>
                <p:cNvSpPr txBox="1"/>
                <p:nvPr/>
              </p:nvSpPr>
              <p:spPr>
                <a:xfrm rot="16200000" flipV="1">
                  <a:off x="4339935" y="1120626"/>
                  <a:ext cx="1766777" cy="1116453"/>
                </a:xfrm>
                <a:prstGeom prst="rect">
                  <a:avLst/>
                </a:prstGeom>
                <a:noFill/>
              </p:spPr>
              <p:txBody>
                <a:bodyPr wrap="square" rtlCol="0">
                  <a:noAutofit/>
                </a:bodyPr>
                <a:lstStyle/>
                <a:p>
                  <a:pPr algn="ctr">
                    <a:spcAft>
                      <a:spcPts val="0"/>
                    </a:spcAft>
                  </a:pPr>
                  <a:r>
                    <a:rPr lang="vi-VN" sz="1500" kern="1200">
                      <a:solidFill>
                        <a:srgbClr val="000000"/>
                      </a:solidFill>
                      <a:effectLst/>
                      <a:latin typeface="Open Sans" panose="020B0606030504020204" pitchFamily="34" charset="0"/>
                      <a:ea typeface="Open Sans" panose="020B0606030504020204" pitchFamily="34" charset="0"/>
                      <a:cs typeface="Open Sans" panose="020B0606030504020204" pitchFamily="34" charset="0"/>
                    </a:rPr>
                    <a:t>Nhiệt độ </a:t>
                  </a:r>
                  <a:endParaRPr lang="en-US" sz="1500">
                    <a:effectLst/>
                    <a:latin typeface="Open Sans" panose="020B0606030504020204" pitchFamily="34" charset="0"/>
                    <a:ea typeface="Open Sans" panose="020B0606030504020204" pitchFamily="34" charset="0"/>
                    <a:cs typeface="Open Sans" panose="020B0606030504020204" pitchFamily="34" charset="0"/>
                  </a:endParaRPr>
                </a:p>
                <a:p>
                  <a:pPr algn="ctr">
                    <a:spcAft>
                      <a:spcPts val="0"/>
                    </a:spcAft>
                  </a:pPr>
                  <a:r>
                    <a:rPr lang="vi-VN" sz="1500" kern="1200">
                      <a:solidFill>
                        <a:srgbClr val="000000"/>
                      </a:solidFill>
                      <a:effectLst/>
                      <a:latin typeface="Open Sans" panose="020B0606030504020204" pitchFamily="34" charset="0"/>
                      <a:ea typeface="Open Sans" panose="020B0606030504020204" pitchFamily="34" charset="0"/>
                      <a:cs typeface="Open Sans" panose="020B0606030504020204" pitchFamily="34" charset="0"/>
                    </a:rPr>
                    <a:t>môi trường</a:t>
                  </a:r>
                  <a:endParaRPr lang="en-US" sz="1500">
                    <a:effectLst/>
                    <a:latin typeface="Open Sans" panose="020B0606030504020204" pitchFamily="34" charset="0"/>
                    <a:ea typeface="Open Sans" panose="020B0606030504020204" pitchFamily="34" charset="0"/>
                    <a:cs typeface="Open Sans" panose="020B0606030504020204" pitchFamily="34" charset="0"/>
                  </a:endParaRPr>
                </a:p>
              </p:txBody>
            </p:sp>
            <p:cxnSp>
              <p:nvCxnSpPr>
                <p:cNvPr id="35" name="Straight Arrow Connector 34">
                  <a:extLst>
                    <a:ext uri="{FF2B5EF4-FFF2-40B4-BE49-F238E27FC236}">
                      <a16:creationId xmlns:a16="http://schemas.microsoft.com/office/drawing/2014/main" id="{099390FC-9295-4699-B70A-0484DC311FA2}"/>
                    </a:ext>
                  </a:extLst>
                </p:cNvPr>
                <p:cNvCxnSpPr>
                  <a:cxnSpLocks/>
                  <a:stCxn id="32" idx="1"/>
                  <a:endCxn id="31" idx="3"/>
                </p:cNvCxnSpPr>
                <p:nvPr/>
              </p:nvCxnSpPr>
              <p:spPr>
                <a:xfrm flipH="1">
                  <a:off x="2560992" y="3109319"/>
                  <a:ext cx="1572423" cy="951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sp>
            <p:nvSpPr>
              <p:cNvPr id="23" name="Rectangle 22">
                <a:extLst>
                  <a:ext uri="{FF2B5EF4-FFF2-40B4-BE49-F238E27FC236}">
                    <a16:creationId xmlns:a16="http://schemas.microsoft.com/office/drawing/2014/main" id="{4178E115-9FC7-429C-9C50-A5A4BE0AB2F2}"/>
                  </a:ext>
                </a:extLst>
              </p:cNvPr>
              <p:cNvSpPr/>
              <p:nvPr/>
            </p:nvSpPr>
            <p:spPr>
              <a:xfrm>
                <a:off x="-50945" y="4609334"/>
                <a:ext cx="2611940" cy="1120380"/>
              </a:xfrm>
              <a:prstGeom prst="rect">
                <a:avLst/>
              </a:prstGeom>
              <a:ln w="3175"/>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spcAft>
                    <a:spcPts val="0"/>
                  </a:spcAft>
                </a:pPr>
                <a:r>
                  <a:rPr lang="vi-VN" kern="1200">
                    <a:solidFill>
                      <a:srgbClr val="000000"/>
                    </a:solidFill>
                    <a:effectLst/>
                    <a:latin typeface="Open Sans" panose="020B0606030504020204" pitchFamily="34" charset="0"/>
                    <a:ea typeface="Open Sans" panose="020B0606030504020204" pitchFamily="34" charset="0"/>
                    <a:cs typeface="Open Sans" panose="020B0606030504020204" pitchFamily="34" charset="0"/>
                  </a:rPr>
                  <a:t>Thay đổi tín hiệu nhận của cảm biến</a:t>
                </a:r>
                <a:endParaRPr lang="en-US">
                  <a:effectLst/>
                  <a:latin typeface="Open Sans" panose="020B0606030504020204" pitchFamily="34" charset="0"/>
                  <a:ea typeface="Open Sans" panose="020B0606030504020204" pitchFamily="34" charset="0"/>
                  <a:cs typeface="Open Sans" panose="020B0606030504020204" pitchFamily="34" charset="0"/>
                </a:endParaRPr>
              </a:p>
            </p:txBody>
          </p:sp>
          <p:sp>
            <p:nvSpPr>
              <p:cNvPr id="24" name="Rectangle 23">
                <a:extLst>
                  <a:ext uri="{FF2B5EF4-FFF2-40B4-BE49-F238E27FC236}">
                    <a16:creationId xmlns:a16="http://schemas.microsoft.com/office/drawing/2014/main" id="{1371B95B-633A-4FDF-BD2F-4EF2F712C14F}"/>
                  </a:ext>
                </a:extLst>
              </p:cNvPr>
              <p:cNvSpPr/>
              <p:nvPr/>
            </p:nvSpPr>
            <p:spPr>
              <a:xfrm>
                <a:off x="4146350" y="4572610"/>
                <a:ext cx="2611940" cy="1125164"/>
              </a:xfrm>
              <a:prstGeom prst="rect">
                <a:avLst/>
              </a:prstGeom>
              <a:ln w="3175"/>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spcAft>
                    <a:spcPts val="0"/>
                  </a:spcAft>
                </a:pPr>
                <a:r>
                  <a:rPr lang="vi-VN" kern="1200">
                    <a:solidFill>
                      <a:srgbClr val="000000"/>
                    </a:solidFill>
                    <a:effectLst/>
                    <a:latin typeface="Open Sans" panose="020B0606030504020204" pitchFamily="34" charset="0"/>
                    <a:ea typeface="Open Sans" panose="020B0606030504020204" pitchFamily="34" charset="0"/>
                    <a:cs typeface="Open Sans" panose="020B0606030504020204" pitchFamily="34" charset="0"/>
                  </a:rPr>
                  <a:t>Thiết bị ngoại vi</a:t>
                </a:r>
                <a:endParaRPr lang="en-US">
                  <a:effectLst/>
                  <a:latin typeface="Open Sans" panose="020B0606030504020204" pitchFamily="34" charset="0"/>
                  <a:ea typeface="Open Sans" panose="020B0606030504020204" pitchFamily="34" charset="0"/>
                  <a:cs typeface="Open Sans" panose="020B0606030504020204" pitchFamily="34" charset="0"/>
                </a:endParaRPr>
              </a:p>
            </p:txBody>
          </p:sp>
          <p:cxnSp>
            <p:nvCxnSpPr>
              <p:cNvPr id="25" name="Straight Arrow Connector 24">
                <a:extLst>
                  <a:ext uri="{FF2B5EF4-FFF2-40B4-BE49-F238E27FC236}">
                    <a16:creationId xmlns:a16="http://schemas.microsoft.com/office/drawing/2014/main" id="{972DDE32-A406-4D14-9E0E-2022A1A4D5F6}"/>
                  </a:ext>
                </a:extLst>
              </p:cNvPr>
              <p:cNvCxnSpPr>
                <a:cxnSpLocks/>
                <a:stCxn id="31" idx="2"/>
                <a:endCxn id="23" idx="0"/>
              </p:cNvCxnSpPr>
              <p:nvPr/>
            </p:nvCxnSpPr>
            <p:spPr>
              <a:xfrm>
                <a:off x="1255024" y="3822843"/>
                <a:ext cx="1" cy="78649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 name="Straight Arrow Connector 25">
                <a:extLst>
                  <a:ext uri="{FF2B5EF4-FFF2-40B4-BE49-F238E27FC236}">
                    <a16:creationId xmlns:a16="http://schemas.microsoft.com/office/drawing/2014/main" id="{239E81A2-A3C0-44E8-80A2-11A2CC808DE0}"/>
                  </a:ext>
                </a:extLst>
              </p:cNvPr>
              <p:cNvCxnSpPr>
                <a:cxnSpLocks/>
              </p:cNvCxnSpPr>
              <p:nvPr/>
            </p:nvCxnSpPr>
            <p:spPr>
              <a:xfrm flipV="1">
                <a:off x="2604369" y="5137459"/>
                <a:ext cx="1529045" cy="188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sp>
          <p:nvSpPr>
            <p:cNvPr id="46" name="TextBox 45">
              <a:extLst>
                <a:ext uri="{FF2B5EF4-FFF2-40B4-BE49-F238E27FC236}">
                  <a16:creationId xmlns:a16="http://schemas.microsoft.com/office/drawing/2014/main" id="{59AF6973-C954-4789-B6E4-DC0217709884}"/>
                </a:ext>
              </a:extLst>
            </p:cNvPr>
            <p:cNvSpPr txBox="1"/>
            <p:nvPr/>
          </p:nvSpPr>
          <p:spPr>
            <a:xfrm>
              <a:off x="1227247" y="972664"/>
              <a:ext cx="4519186" cy="477054"/>
            </a:xfrm>
            <a:prstGeom prst="rect">
              <a:avLst/>
            </a:prstGeom>
            <a:noFill/>
          </p:spPr>
          <p:txBody>
            <a:bodyPr wrap="none" rtlCol="0">
              <a:spAutoFit/>
            </a:bodyPr>
            <a:lstStyle/>
            <a:p>
              <a:r>
                <a:rPr lang="en-US" sz="2500" b="1">
                  <a:solidFill>
                    <a:schemeClr val="bg1">
                      <a:lumMod val="50000"/>
                    </a:schemeClr>
                  </a:solidFill>
                  <a:latin typeface="Open Sans" panose="020B0606030504020204" pitchFamily="34" charset="0"/>
                  <a:ea typeface="Open Sans" panose="020B0606030504020204" pitchFamily="34" charset="0"/>
                  <a:cs typeface="Open Sans" panose="020B0606030504020204" pitchFamily="34" charset="0"/>
                </a:rPr>
                <a:t>S</a:t>
              </a:r>
              <a:r>
                <a:rPr lang="vi-VN" sz="2500" b="1">
                  <a:solidFill>
                    <a:schemeClr val="bg1">
                      <a:lumMod val="50000"/>
                    </a:schemeClr>
                  </a:solidFill>
                  <a:latin typeface="Open Sans" panose="020B0606030504020204" pitchFamily="34" charset="0"/>
                  <a:ea typeface="Open Sans" panose="020B0606030504020204" pitchFamily="34" charset="0"/>
                  <a:cs typeface="Open Sans" panose="020B0606030504020204" pitchFamily="34" charset="0"/>
                </a:rPr>
                <a:t>ơ</a:t>
              </a:r>
              <a:r>
                <a:rPr lang="en-US" sz="2500" b="1">
                  <a:solidFill>
                    <a:schemeClr val="bg1">
                      <a:lumMod val="50000"/>
                    </a:schemeClr>
                  </a:solidFill>
                  <a:latin typeface="Open Sans" panose="020B0606030504020204" pitchFamily="34" charset="0"/>
                  <a:ea typeface="Open Sans" panose="020B0606030504020204" pitchFamily="34" charset="0"/>
                  <a:cs typeface="Open Sans" panose="020B0606030504020204" pitchFamily="34" charset="0"/>
                </a:rPr>
                <a:t> đồ hoạt động của MQ 02</a:t>
              </a:r>
            </a:p>
          </p:txBody>
        </p:sp>
      </p:grpSp>
      <p:grpSp>
        <p:nvGrpSpPr>
          <p:cNvPr id="48" name="Group 47">
            <a:extLst>
              <a:ext uri="{FF2B5EF4-FFF2-40B4-BE49-F238E27FC236}">
                <a16:creationId xmlns:a16="http://schemas.microsoft.com/office/drawing/2014/main" id="{A5434044-E180-4B27-A0B0-044451F4EA0A}"/>
              </a:ext>
            </a:extLst>
          </p:cNvPr>
          <p:cNvGrpSpPr/>
          <p:nvPr/>
        </p:nvGrpSpPr>
        <p:grpSpPr>
          <a:xfrm>
            <a:off x="6594137" y="948889"/>
            <a:ext cx="5413458" cy="5472733"/>
            <a:chOff x="6594137" y="948889"/>
            <a:chExt cx="5413458" cy="5472733"/>
          </a:xfrm>
        </p:grpSpPr>
        <p:pic>
          <p:nvPicPr>
            <p:cNvPr id="5" name="Picture 4">
              <a:extLst>
                <a:ext uri="{FF2B5EF4-FFF2-40B4-BE49-F238E27FC236}">
                  <a16:creationId xmlns:a16="http://schemas.microsoft.com/office/drawing/2014/main" id="{A9F6BAB1-E781-4E40-B2F3-440DF3F7F695}"/>
                </a:ext>
              </a:extLst>
            </p:cNvPr>
            <p:cNvPicPr/>
            <p:nvPr/>
          </p:nvPicPr>
          <p:blipFill>
            <a:blip r:embed="rId3">
              <a:extLst>
                <a:ext uri="{28A0092B-C50C-407E-A947-70E740481C1C}">
                  <a14:useLocalDpi xmlns:a14="http://schemas.microsoft.com/office/drawing/2010/main" val="0"/>
                </a:ext>
              </a:extLst>
            </a:blip>
            <a:stretch>
              <a:fillRect/>
            </a:stretch>
          </p:blipFill>
          <p:spPr>
            <a:xfrm>
              <a:off x="6594137" y="948889"/>
              <a:ext cx="5413458" cy="4995680"/>
            </a:xfrm>
            <a:prstGeom prst="rect">
              <a:avLst/>
            </a:prstGeom>
          </p:spPr>
        </p:pic>
        <p:sp>
          <p:nvSpPr>
            <p:cNvPr id="47" name="TextBox 46">
              <a:extLst>
                <a:ext uri="{FF2B5EF4-FFF2-40B4-BE49-F238E27FC236}">
                  <a16:creationId xmlns:a16="http://schemas.microsoft.com/office/drawing/2014/main" id="{0C61665D-9129-49E8-92C1-75617D636E79}"/>
                </a:ext>
              </a:extLst>
            </p:cNvPr>
            <p:cNvSpPr txBox="1"/>
            <p:nvPr/>
          </p:nvSpPr>
          <p:spPr>
            <a:xfrm>
              <a:off x="7498017" y="5944568"/>
              <a:ext cx="3243196" cy="477054"/>
            </a:xfrm>
            <a:prstGeom prst="rect">
              <a:avLst/>
            </a:prstGeom>
            <a:noFill/>
          </p:spPr>
          <p:txBody>
            <a:bodyPr wrap="none" rtlCol="0">
              <a:spAutoFit/>
            </a:bodyPr>
            <a:lstStyle/>
            <a:p>
              <a:r>
                <a:rPr lang="en-US" sz="2500" b="1">
                  <a:solidFill>
                    <a:schemeClr val="bg1">
                      <a:lumMod val="50000"/>
                    </a:schemeClr>
                  </a:solidFill>
                  <a:latin typeface="Open Sans" panose="020B0606030504020204" pitchFamily="34" charset="0"/>
                  <a:ea typeface="Open Sans" panose="020B0606030504020204" pitchFamily="34" charset="0"/>
                  <a:cs typeface="Open Sans" panose="020B0606030504020204" pitchFamily="34" charset="0"/>
                </a:rPr>
                <a:t>Độ nhạy của MQ 02</a:t>
              </a:r>
            </a:p>
          </p:txBody>
        </p:sp>
      </p:grpSp>
    </p:spTree>
    <p:extLst>
      <p:ext uri="{BB962C8B-B14F-4D97-AF65-F5344CB8AC3E}">
        <p14:creationId xmlns:p14="http://schemas.microsoft.com/office/powerpoint/2010/main" val="2740691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49"/>
                                        </p:tgtEl>
                                        <p:attrNameLst>
                                          <p:attrName>style.visibility</p:attrName>
                                        </p:attrNameLst>
                                      </p:cBhvr>
                                      <p:to>
                                        <p:strVal val="visible"/>
                                      </p:to>
                                    </p:set>
                                    <p:animEffect transition="in" filter="barn(inVertical)">
                                      <p:cBhvr>
                                        <p:cTn id="7" dur="500"/>
                                        <p:tgtEl>
                                          <p:spTgt spid="4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48"/>
                                        </p:tgtEl>
                                        <p:attrNameLst>
                                          <p:attrName>style.visibility</p:attrName>
                                        </p:attrNameLst>
                                      </p:cBhvr>
                                      <p:to>
                                        <p:strVal val="visible"/>
                                      </p:to>
                                    </p:set>
                                    <p:animEffect transition="in" filter="wipe(down)">
                                      <p:cBhvr>
                                        <p:cTn id="12"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A13EFAF8-DD1D-48BE-8005-7BFEE0342D97}"/>
              </a:ext>
            </a:extLst>
          </p:cNvPr>
          <p:cNvSpPr>
            <a:spLocks noGrp="1"/>
          </p:cNvSpPr>
          <p:nvPr>
            <p:ph type="ftr" sz="quarter" idx="11"/>
          </p:nvPr>
        </p:nvSpPr>
        <p:spPr/>
        <p:txBody>
          <a:bodyPr/>
          <a:lstStyle/>
          <a:p>
            <a:r>
              <a:rPr lang="en-US"/>
              <a:t>11</a:t>
            </a:r>
          </a:p>
        </p:txBody>
      </p:sp>
      <p:grpSp>
        <p:nvGrpSpPr>
          <p:cNvPr id="5" name="Group 4">
            <a:extLst>
              <a:ext uri="{FF2B5EF4-FFF2-40B4-BE49-F238E27FC236}">
                <a16:creationId xmlns:a16="http://schemas.microsoft.com/office/drawing/2014/main" id="{C698120D-2F01-4A57-9D55-85D64BC68C21}"/>
              </a:ext>
            </a:extLst>
          </p:cNvPr>
          <p:cNvGrpSpPr/>
          <p:nvPr/>
        </p:nvGrpSpPr>
        <p:grpSpPr>
          <a:xfrm>
            <a:off x="276496" y="271925"/>
            <a:ext cx="2948243" cy="630942"/>
            <a:chOff x="-758763" y="330973"/>
            <a:chExt cx="2931692" cy="630942"/>
          </a:xfrm>
        </p:grpSpPr>
        <p:sp>
          <p:nvSpPr>
            <p:cNvPr id="6" name="TextBox 5">
              <a:extLst>
                <a:ext uri="{FF2B5EF4-FFF2-40B4-BE49-F238E27FC236}">
                  <a16:creationId xmlns:a16="http://schemas.microsoft.com/office/drawing/2014/main" id="{73CAD1D5-2C5C-4342-B2BE-D8C58CCDA6B5}"/>
                </a:ext>
              </a:extLst>
            </p:cNvPr>
            <p:cNvSpPr txBox="1"/>
            <p:nvPr/>
          </p:nvSpPr>
          <p:spPr>
            <a:xfrm>
              <a:off x="-758763" y="330973"/>
              <a:ext cx="2931692" cy="630942"/>
            </a:xfrm>
            <a:prstGeom prst="rect">
              <a:avLst/>
            </a:prstGeom>
            <a:noFill/>
          </p:spPr>
          <p:txBody>
            <a:bodyPr wrap="none" rtlCol="0">
              <a:spAutoFit/>
            </a:bodyPr>
            <a:lstStyle/>
            <a:p>
              <a:pPr algn="ctr"/>
              <a:r>
                <a:rPr lang="en-US" sz="3500">
                  <a:latin typeface="Open Sans" panose="020B0606030504020204" pitchFamily="34" charset="0"/>
                  <a:ea typeface="Open Sans" panose="020B0606030504020204" pitchFamily="34" charset="0"/>
                  <a:cs typeface="Open Sans" panose="020B0606030504020204" pitchFamily="34" charset="0"/>
                </a:rPr>
                <a:t>Cảm biến lửa</a:t>
              </a:r>
            </a:p>
          </p:txBody>
        </p:sp>
        <p:cxnSp>
          <p:nvCxnSpPr>
            <p:cNvPr id="7" name="Straight Connector 6">
              <a:extLst>
                <a:ext uri="{FF2B5EF4-FFF2-40B4-BE49-F238E27FC236}">
                  <a16:creationId xmlns:a16="http://schemas.microsoft.com/office/drawing/2014/main" id="{9A619B26-C4BB-45E1-908F-CF41931C1ADA}"/>
                </a:ext>
              </a:extLst>
            </p:cNvPr>
            <p:cNvCxnSpPr>
              <a:cxnSpLocks/>
            </p:cNvCxnSpPr>
            <p:nvPr/>
          </p:nvCxnSpPr>
          <p:spPr>
            <a:xfrm>
              <a:off x="-715464" y="961915"/>
              <a:ext cx="2888393" cy="0"/>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0" name="Group 9">
            <a:extLst>
              <a:ext uri="{FF2B5EF4-FFF2-40B4-BE49-F238E27FC236}">
                <a16:creationId xmlns:a16="http://schemas.microsoft.com/office/drawing/2014/main" id="{D8F5C53B-C7FF-4986-81CE-511248FCE5CF}"/>
              </a:ext>
            </a:extLst>
          </p:cNvPr>
          <p:cNvGrpSpPr/>
          <p:nvPr/>
        </p:nvGrpSpPr>
        <p:grpSpPr>
          <a:xfrm>
            <a:off x="513302" y="261288"/>
            <a:ext cx="10938469" cy="3902462"/>
            <a:chOff x="405528" y="853494"/>
            <a:chExt cx="9851654" cy="3902462"/>
          </a:xfrm>
        </p:grpSpPr>
        <p:pic>
          <p:nvPicPr>
            <p:cNvPr id="11" name="Picture 10" descr="Kết quả hình ảnh cho cảm biến lửa">
              <a:extLst>
                <a:ext uri="{FF2B5EF4-FFF2-40B4-BE49-F238E27FC236}">
                  <a16:creationId xmlns:a16="http://schemas.microsoft.com/office/drawing/2014/main" id="{0DF61426-A933-472D-9CFB-C83A8BF16EB5}"/>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rot="4378839">
              <a:off x="3614429" y="1614584"/>
              <a:ext cx="3902462" cy="2380282"/>
            </a:xfrm>
            <a:prstGeom prst="rect">
              <a:avLst/>
            </a:prstGeom>
            <a:noFill/>
            <a:ln>
              <a:noFill/>
            </a:ln>
          </p:spPr>
        </p:pic>
        <mc:AlternateContent xmlns:mc="http://schemas.openxmlformats.org/markup-compatibility/2006">
          <mc:Choice xmlns:a14="http://schemas.microsoft.com/office/drawing/2010/main" Requires="a14">
            <p:sp>
              <p:nvSpPr>
                <p:cNvPr id="12" name="Speech Bubble: Oval 11">
                  <a:extLst>
                    <a:ext uri="{FF2B5EF4-FFF2-40B4-BE49-F238E27FC236}">
                      <a16:creationId xmlns:a16="http://schemas.microsoft.com/office/drawing/2014/main" id="{0D617E7C-F95A-4018-B366-5F21AD2C7A39}"/>
                    </a:ext>
                  </a:extLst>
                </p:cNvPr>
                <p:cNvSpPr/>
                <p:nvPr/>
              </p:nvSpPr>
              <p:spPr>
                <a:xfrm>
                  <a:off x="405528" y="2630015"/>
                  <a:ext cx="4027430" cy="2014093"/>
                </a:xfrm>
                <a:prstGeom prst="wedgeEllipseCallout">
                  <a:avLst>
                    <a:gd name="adj1" fmla="val 60780"/>
                    <a:gd name="adj2" fmla="val -22530"/>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2500">
                      <a:latin typeface="Open Sans" panose="020B0606030504020204" pitchFamily="34" charset="0"/>
                      <a:ea typeface="Open Sans" panose="020B0606030504020204" pitchFamily="34" charset="0"/>
                      <a:cs typeface="Open Sans" panose="020B0606030504020204" pitchFamily="34" charset="0"/>
                    </a:rPr>
                    <a:t>Khoảng cách: 80 cm</a:t>
                  </a:r>
                </a:p>
                <a:p>
                  <a:pPr algn="ctr"/>
                  <a:r>
                    <a:rPr lang="en-US" sz="2500">
                      <a:latin typeface="Open Sans" panose="020B0606030504020204" pitchFamily="34" charset="0"/>
                      <a:ea typeface="Open Sans" panose="020B0606030504020204" pitchFamily="34" charset="0"/>
                      <a:cs typeface="Open Sans" panose="020B0606030504020204" pitchFamily="34" charset="0"/>
                    </a:rPr>
                    <a:t>Góc quét: 0 – 60</a:t>
                  </a:r>
                  <a14:m>
                    <m:oMath xmlns:m="http://schemas.openxmlformats.org/officeDocument/2006/math">
                      <m:r>
                        <a:rPr lang="es-ES" sz="2500" i="1">
                          <a:latin typeface="Cambria Math" panose="02040503050406030204" pitchFamily="18" charset="0"/>
                          <a:ea typeface="Cambria Math" panose="02040503050406030204" pitchFamily="18" charset="0"/>
                        </a:rPr>
                        <m:t>°</m:t>
                      </m:r>
                    </m:oMath>
                  </a14:m>
                  <a:endParaRPr lang="en-US" sz="2500">
                    <a:latin typeface="Open Sans" panose="020B0606030504020204" pitchFamily="34" charset="0"/>
                    <a:ea typeface="Open Sans" panose="020B0606030504020204" pitchFamily="34" charset="0"/>
                    <a:cs typeface="Open Sans" panose="020B0606030504020204" pitchFamily="34" charset="0"/>
                  </a:endParaRPr>
                </a:p>
                <a:p>
                  <a:pPr algn="ctr"/>
                  <a:r>
                    <a:rPr lang="en-US" sz="2500">
                      <a:latin typeface="Open Sans" panose="020B0606030504020204" pitchFamily="34" charset="0"/>
                      <a:ea typeface="Open Sans" panose="020B0606030504020204" pitchFamily="34" charset="0"/>
                      <a:cs typeface="Open Sans" panose="020B0606030504020204" pitchFamily="34" charset="0"/>
                    </a:rPr>
                    <a:t>Hoạt động tốt: </a:t>
                  </a:r>
                </a:p>
                <a:p>
                  <a:pPr algn="ctr"/>
                  <a:r>
                    <a:rPr lang="es-ES" sz="2500">
                      <a:latin typeface="Open Sans" panose="020B0606030504020204" pitchFamily="34" charset="0"/>
                      <a:ea typeface="Open Sans" panose="020B0606030504020204" pitchFamily="34" charset="0"/>
                      <a:cs typeface="Open Sans" panose="020B0606030504020204" pitchFamily="34" charset="0"/>
                    </a:rPr>
                    <a:t>25</a:t>
                  </a:r>
                  <a14:m>
                    <m:oMath xmlns:m="http://schemas.openxmlformats.org/officeDocument/2006/math">
                      <m:r>
                        <a:rPr lang="es-ES" sz="2500" i="1">
                          <a:latin typeface="Cambria Math" panose="02040503050406030204" pitchFamily="18" charset="0"/>
                          <a:ea typeface="Cambria Math" panose="02040503050406030204" pitchFamily="18" charset="0"/>
                        </a:rPr>
                        <m:t>°</m:t>
                      </m:r>
                    </m:oMath>
                  </a14:m>
                  <a:r>
                    <a:rPr lang="es-ES" sz="2500">
                      <a:latin typeface="Open Sans" panose="020B0606030504020204" pitchFamily="34" charset="0"/>
                      <a:ea typeface="Open Sans" panose="020B0606030504020204" pitchFamily="34" charset="0"/>
                      <a:cs typeface="Open Sans" panose="020B0606030504020204" pitchFamily="34" charset="0"/>
                    </a:rPr>
                    <a:t>C ~ 85 </a:t>
                  </a:r>
                  <a14:m>
                    <m:oMath xmlns:m="http://schemas.openxmlformats.org/officeDocument/2006/math">
                      <m:r>
                        <a:rPr lang="es-ES" sz="2500" i="1">
                          <a:latin typeface="Cambria Math" panose="02040503050406030204" pitchFamily="18" charset="0"/>
                          <a:ea typeface="Cambria Math" panose="02040503050406030204" pitchFamily="18" charset="0"/>
                        </a:rPr>
                        <m:t>° </m:t>
                      </m:r>
                    </m:oMath>
                  </a14:m>
                  <a:r>
                    <a:rPr lang="es-ES" sz="2500">
                      <a:latin typeface="Open Sans" panose="020B0606030504020204" pitchFamily="34" charset="0"/>
                      <a:ea typeface="Open Sans" panose="020B0606030504020204" pitchFamily="34" charset="0"/>
                      <a:cs typeface="Open Sans" panose="020B0606030504020204" pitchFamily="34" charset="0"/>
                    </a:rPr>
                    <a:t>C </a:t>
                  </a:r>
                  <a:endParaRPr lang="en-US" sz="2500">
                    <a:latin typeface="Open Sans" panose="020B0606030504020204" pitchFamily="34" charset="0"/>
                    <a:ea typeface="Open Sans" panose="020B0606030504020204" pitchFamily="34" charset="0"/>
                    <a:cs typeface="Open Sans" panose="020B0606030504020204" pitchFamily="34" charset="0"/>
                  </a:endParaRPr>
                </a:p>
              </p:txBody>
            </p:sp>
          </mc:Choice>
          <mc:Fallback>
            <p:sp>
              <p:nvSpPr>
                <p:cNvPr id="12" name="Speech Bubble: Oval 11">
                  <a:extLst>
                    <a:ext uri="{FF2B5EF4-FFF2-40B4-BE49-F238E27FC236}">
                      <a16:creationId xmlns:a16="http://schemas.microsoft.com/office/drawing/2014/main" id="{0D617E7C-F95A-4018-B366-5F21AD2C7A39}"/>
                    </a:ext>
                  </a:extLst>
                </p:cNvPr>
                <p:cNvSpPr>
                  <a:spLocks noRot="1" noChangeAspect="1" noMove="1" noResize="1" noEditPoints="1" noAdjustHandles="1" noChangeArrowheads="1" noChangeShapeType="1" noTextEdit="1"/>
                </p:cNvSpPr>
                <p:nvPr/>
              </p:nvSpPr>
              <p:spPr>
                <a:xfrm>
                  <a:off x="405528" y="2630015"/>
                  <a:ext cx="4027430" cy="2014093"/>
                </a:xfrm>
                <a:prstGeom prst="wedgeEllipseCallout">
                  <a:avLst>
                    <a:gd name="adj1" fmla="val 60780"/>
                    <a:gd name="adj2" fmla="val -22530"/>
                  </a:avLst>
                </a:prstGeom>
                <a:blipFill>
                  <a:blip r:embed="rId3"/>
                  <a:stretch>
                    <a:fillRect/>
                  </a:stretch>
                </a:blipFill>
              </p:spPr>
              <p:txBody>
                <a:bodyPr/>
                <a:lstStyle/>
                <a:p>
                  <a:r>
                    <a:rPr lang="en-US">
                      <a:noFill/>
                    </a:rPr>
                    <a:t> </a:t>
                  </a:r>
                </a:p>
              </p:txBody>
            </p:sp>
          </mc:Fallback>
        </mc:AlternateContent>
        <p:grpSp>
          <p:nvGrpSpPr>
            <p:cNvPr id="13" name="Group 12">
              <a:extLst>
                <a:ext uri="{FF2B5EF4-FFF2-40B4-BE49-F238E27FC236}">
                  <a16:creationId xmlns:a16="http://schemas.microsoft.com/office/drawing/2014/main" id="{C43F20E2-EF4D-4504-8EC7-78213B3211FD}"/>
                </a:ext>
              </a:extLst>
            </p:cNvPr>
            <p:cNvGrpSpPr/>
            <p:nvPr/>
          </p:nvGrpSpPr>
          <p:grpSpPr>
            <a:xfrm>
              <a:off x="6608195" y="1805948"/>
              <a:ext cx="3648987" cy="1616508"/>
              <a:chOff x="6608195" y="1805948"/>
              <a:chExt cx="3648987" cy="1616508"/>
            </a:xfrm>
          </p:grpSpPr>
          <p:cxnSp>
            <p:nvCxnSpPr>
              <p:cNvPr id="14" name="Straight Arrow Connector 13">
                <a:extLst>
                  <a:ext uri="{FF2B5EF4-FFF2-40B4-BE49-F238E27FC236}">
                    <a16:creationId xmlns:a16="http://schemas.microsoft.com/office/drawing/2014/main" id="{D233FA2F-41C1-489C-947E-24CBD9A05671}"/>
                  </a:ext>
                </a:extLst>
              </p:cNvPr>
              <p:cNvCxnSpPr>
                <a:cxnSpLocks/>
              </p:cNvCxnSpPr>
              <p:nvPr/>
            </p:nvCxnSpPr>
            <p:spPr>
              <a:xfrm flipV="1">
                <a:off x="6608195" y="2804726"/>
                <a:ext cx="2171830" cy="5"/>
              </a:xfrm>
              <a:prstGeom prst="straightConnector1">
                <a:avLst/>
              </a:prstGeom>
              <a:ln w="76200">
                <a:headEnd type="triangle"/>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4BCF89DF-E8CD-4247-B138-0C15CD37CB9B}"/>
                  </a:ext>
                </a:extLst>
              </p:cNvPr>
              <p:cNvSpPr txBox="1"/>
              <p:nvPr/>
            </p:nvSpPr>
            <p:spPr>
              <a:xfrm>
                <a:off x="7163517" y="2327671"/>
                <a:ext cx="931665" cy="477054"/>
              </a:xfrm>
              <a:prstGeom prst="rect">
                <a:avLst/>
              </a:prstGeom>
              <a:noFill/>
            </p:spPr>
            <p:txBody>
              <a:bodyPr wrap="none" rtlCol="0">
                <a:spAutoFit/>
              </a:bodyPr>
              <a:lstStyle/>
              <a:p>
                <a:r>
                  <a:rPr lang="en-US" sz="2500">
                    <a:latin typeface="Open Sans" panose="020B0606030504020204" pitchFamily="34" charset="0"/>
                    <a:ea typeface="Open Sans" panose="020B0606030504020204" pitchFamily="34" charset="0"/>
                    <a:cs typeface="Open Sans" panose="020B0606030504020204" pitchFamily="34" charset="0"/>
                  </a:rPr>
                  <a:t>&lt; 1m</a:t>
                </a:r>
              </a:p>
            </p:txBody>
          </p:sp>
          <p:pic>
            <p:nvPicPr>
              <p:cNvPr id="16" name="Picture 15">
                <a:extLst>
                  <a:ext uri="{FF2B5EF4-FFF2-40B4-BE49-F238E27FC236}">
                    <a16:creationId xmlns:a16="http://schemas.microsoft.com/office/drawing/2014/main" id="{DCA1F1DF-CE0F-4214-BE02-73F66B72AB8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640674" y="1805948"/>
                <a:ext cx="1616508" cy="1616508"/>
              </a:xfrm>
              <a:prstGeom prst="rect">
                <a:avLst/>
              </a:prstGeom>
            </p:spPr>
          </p:pic>
        </p:grpSp>
      </p:grpSp>
      <p:grpSp>
        <p:nvGrpSpPr>
          <p:cNvPr id="17" name="Group 16">
            <a:extLst>
              <a:ext uri="{FF2B5EF4-FFF2-40B4-BE49-F238E27FC236}">
                <a16:creationId xmlns:a16="http://schemas.microsoft.com/office/drawing/2014/main" id="{734126BB-E9FE-42CB-8E64-37A87370D89B}"/>
              </a:ext>
            </a:extLst>
          </p:cNvPr>
          <p:cNvGrpSpPr/>
          <p:nvPr/>
        </p:nvGrpSpPr>
        <p:grpSpPr>
          <a:xfrm>
            <a:off x="545092" y="4518496"/>
            <a:ext cx="11101816" cy="1888221"/>
            <a:chOff x="3834993" y="4640062"/>
            <a:chExt cx="8115712" cy="1754800"/>
          </a:xfrm>
        </p:grpSpPr>
        <p:grpSp>
          <p:nvGrpSpPr>
            <p:cNvPr id="18" name="Group 17">
              <a:extLst>
                <a:ext uri="{FF2B5EF4-FFF2-40B4-BE49-F238E27FC236}">
                  <a16:creationId xmlns:a16="http://schemas.microsoft.com/office/drawing/2014/main" id="{CB308080-96F4-4DF9-8D45-5F4BFC664E04}"/>
                </a:ext>
              </a:extLst>
            </p:cNvPr>
            <p:cNvGrpSpPr/>
            <p:nvPr/>
          </p:nvGrpSpPr>
          <p:grpSpPr>
            <a:xfrm>
              <a:off x="3920070" y="5201259"/>
              <a:ext cx="8030635" cy="1193603"/>
              <a:chOff x="-366242" y="-1"/>
              <a:chExt cx="9502195" cy="1258645"/>
            </a:xfrm>
          </p:grpSpPr>
          <p:sp>
            <p:nvSpPr>
              <p:cNvPr id="20" name="Rectangle 19">
                <a:extLst>
                  <a:ext uri="{FF2B5EF4-FFF2-40B4-BE49-F238E27FC236}">
                    <a16:creationId xmlns:a16="http://schemas.microsoft.com/office/drawing/2014/main" id="{7ED09DD9-021E-49FC-9A37-28ABBCC2B2AC}"/>
                  </a:ext>
                </a:extLst>
              </p:cNvPr>
              <p:cNvSpPr/>
              <p:nvPr/>
            </p:nvSpPr>
            <p:spPr>
              <a:xfrm>
                <a:off x="-366242" y="17"/>
                <a:ext cx="2270940" cy="1258627"/>
              </a:xfrm>
              <a:prstGeom prst="rect">
                <a:avLst/>
              </a:prstGeom>
              <a:ln w="3175"/>
            </p:spPr>
            <p:style>
              <a:lnRef idx="2">
                <a:schemeClr val="dk1"/>
              </a:lnRef>
              <a:fillRef idx="1">
                <a:schemeClr val="lt1"/>
              </a:fillRef>
              <a:effectRef idx="0">
                <a:schemeClr val="dk1"/>
              </a:effectRef>
              <a:fontRef idx="minor">
                <a:schemeClr val="dk1"/>
              </a:fontRef>
            </p:style>
            <p:txBody>
              <a:bodyPr rtlCol="0" anchor="ctr"/>
              <a:lstStyle/>
              <a:p>
                <a:pPr algn="ctr">
                  <a:spcAft>
                    <a:spcPts val="0"/>
                  </a:spcAft>
                </a:pPr>
                <a:r>
                  <a:rPr lang="vi-VN" sz="2800">
                    <a:solidFill>
                      <a:schemeClr val="tx1"/>
                    </a:solidFill>
                    <a:latin typeface="Open Sans" panose="020B0606030504020204" pitchFamily="34" charset="0"/>
                    <a:ea typeface="Open Sans" panose="020B0606030504020204" pitchFamily="34" charset="0"/>
                    <a:cs typeface="Open Sans" panose="020B0606030504020204" pitchFamily="34" charset="0"/>
                  </a:rPr>
                  <a:t>Môi trường có </a:t>
                </a:r>
                <a:r>
                  <a:rPr lang="en-US" sz="2800">
                    <a:solidFill>
                      <a:schemeClr val="tx1"/>
                    </a:solidFill>
                    <a:latin typeface="Open Sans" panose="020B0606030504020204" pitchFamily="34" charset="0"/>
                    <a:ea typeface="Open Sans" panose="020B0606030504020204" pitchFamily="34" charset="0"/>
                    <a:cs typeface="Open Sans" panose="020B0606030504020204" pitchFamily="34" charset="0"/>
                  </a:rPr>
                  <a:t>lửa</a:t>
                </a:r>
              </a:p>
            </p:txBody>
          </p:sp>
          <p:sp>
            <p:nvSpPr>
              <p:cNvPr id="21" name="Rectangle 20">
                <a:extLst>
                  <a:ext uri="{FF2B5EF4-FFF2-40B4-BE49-F238E27FC236}">
                    <a16:creationId xmlns:a16="http://schemas.microsoft.com/office/drawing/2014/main" id="{A17DD8B0-BF29-479B-B9EB-20C793D7B7F8}"/>
                  </a:ext>
                </a:extLst>
              </p:cNvPr>
              <p:cNvSpPr/>
              <p:nvPr/>
            </p:nvSpPr>
            <p:spPr>
              <a:xfrm>
                <a:off x="2512128" y="0"/>
                <a:ext cx="1722853" cy="1258627"/>
              </a:xfrm>
              <a:prstGeom prst="rect">
                <a:avLst/>
              </a:prstGeom>
              <a:ln w="3175"/>
            </p:spPr>
            <p:style>
              <a:lnRef idx="2">
                <a:schemeClr val="dk1"/>
              </a:lnRef>
              <a:fillRef idx="1">
                <a:schemeClr val="lt1"/>
              </a:fillRef>
              <a:effectRef idx="0">
                <a:schemeClr val="dk1"/>
              </a:effectRef>
              <a:fontRef idx="minor">
                <a:schemeClr val="dk1"/>
              </a:fontRef>
            </p:style>
            <p:txBody>
              <a:bodyPr rtlCol="0" anchor="ctr"/>
              <a:lstStyle/>
              <a:p>
                <a:pPr algn="ctr">
                  <a:spcAft>
                    <a:spcPts val="0"/>
                  </a:spcAft>
                </a:pPr>
                <a:r>
                  <a:rPr lang="vi-VN" sz="2500">
                    <a:solidFill>
                      <a:schemeClr val="tx1"/>
                    </a:solidFill>
                    <a:latin typeface="Open Sans" panose="020B0606030504020204" pitchFamily="34" charset="0"/>
                    <a:ea typeface="Open Sans" panose="020B0606030504020204" pitchFamily="34" charset="0"/>
                    <a:cs typeface="Open Sans" panose="020B0606030504020204" pitchFamily="34" charset="0"/>
                  </a:rPr>
                  <a:t>Cảm biến</a:t>
                </a:r>
                <a:endParaRPr lang="en-US" sz="250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2" name="Rectangle 21">
                <a:extLst>
                  <a:ext uri="{FF2B5EF4-FFF2-40B4-BE49-F238E27FC236}">
                    <a16:creationId xmlns:a16="http://schemas.microsoft.com/office/drawing/2014/main" id="{54496450-7814-4D6A-8507-DB3B0100E5E8}"/>
                  </a:ext>
                </a:extLst>
              </p:cNvPr>
              <p:cNvSpPr/>
              <p:nvPr/>
            </p:nvSpPr>
            <p:spPr>
              <a:xfrm>
                <a:off x="4942084" y="-1"/>
                <a:ext cx="1743383" cy="1258580"/>
              </a:xfrm>
              <a:prstGeom prst="rect">
                <a:avLst/>
              </a:prstGeom>
              <a:ln w="3175"/>
            </p:spPr>
            <p:style>
              <a:lnRef idx="2">
                <a:schemeClr val="dk1"/>
              </a:lnRef>
              <a:fillRef idx="1">
                <a:schemeClr val="lt1"/>
              </a:fillRef>
              <a:effectRef idx="0">
                <a:schemeClr val="dk1"/>
              </a:effectRef>
              <a:fontRef idx="minor">
                <a:schemeClr val="dk1"/>
              </a:fontRef>
            </p:style>
            <p:txBody>
              <a:bodyPr rtlCol="0" anchor="ctr"/>
              <a:lstStyle/>
              <a:p>
                <a:pPr algn="ctr">
                  <a:spcAft>
                    <a:spcPts val="0"/>
                  </a:spcAft>
                </a:pPr>
                <a:r>
                  <a:rPr lang="vi-VN" sz="2500">
                    <a:solidFill>
                      <a:schemeClr val="tx1"/>
                    </a:solidFill>
                    <a:latin typeface="Open Sans" panose="020B0606030504020204" pitchFamily="34" charset="0"/>
                    <a:ea typeface="Open Sans" panose="020B0606030504020204" pitchFamily="34" charset="0"/>
                    <a:cs typeface="Open Sans" panose="020B0606030504020204" pitchFamily="34" charset="0"/>
                  </a:rPr>
                  <a:t>Truyền dữ liệu lên server</a:t>
                </a:r>
                <a:endParaRPr lang="en-US" sz="250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3" name="Rectangle 22">
                <a:extLst>
                  <a:ext uri="{FF2B5EF4-FFF2-40B4-BE49-F238E27FC236}">
                    <a16:creationId xmlns:a16="http://schemas.microsoft.com/office/drawing/2014/main" id="{799A70EB-4650-4613-9738-A8F1323FC189}"/>
                  </a:ext>
                </a:extLst>
              </p:cNvPr>
              <p:cNvSpPr/>
              <p:nvPr/>
            </p:nvSpPr>
            <p:spPr>
              <a:xfrm>
                <a:off x="7392570" y="-1"/>
                <a:ext cx="1743383" cy="1258569"/>
              </a:xfrm>
              <a:prstGeom prst="rect">
                <a:avLst/>
              </a:prstGeom>
              <a:ln w="3175"/>
            </p:spPr>
            <p:style>
              <a:lnRef idx="2">
                <a:schemeClr val="dk1"/>
              </a:lnRef>
              <a:fillRef idx="1">
                <a:schemeClr val="lt1"/>
              </a:fillRef>
              <a:effectRef idx="0">
                <a:schemeClr val="dk1"/>
              </a:effectRef>
              <a:fontRef idx="minor">
                <a:schemeClr val="dk1"/>
              </a:fontRef>
            </p:style>
            <p:txBody>
              <a:bodyPr rtlCol="0" anchor="ctr"/>
              <a:lstStyle/>
              <a:p>
                <a:pPr algn="ctr">
                  <a:spcAft>
                    <a:spcPts val="0"/>
                  </a:spcAft>
                </a:pPr>
                <a:r>
                  <a:rPr lang="vi-VN" sz="2500">
                    <a:solidFill>
                      <a:schemeClr val="tx1"/>
                    </a:solidFill>
                    <a:latin typeface="Open Sans" panose="020B0606030504020204" pitchFamily="34" charset="0"/>
                    <a:ea typeface="Open Sans" panose="020B0606030504020204" pitchFamily="34" charset="0"/>
                    <a:cs typeface="Open Sans" panose="020B0606030504020204" pitchFamily="34" charset="0"/>
                  </a:rPr>
                  <a:t>Hiển thị dữ liệu cho người dùng</a:t>
                </a:r>
                <a:endParaRPr lang="en-US" sz="250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cxnSp>
            <p:nvCxnSpPr>
              <p:cNvPr id="24" name="Straight Arrow Connector 23">
                <a:extLst>
                  <a:ext uri="{FF2B5EF4-FFF2-40B4-BE49-F238E27FC236}">
                    <a16:creationId xmlns:a16="http://schemas.microsoft.com/office/drawing/2014/main" id="{255752E4-D1F4-43FB-A734-332F4594DE3F}"/>
                  </a:ext>
                </a:extLst>
              </p:cNvPr>
              <p:cNvCxnSpPr>
                <a:cxnSpLocks/>
                <a:stCxn id="20" idx="3"/>
                <a:endCxn id="21" idx="1"/>
              </p:cNvCxnSpPr>
              <p:nvPr/>
            </p:nvCxnSpPr>
            <p:spPr>
              <a:xfrm flipV="1">
                <a:off x="1904698" y="629314"/>
                <a:ext cx="607430" cy="17"/>
              </a:xfrm>
              <a:prstGeom prst="straightConnector1">
                <a:avLst/>
              </a:prstGeom>
              <a:ln w="3175">
                <a:tailEnd type="triangle"/>
              </a:ln>
            </p:spPr>
            <p:style>
              <a:lnRef idx="2">
                <a:schemeClr val="dk1"/>
              </a:lnRef>
              <a:fillRef idx="1">
                <a:schemeClr val="lt1"/>
              </a:fillRef>
              <a:effectRef idx="0">
                <a:schemeClr val="dk1"/>
              </a:effectRef>
              <a:fontRef idx="minor">
                <a:schemeClr val="dk1"/>
              </a:fontRef>
            </p:style>
          </p:cxnSp>
          <p:cxnSp>
            <p:nvCxnSpPr>
              <p:cNvPr id="25" name="Straight Arrow Connector 24">
                <a:extLst>
                  <a:ext uri="{FF2B5EF4-FFF2-40B4-BE49-F238E27FC236}">
                    <a16:creationId xmlns:a16="http://schemas.microsoft.com/office/drawing/2014/main" id="{85BD5340-CE7A-4859-A4B2-07D017D59A75}"/>
                  </a:ext>
                </a:extLst>
              </p:cNvPr>
              <p:cNvCxnSpPr>
                <a:cxnSpLocks/>
                <a:stCxn id="21" idx="3"/>
                <a:endCxn id="22" idx="1"/>
              </p:cNvCxnSpPr>
              <p:nvPr/>
            </p:nvCxnSpPr>
            <p:spPr>
              <a:xfrm flipV="1">
                <a:off x="4234981" y="629290"/>
                <a:ext cx="707103" cy="24"/>
              </a:xfrm>
              <a:prstGeom prst="straightConnector1">
                <a:avLst/>
              </a:prstGeom>
              <a:ln w="3175">
                <a:tailEnd type="triangle"/>
              </a:ln>
            </p:spPr>
            <p:style>
              <a:lnRef idx="2">
                <a:schemeClr val="dk1"/>
              </a:lnRef>
              <a:fillRef idx="1">
                <a:schemeClr val="lt1"/>
              </a:fillRef>
              <a:effectRef idx="0">
                <a:schemeClr val="dk1"/>
              </a:effectRef>
              <a:fontRef idx="minor">
                <a:schemeClr val="dk1"/>
              </a:fontRef>
            </p:style>
          </p:cxnSp>
          <p:cxnSp>
            <p:nvCxnSpPr>
              <p:cNvPr id="26" name="Straight Arrow Connector 25">
                <a:extLst>
                  <a:ext uri="{FF2B5EF4-FFF2-40B4-BE49-F238E27FC236}">
                    <a16:creationId xmlns:a16="http://schemas.microsoft.com/office/drawing/2014/main" id="{CBF0DA0E-38AA-4E19-9C62-3C1C73264FF4}"/>
                  </a:ext>
                </a:extLst>
              </p:cNvPr>
              <p:cNvCxnSpPr>
                <a:cxnSpLocks/>
                <a:stCxn id="22" idx="3"/>
                <a:endCxn id="23" idx="1"/>
              </p:cNvCxnSpPr>
              <p:nvPr/>
            </p:nvCxnSpPr>
            <p:spPr>
              <a:xfrm flipV="1">
                <a:off x="6685467" y="629284"/>
                <a:ext cx="707102" cy="6"/>
              </a:xfrm>
              <a:prstGeom prst="straightConnector1">
                <a:avLst/>
              </a:prstGeom>
              <a:ln w="3175">
                <a:tailEnd type="triangle"/>
              </a:ln>
            </p:spPr>
            <p:style>
              <a:lnRef idx="2">
                <a:schemeClr val="dk1"/>
              </a:lnRef>
              <a:fillRef idx="1">
                <a:schemeClr val="lt1"/>
              </a:fillRef>
              <a:effectRef idx="0">
                <a:schemeClr val="dk1"/>
              </a:effectRef>
              <a:fontRef idx="minor">
                <a:schemeClr val="dk1"/>
              </a:fontRef>
            </p:style>
          </p:cxnSp>
        </p:grpSp>
        <p:sp>
          <p:nvSpPr>
            <p:cNvPr id="19" name="TextBox 18">
              <a:extLst>
                <a:ext uri="{FF2B5EF4-FFF2-40B4-BE49-F238E27FC236}">
                  <a16:creationId xmlns:a16="http://schemas.microsoft.com/office/drawing/2014/main" id="{15605C87-136A-453F-BDE8-05C2D01AFEC9}"/>
                </a:ext>
              </a:extLst>
            </p:cNvPr>
            <p:cNvSpPr txBox="1"/>
            <p:nvPr/>
          </p:nvSpPr>
          <p:spPr>
            <a:xfrm>
              <a:off x="3834993" y="4640062"/>
              <a:ext cx="3104428" cy="443346"/>
            </a:xfrm>
            <a:prstGeom prst="rect">
              <a:avLst/>
            </a:prstGeom>
            <a:noFill/>
          </p:spPr>
          <p:txBody>
            <a:bodyPr wrap="none" rtlCol="0">
              <a:spAutoFit/>
            </a:bodyPr>
            <a:lstStyle/>
            <a:p>
              <a:r>
                <a:rPr lang="en-US" sz="2500" b="1">
                  <a:solidFill>
                    <a:schemeClr val="bg1">
                      <a:lumMod val="50000"/>
                    </a:schemeClr>
                  </a:solidFill>
                  <a:latin typeface="Open Sans" panose="020B0606030504020204" pitchFamily="34" charset="0"/>
                  <a:ea typeface="Open Sans" panose="020B0606030504020204" pitchFamily="34" charset="0"/>
                  <a:cs typeface="Open Sans" panose="020B0606030504020204" pitchFamily="34" charset="0"/>
                </a:rPr>
                <a:t>Cảm biến lửa trong đề tài</a:t>
              </a:r>
            </a:p>
          </p:txBody>
        </p:sp>
      </p:grpSp>
      <p:cxnSp>
        <p:nvCxnSpPr>
          <p:cNvPr id="33" name="Straight Arrow Connector 32">
            <a:extLst>
              <a:ext uri="{FF2B5EF4-FFF2-40B4-BE49-F238E27FC236}">
                <a16:creationId xmlns:a16="http://schemas.microsoft.com/office/drawing/2014/main" id="{F2C0784C-F082-49D7-A27C-D1B5F8C42FC9}"/>
              </a:ext>
            </a:extLst>
          </p:cNvPr>
          <p:cNvCxnSpPr>
            <a:cxnSpLocks/>
          </p:cNvCxnSpPr>
          <p:nvPr/>
        </p:nvCxnSpPr>
        <p:spPr>
          <a:xfrm>
            <a:off x="5601614" y="1093469"/>
            <a:ext cx="1798621" cy="1606188"/>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327FE602-0AB7-48D2-BD26-1D7A27CB03AB}"/>
              </a:ext>
            </a:extLst>
          </p:cNvPr>
          <p:cNvSpPr txBox="1"/>
          <p:nvPr/>
        </p:nvSpPr>
        <p:spPr>
          <a:xfrm rot="2591962">
            <a:off x="6421100" y="1711896"/>
            <a:ext cx="700833" cy="369332"/>
          </a:xfrm>
          <a:prstGeom prst="rect">
            <a:avLst/>
          </a:prstGeom>
          <a:noFill/>
        </p:spPr>
        <p:txBody>
          <a:bodyPr wrap="none" rtlCol="0">
            <a:spAutoFit/>
          </a:bodyPr>
          <a:lstStyle/>
          <a:p>
            <a:r>
              <a:rPr lang="en-US">
                <a:latin typeface="Open Sans" panose="020B0606030504020204" pitchFamily="34" charset="0"/>
                <a:ea typeface="Open Sans" panose="020B0606030504020204" pitchFamily="34" charset="0"/>
                <a:cs typeface="Open Sans" panose="020B0606030504020204" pitchFamily="34" charset="0"/>
              </a:rPr>
              <a:t>3 cm</a:t>
            </a:r>
          </a:p>
        </p:txBody>
      </p:sp>
      <p:cxnSp>
        <p:nvCxnSpPr>
          <p:cNvPr id="37" name="Straight Arrow Connector 36">
            <a:extLst>
              <a:ext uri="{FF2B5EF4-FFF2-40B4-BE49-F238E27FC236}">
                <a16:creationId xmlns:a16="http://schemas.microsoft.com/office/drawing/2014/main" id="{80FC39C9-1362-43C8-9816-3BB6831A554B}"/>
              </a:ext>
            </a:extLst>
          </p:cNvPr>
          <p:cNvCxnSpPr>
            <a:cxnSpLocks/>
          </p:cNvCxnSpPr>
          <p:nvPr/>
        </p:nvCxnSpPr>
        <p:spPr>
          <a:xfrm flipV="1">
            <a:off x="7171315" y="2869812"/>
            <a:ext cx="332571" cy="591331"/>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B8CC0F66-722F-45E0-AD04-8424FA0944DB}"/>
              </a:ext>
            </a:extLst>
          </p:cNvPr>
          <p:cNvSpPr txBox="1"/>
          <p:nvPr/>
        </p:nvSpPr>
        <p:spPr>
          <a:xfrm rot="17902103">
            <a:off x="7054567" y="2980811"/>
            <a:ext cx="1069524" cy="369332"/>
          </a:xfrm>
          <a:prstGeom prst="rect">
            <a:avLst/>
          </a:prstGeom>
          <a:noFill/>
        </p:spPr>
        <p:txBody>
          <a:bodyPr wrap="square" rtlCol="0">
            <a:spAutoFit/>
          </a:bodyPr>
          <a:lstStyle/>
          <a:p>
            <a:r>
              <a:rPr lang="en-US">
                <a:latin typeface="Open Sans" panose="020B0606030504020204" pitchFamily="34" charset="0"/>
                <a:ea typeface="Open Sans" panose="020B0606030504020204" pitchFamily="34" charset="0"/>
                <a:cs typeface="Open Sans" panose="020B0606030504020204" pitchFamily="34" charset="0"/>
              </a:rPr>
              <a:t>1.5 cm</a:t>
            </a:r>
          </a:p>
        </p:txBody>
      </p:sp>
    </p:spTree>
    <p:extLst>
      <p:ext uri="{BB962C8B-B14F-4D97-AF65-F5344CB8AC3E}">
        <p14:creationId xmlns:p14="http://schemas.microsoft.com/office/powerpoint/2010/main" val="5378942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fill="hold"/>
                                        <p:tgtEl>
                                          <p:spTgt spid="17"/>
                                        </p:tgtEl>
                                        <p:attrNameLst>
                                          <p:attrName>ppt_x</p:attrName>
                                        </p:attrNameLst>
                                      </p:cBhvr>
                                      <p:tavLst>
                                        <p:tav tm="0">
                                          <p:val>
                                            <p:strVal val="#ppt_x"/>
                                          </p:val>
                                        </p:tav>
                                        <p:tav tm="100000">
                                          <p:val>
                                            <p:strVal val="#ppt_x"/>
                                          </p:val>
                                        </p:tav>
                                      </p:tavLst>
                                    </p:anim>
                                    <p:anim calcmode="lin" valueType="num">
                                      <p:cBhvr additive="base">
                                        <p:cTn id="8"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999620D2-CCE2-4F41-9E1E-0F16FA835407}"/>
              </a:ext>
            </a:extLst>
          </p:cNvPr>
          <p:cNvSpPr>
            <a:spLocks noGrp="1"/>
          </p:cNvSpPr>
          <p:nvPr>
            <p:ph type="ftr" sz="quarter" idx="11"/>
          </p:nvPr>
        </p:nvSpPr>
        <p:spPr/>
        <p:txBody>
          <a:bodyPr/>
          <a:lstStyle/>
          <a:p>
            <a:r>
              <a:rPr lang="en-US"/>
              <a:t>12</a:t>
            </a:r>
          </a:p>
        </p:txBody>
      </p:sp>
      <p:grpSp>
        <p:nvGrpSpPr>
          <p:cNvPr id="5" name="Group 4">
            <a:extLst>
              <a:ext uri="{FF2B5EF4-FFF2-40B4-BE49-F238E27FC236}">
                <a16:creationId xmlns:a16="http://schemas.microsoft.com/office/drawing/2014/main" id="{7804A034-9D69-42A2-9DA0-B63718270C2C}"/>
              </a:ext>
            </a:extLst>
          </p:cNvPr>
          <p:cNvGrpSpPr/>
          <p:nvPr/>
        </p:nvGrpSpPr>
        <p:grpSpPr>
          <a:xfrm>
            <a:off x="134957" y="136525"/>
            <a:ext cx="5205271" cy="630942"/>
            <a:chOff x="-1880941" y="330973"/>
            <a:chExt cx="5176048" cy="630942"/>
          </a:xfrm>
        </p:grpSpPr>
        <p:sp>
          <p:nvSpPr>
            <p:cNvPr id="6" name="TextBox 5">
              <a:extLst>
                <a:ext uri="{FF2B5EF4-FFF2-40B4-BE49-F238E27FC236}">
                  <a16:creationId xmlns:a16="http://schemas.microsoft.com/office/drawing/2014/main" id="{F08033E3-D525-477C-B61C-AB9F40E126EC}"/>
                </a:ext>
              </a:extLst>
            </p:cNvPr>
            <p:cNvSpPr txBox="1"/>
            <p:nvPr/>
          </p:nvSpPr>
          <p:spPr>
            <a:xfrm>
              <a:off x="-1880941" y="330973"/>
              <a:ext cx="5176048" cy="630942"/>
            </a:xfrm>
            <a:prstGeom prst="rect">
              <a:avLst/>
            </a:prstGeom>
            <a:noFill/>
          </p:spPr>
          <p:txBody>
            <a:bodyPr wrap="none" rtlCol="0">
              <a:spAutoFit/>
            </a:bodyPr>
            <a:lstStyle/>
            <a:p>
              <a:pPr algn="ctr"/>
              <a:r>
                <a:rPr lang="en-US" sz="3500">
                  <a:latin typeface="Open Sans" panose="020B0606030504020204" pitchFamily="34" charset="0"/>
                  <a:ea typeface="Open Sans" panose="020B0606030504020204" pitchFamily="34" charset="0"/>
                  <a:cs typeface="Open Sans" panose="020B0606030504020204" pitchFamily="34" charset="0"/>
                </a:rPr>
                <a:t>ESP8266 – IoT WiFi UNO</a:t>
              </a:r>
            </a:p>
          </p:txBody>
        </p:sp>
        <p:cxnSp>
          <p:nvCxnSpPr>
            <p:cNvPr id="7" name="Straight Connector 6">
              <a:extLst>
                <a:ext uri="{FF2B5EF4-FFF2-40B4-BE49-F238E27FC236}">
                  <a16:creationId xmlns:a16="http://schemas.microsoft.com/office/drawing/2014/main" id="{25B7320A-D12C-4643-85D8-3C262B2A93B6}"/>
                </a:ext>
              </a:extLst>
            </p:cNvPr>
            <p:cNvCxnSpPr>
              <a:cxnSpLocks/>
            </p:cNvCxnSpPr>
            <p:nvPr/>
          </p:nvCxnSpPr>
          <p:spPr>
            <a:xfrm>
              <a:off x="-1712052" y="961915"/>
              <a:ext cx="5007159" cy="0"/>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pic>
        <p:nvPicPr>
          <p:cNvPr id="10" name="Picture 9">
            <a:extLst>
              <a:ext uri="{FF2B5EF4-FFF2-40B4-BE49-F238E27FC236}">
                <a16:creationId xmlns:a16="http://schemas.microsoft.com/office/drawing/2014/main" id="{EE4023F8-13C6-46FF-9CB6-BFD523B1A79A}"/>
              </a:ext>
            </a:extLst>
          </p:cNvPr>
          <p:cNvPicPr/>
          <p:nvPr/>
        </p:nvPicPr>
        <p:blipFill>
          <a:blip r:embed="rId2"/>
          <a:stretch>
            <a:fillRect/>
          </a:stretch>
        </p:blipFill>
        <p:spPr>
          <a:xfrm>
            <a:off x="589182" y="3991554"/>
            <a:ext cx="3696814" cy="2237353"/>
          </a:xfrm>
          <a:prstGeom prst="rect">
            <a:avLst/>
          </a:prstGeom>
        </p:spPr>
      </p:pic>
      <p:pic>
        <p:nvPicPr>
          <p:cNvPr id="11" name="Picture 10">
            <a:extLst>
              <a:ext uri="{FF2B5EF4-FFF2-40B4-BE49-F238E27FC236}">
                <a16:creationId xmlns:a16="http://schemas.microsoft.com/office/drawing/2014/main" id="{5AFAEF4A-BA3B-44FA-A181-DDCA407448C7}"/>
              </a:ext>
            </a:extLst>
          </p:cNvPr>
          <p:cNvPicPr/>
          <p:nvPr/>
        </p:nvPicPr>
        <p:blipFill>
          <a:blip r:embed="rId3"/>
          <a:stretch>
            <a:fillRect/>
          </a:stretch>
        </p:blipFill>
        <p:spPr>
          <a:xfrm>
            <a:off x="5550764" y="451996"/>
            <a:ext cx="5205272" cy="3187800"/>
          </a:xfrm>
          <a:prstGeom prst="rect">
            <a:avLst/>
          </a:prstGeom>
        </p:spPr>
      </p:pic>
      <p:pic>
        <p:nvPicPr>
          <p:cNvPr id="12" name="Picture 11">
            <a:extLst>
              <a:ext uri="{FF2B5EF4-FFF2-40B4-BE49-F238E27FC236}">
                <a16:creationId xmlns:a16="http://schemas.microsoft.com/office/drawing/2014/main" id="{B5540634-E3B2-423C-813E-2AB4C4ECF38B}"/>
              </a:ext>
            </a:extLst>
          </p:cNvPr>
          <p:cNvPicPr/>
          <p:nvPr/>
        </p:nvPicPr>
        <p:blipFill>
          <a:blip r:embed="rId4"/>
          <a:stretch>
            <a:fillRect/>
          </a:stretch>
        </p:blipFill>
        <p:spPr>
          <a:xfrm>
            <a:off x="6790561" y="3706464"/>
            <a:ext cx="5117893" cy="3105150"/>
          </a:xfrm>
          <a:prstGeom prst="rect">
            <a:avLst/>
          </a:prstGeom>
        </p:spPr>
      </p:pic>
      <p:sp>
        <p:nvSpPr>
          <p:cNvPr id="13" name="Rectangle: Rounded Corners 12">
            <a:extLst>
              <a:ext uri="{FF2B5EF4-FFF2-40B4-BE49-F238E27FC236}">
                <a16:creationId xmlns:a16="http://schemas.microsoft.com/office/drawing/2014/main" id="{03982848-071B-49B7-8AC0-AB505EDDC2F3}"/>
              </a:ext>
            </a:extLst>
          </p:cNvPr>
          <p:cNvSpPr/>
          <p:nvPr/>
        </p:nvSpPr>
        <p:spPr>
          <a:xfrm>
            <a:off x="589182" y="978244"/>
            <a:ext cx="3696814" cy="2885867"/>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r>
              <a:rPr lang="vi-VN" sz="2500">
                <a:latin typeface="Open Sans" panose="020B0606030504020204" pitchFamily="34" charset="0"/>
                <a:ea typeface="Open Sans" panose="020B0606030504020204" pitchFamily="34" charset="0"/>
                <a:cs typeface="Open Sans" panose="020B0606030504020204" pitchFamily="34" charset="0"/>
              </a:rPr>
              <a:t>Hỗ trợ kết nối WiFi</a:t>
            </a:r>
            <a:endParaRPr lang="en-US" sz="2500">
              <a:latin typeface="Open Sans" panose="020B0606030504020204" pitchFamily="34" charset="0"/>
              <a:ea typeface="Open Sans" panose="020B0606030504020204" pitchFamily="34" charset="0"/>
              <a:cs typeface="Open Sans" panose="020B0606030504020204" pitchFamily="34" charset="0"/>
            </a:endParaRPr>
          </a:p>
          <a:p>
            <a:r>
              <a:rPr lang="vi-VN" sz="2500">
                <a:latin typeface="Open Sans" panose="020B0606030504020204" pitchFamily="34" charset="0"/>
                <a:ea typeface="Open Sans" panose="020B0606030504020204" pitchFamily="34" charset="0"/>
                <a:cs typeface="Open Sans" panose="020B0606030504020204" pitchFamily="34" charset="0"/>
              </a:rPr>
              <a:t>Tương thích với Arduino UNO</a:t>
            </a:r>
            <a:endParaRPr lang="en-US" sz="2500">
              <a:latin typeface="Open Sans" panose="020B0606030504020204" pitchFamily="34" charset="0"/>
              <a:ea typeface="Open Sans" panose="020B0606030504020204" pitchFamily="34" charset="0"/>
              <a:cs typeface="Open Sans" panose="020B0606030504020204" pitchFamily="34" charset="0"/>
            </a:endParaRPr>
          </a:p>
          <a:p>
            <a:r>
              <a:rPr lang="en-US" sz="2500">
                <a:latin typeface="Open Sans" panose="020B0606030504020204" pitchFamily="34" charset="0"/>
                <a:ea typeface="Open Sans" panose="020B0606030504020204" pitchFamily="34" charset="0"/>
                <a:cs typeface="Open Sans" panose="020B0606030504020204" pitchFamily="34" charset="0"/>
              </a:rPr>
              <a:t>L</a:t>
            </a:r>
            <a:r>
              <a:rPr lang="vi-VN" sz="2500">
                <a:latin typeface="Open Sans" panose="020B0606030504020204" pitchFamily="34" charset="0"/>
                <a:ea typeface="Open Sans" panose="020B0606030504020204" pitchFamily="34" charset="0"/>
                <a:cs typeface="Open Sans" panose="020B0606030504020204" pitchFamily="34" charset="0"/>
              </a:rPr>
              <a:t>ập trình bằng C/C++</a:t>
            </a:r>
            <a:endParaRPr lang="en-US" sz="2500">
              <a:latin typeface="Open Sans" panose="020B0606030504020204" pitchFamily="34" charset="0"/>
              <a:ea typeface="Open Sans" panose="020B0606030504020204" pitchFamily="34" charset="0"/>
              <a:cs typeface="Open Sans" panose="020B0606030504020204" pitchFamily="34" charset="0"/>
            </a:endParaRPr>
          </a:p>
          <a:p>
            <a:r>
              <a:rPr lang="vi-VN" sz="2500">
                <a:latin typeface="Open Sans" panose="020B0606030504020204" pitchFamily="34" charset="0"/>
                <a:ea typeface="Open Sans" panose="020B0606030504020204" pitchFamily="34" charset="0"/>
                <a:cs typeface="Open Sans" panose="020B0606030504020204" pitchFamily="34" charset="0"/>
              </a:rPr>
              <a:t>11 IO, 1 Analog</a:t>
            </a:r>
            <a:endParaRPr lang="en-US" sz="2500">
              <a:latin typeface="Open Sans" panose="020B0606030504020204" pitchFamily="34" charset="0"/>
              <a:ea typeface="Open Sans" panose="020B0606030504020204" pitchFamily="34" charset="0"/>
              <a:cs typeface="Open Sans" panose="020B0606030504020204" pitchFamily="34" charset="0"/>
            </a:endParaRPr>
          </a:p>
          <a:p>
            <a:endParaRPr lang="en-US" sz="2500">
              <a:latin typeface="Open Sans" panose="020B0606030504020204" pitchFamily="34" charset="0"/>
              <a:ea typeface="Open Sans" panose="020B0606030504020204" pitchFamily="34" charset="0"/>
              <a:cs typeface="Open Sans" panose="020B0606030504020204" pitchFamily="34" charset="0"/>
            </a:endParaRPr>
          </a:p>
        </p:txBody>
      </p:sp>
      <p:sp>
        <p:nvSpPr>
          <p:cNvPr id="14" name="TextBox 13">
            <a:extLst>
              <a:ext uri="{FF2B5EF4-FFF2-40B4-BE49-F238E27FC236}">
                <a16:creationId xmlns:a16="http://schemas.microsoft.com/office/drawing/2014/main" id="{65381B78-BD2E-4ABD-9C97-D18C1FCC6091}"/>
              </a:ext>
            </a:extLst>
          </p:cNvPr>
          <p:cNvSpPr txBox="1"/>
          <p:nvPr/>
        </p:nvSpPr>
        <p:spPr>
          <a:xfrm rot="5400000">
            <a:off x="9651148" y="2085845"/>
            <a:ext cx="2630848" cy="477054"/>
          </a:xfrm>
          <a:prstGeom prst="rect">
            <a:avLst/>
          </a:prstGeom>
          <a:noFill/>
        </p:spPr>
        <p:txBody>
          <a:bodyPr wrap="none" rtlCol="0">
            <a:spAutoFit/>
          </a:bodyPr>
          <a:lstStyle/>
          <a:p>
            <a:r>
              <a:rPr lang="en-US" sz="2500" b="1">
                <a:solidFill>
                  <a:schemeClr val="bg1">
                    <a:lumMod val="50000"/>
                  </a:schemeClr>
                </a:solidFill>
                <a:latin typeface="Open Sans" panose="020B0606030504020204" pitchFamily="34" charset="0"/>
                <a:ea typeface="Open Sans" panose="020B0606030504020204" pitchFamily="34" charset="0"/>
                <a:cs typeface="Open Sans" panose="020B0606030504020204" pitchFamily="34" charset="0"/>
              </a:rPr>
              <a:t>Hình mô phỏng</a:t>
            </a:r>
          </a:p>
        </p:txBody>
      </p:sp>
      <p:sp>
        <p:nvSpPr>
          <p:cNvPr id="15" name="TextBox 14">
            <a:extLst>
              <a:ext uri="{FF2B5EF4-FFF2-40B4-BE49-F238E27FC236}">
                <a16:creationId xmlns:a16="http://schemas.microsoft.com/office/drawing/2014/main" id="{08AE3D9A-785E-4BA9-9FB9-BAB2B302F24A}"/>
              </a:ext>
            </a:extLst>
          </p:cNvPr>
          <p:cNvSpPr txBox="1"/>
          <p:nvPr/>
        </p:nvSpPr>
        <p:spPr>
          <a:xfrm rot="16200000">
            <a:off x="5451412" y="4927062"/>
            <a:ext cx="2201244" cy="477054"/>
          </a:xfrm>
          <a:prstGeom prst="rect">
            <a:avLst/>
          </a:prstGeom>
          <a:noFill/>
        </p:spPr>
        <p:txBody>
          <a:bodyPr wrap="none" rtlCol="0">
            <a:spAutoFit/>
          </a:bodyPr>
          <a:lstStyle/>
          <a:p>
            <a:r>
              <a:rPr lang="en-US" sz="2500" b="1">
                <a:solidFill>
                  <a:schemeClr val="bg1">
                    <a:lumMod val="50000"/>
                  </a:schemeClr>
                </a:solidFill>
                <a:latin typeface="Open Sans" panose="020B0606030504020204" pitchFamily="34" charset="0"/>
                <a:ea typeface="Open Sans" panose="020B0606030504020204" pitchFamily="34" charset="0"/>
                <a:cs typeface="Open Sans" panose="020B0606030504020204" pitchFamily="34" charset="0"/>
              </a:rPr>
              <a:t>Hình thực tế</a:t>
            </a:r>
          </a:p>
        </p:txBody>
      </p:sp>
    </p:spTree>
    <p:extLst>
      <p:ext uri="{BB962C8B-B14F-4D97-AF65-F5344CB8AC3E}">
        <p14:creationId xmlns:p14="http://schemas.microsoft.com/office/powerpoint/2010/main" val="197487964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154</TotalTime>
  <Words>843</Words>
  <Application>Microsoft Office PowerPoint</Application>
  <PresentationFormat>Widescreen</PresentationFormat>
  <Paragraphs>164</Paragraphs>
  <Slides>13</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Arial</vt:lpstr>
      <vt:lpstr>Calibri</vt:lpstr>
      <vt:lpstr>Calibri Light</vt:lpstr>
      <vt:lpstr>Cambria Math</vt:lpstr>
      <vt:lpstr>Open Sans</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Le Nguyen Thai Duong</dc:creator>
  <cp:lastModifiedBy>Le Nguyen Thai Duong</cp:lastModifiedBy>
  <cp:revision>109</cp:revision>
  <dcterms:created xsi:type="dcterms:W3CDTF">2018-12-06T14:46:24Z</dcterms:created>
  <dcterms:modified xsi:type="dcterms:W3CDTF">2018-12-06T17:22:53Z</dcterms:modified>
</cp:coreProperties>
</file>